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thesis asks a measurement question this literature has not asked: geopolitical-risk indices are built from English-language newspapers, so whose perception is actually being priced? The answer is a null on local-language coverage, and the talk is organised so that the robustness section -- which is what makes a null informative -- gets the weight it needs.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Twenty seconds. Flag that Results and Findings are deliberately separate: first what the tests returned, then what they mean.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sharpest repricing of defence equities in decades, in the most intensively covered armed conflict in modern media history. Point at the orange line: two steps, not one -- and the larger of the two is a fiscal announcement rather than battlefield news, which is already a reason to test war news against a market control rather than in isolation.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bullet is the hinge of the whole talk. Say it slowly. Bondarenko is the paper this thesis mirrors: they run the test on the Russian economy, this runs it on the counterparty's assets.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about the asymmetry between the two candidate answers. The design identifies an incremental contribution and nothing more; every version of the claim in the thesis is careful about this, and the committee will test whether the talk is too.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justifies the whole data effort, and it is also contribution (iii): the error is invisible in the output. The series are well behaved, they correlate with events, they differ from one another -- and they are still measuring the wrong thing.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the audit does not do: it validates that a registered domain belongs to the country assigned to it. It does not validate GDELT's attribution of a given article to a domain -- that would need a reader with Russian and Ukrainian.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Flag the honest limitation now rather than being asked. For a Western outlet, naming a Ukrainian place implies conflict coverage; for a Ukrainian outlet it implies very little, because domestic politics, business and sport all name Ukrainian places. The local series sit near a ceiling. It returns on the conclusions slide, bounded two ways.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blur the pre-registration line: Gate 2 was never pre-registered and the thesis says so explicitly. For Gates 4 and 5 the data were collected only after the pre-registration was committed, so the ordering is verifiable from commit timestamps rather than asserted.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order-of-magnitude gap is sustained across eleven years, and the gap between the upper three lines and the lower two is the whole point of the panel. Native-English moves 11.8% to 23.8% on the same two days, Russian state 84.6% to 91.2%. This is the mechanical reason a Western investor watching coverage volume would have seen a signal in Western outlets and very little in local ones: a series already at four-fifths of output cannot rise much when the event arrives.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Russian state media's tone did not change when Russia invaded Ukraine, and Russian independent moved +0.09. Several state outlets became more positive -- Gazeta.ru +0.48, Ren.tv +0.43 -- which is what one would expect from outlets covering the launch of an operation their government had announced as a success. A supremum-Wald test for a break at an unknown date puts Ukrainian tone's largest break on 24 February 2022 and Russian state tone's 393 days later. This is the largest and most robust descriptive fact in the corpus. Note it is the state-versus-Ukraine contrast; the state-versus-independent comparison does not survive and is not claimed.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what the seven-to-one collapse proves: it is consistent with same-day news being impounded within the trading day, with a mechanical artefact of matching a return to coverage partly published after it, and with information that decays inside 24 hours. Daily aggregates cannot separate those. What it does establish is narrower and enough -- the design detects the local block readily under the permissive alignment, so the null under the conservative one is not a failure to measure.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Brent placebo matters because Brent is an asset the supply-signalling mechanism does not predict, so local perception being jointly significant for it is a breach. The inverted ordering is Russian independent rather than Russian state media leading the local block -- the wrong way round for a channel supposed to run through state signalling of supply intent. Gate 4 also shows how a result dissolves under replication alone: estimated on 81 days it returned p = 0.0028, and the pre-registered confirmatory estimate on 222 days of the same calendar period, with nothing altered but the quantity of data, returned 0.399.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claim is bounded in both directions and must be stated that way: an effect large enough to matter economically would very probably have been seen on the long-sample targets, and an effect that escaped this design lies at or below the bottom of the range the predictability literature treats as economically meaningful. The 0.5 to 1.0% band is Welch and Goyal (2008) and Campbell and Thompson (2008).</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bullet is where a committee will push. Hold the line: establishing that Western coverage is priced would require it to be detected consistently rather than in some tests and not others, and the evidence falls short of that. Neither result licenses a general claim that local media always or never matter.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plainly that the last two are the weakest evidence in the thesis and that the volatility one is bounded by its own measure. Claiming more for them than they support is exactly the failure the next slide is about.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methodological core, and the strongest answer to 'how do we know you did not simply fail to find something'. The honest framing: the project generated six plausible positives and killed all six with tests it chose to run on itself.</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last extension: it is the proposition the whole thesis converges on, and the one a future paper could actually settle.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this if anyone asks to see magnitudes rather than p-values. Regressors are standardised, so a coefficient reads as the percentage-point return change per one-standard-deviation move.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outputs/tables/classifier_sensitivity.csv.</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pressed on why this was not obvious from the start: it was not, and that is the point of reporting it. The correlation is high over long horizons and breaks down precisely in the window the test cares about.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src/models/evaluation.py keeps them as separate functions deliberately.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Adding physical attack data to the financial controls raises the count of positive-R2 cells from one to four, and none of those four is significant. Baselines win 8 of 12 cells.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weakest evidence in the thesis and should be presented that way. Apergis et al. (2018) find geopolitical risk predicting volatility in-sample, which is compatible with this: the question here is out-of-sample accuracy against models that already exploit the persistence of realised variance.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outputs/tables/exposure_gradient_bh.csv.</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46304"/>
          </a:xfrm>
          <a:prstGeom prst="rect">
            <a:avLst/>
          </a:prstGeom>
          <a:solidFill>
            <a:srgbClr val="1F6F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965960"/>
            <a:ext cx="11057839" cy="1737360"/>
          </a:xfrm>
          <a:prstGeom prst="rect">
            <a:avLst/>
          </a:prstGeom>
          <a:noFill/>
        </p:spPr>
        <p:txBody>
          <a:bodyPr wrap="square" lIns="0" rIns="0" tIns="0" bIns="0">
            <a:spAutoFit/>
          </a:bodyPr>
          <a:lstStyle/>
          <a:p>
            <a:r>
              <a:rPr sz="3600" b="1" i="0">
                <a:solidFill>
                  <a:srgbClr val="16222E"/>
                </a:solidFill>
                <a:latin typeface="Calibri"/>
              </a:rPr>
              <a:t>Whose Perception of Geopolitical Risk Is Priced in Defence Equities?</a:t>
            </a:r>
          </a:p>
        </p:txBody>
      </p:sp>
      <p:sp>
        <p:nvSpPr>
          <p:cNvPr id="4" name="TextBox 3"/>
          <p:cNvSpPr txBox="1"/>
          <p:nvPr/>
        </p:nvSpPr>
        <p:spPr>
          <a:xfrm>
            <a:off x="566928" y="3611880"/>
            <a:ext cx="11057839" cy="502920"/>
          </a:xfrm>
          <a:prstGeom prst="rect">
            <a:avLst/>
          </a:prstGeom>
          <a:noFill/>
        </p:spPr>
        <p:txBody>
          <a:bodyPr wrap="square" lIns="0" rIns="0" tIns="0" bIns="0">
            <a:spAutoFit/>
          </a:bodyPr>
          <a:lstStyle/>
          <a:p>
            <a:r>
              <a:rPr sz="2000" b="0" i="0">
                <a:solidFill>
                  <a:srgbClr val="1F6FB2"/>
                </a:solidFill>
                <a:latin typeface="Calibri"/>
              </a:rPr>
              <a:t>Evidence from the Russia–Ukraine War</a:t>
            </a:r>
          </a:p>
        </p:txBody>
      </p:sp>
      <p:sp>
        <p:nvSpPr>
          <p:cNvPr id="5" name="Rectangle 4"/>
          <p:cNvSpPr/>
          <p:nvPr/>
        </p:nvSpPr>
        <p:spPr>
          <a:xfrm>
            <a:off x="566928" y="4343400"/>
            <a:ext cx="2926080"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4617720"/>
            <a:ext cx="11057839" cy="822960"/>
          </a:xfrm>
          <a:prstGeom prst="rect">
            <a:avLst/>
          </a:prstGeom>
          <a:noFill/>
        </p:spPr>
        <p:txBody>
          <a:bodyPr wrap="square" lIns="0" rIns="0" tIns="0" bIns="0">
            <a:spAutoFit/>
          </a:bodyPr>
          <a:lstStyle/>
          <a:p>
            <a:r>
              <a:rPr sz="1700" b="0" i="0">
                <a:solidFill>
                  <a:srgbClr val="16222E"/>
                </a:solidFill>
                <a:latin typeface="Calibri"/>
              </a:rPr>
              <a:t>Khrystyna Kateryna Valenia</a:t>
            </a:r>
          </a:p>
          <a:p>
            <a:pPr>
              <a:spcBef>
                <a:spcPts val="400"/>
              </a:spcBef>
            </a:pPr>
            <a:r>
              <a:rPr sz="1300" b="0" i="0">
                <a:solidFill>
                  <a:srgbClr val="5A6B7A"/>
                </a:solidFill>
                <a:latin typeface="Calibri"/>
              </a:rPr>
              <a:t>Master's thesis defence,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Roadmap</a:t>
            </a:r>
          </a:p>
        </p:txBody>
      </p:sp>
      <p:sp>
        <p:nvSpPr>
          <p:cNvPr id="3" name="Rectangle 2"/>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2 / 18</a:t>
            </a:r>
          </a:p>
        </p:txBody>
      </p:sp>
      <p:sp>
        <p:nvSpPr>
          <p:cNvPr id="5" name="TextBox 4"/>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992"/>
              </a:spcAft>
            </a:pPr>
            <a:r>
              <a:rPr sz="1600" b="0" i="0">
                <a:solidFill>
                  <a:srgbClr val="1F6FB2"/>
                </a:solidFill>
                <a:latin typeface="Calibri"/>
              </a:rPr>
              <a:t>▪  </a:t>
            </a:r>
            <a:r>
              <a:rPr sz="1600" b="1" i="0">
                <a:solidFill>
                  <a:srgbClr val="16222E"/>
                </a:solidFill>
                <a:latin typeface="Calibri"/>
              </a:rPr>
              <a:t>Why this topic</a:t>
            </a:r>
            <a:r>
              <a:rPr sz="1600" b="0" i="0">
                <a:solidFill>
                  <a:srgbClr val="16222E"/>
                </a:solidFill>
                <a:latin typeface="Calibri"/>
              </a:rPr>
              <a:t> — the repricing to be explained, and what the literature leaves open</a:t>
            </a:r>
          </a:p>
          <a:p>
            <a:pPr>
              <a:lnSpc>
                <a:spcPct val="108000"/>
              </a:lnSpc>
              <a:spcAft>
                <a:spcPts val="992"/>
              </a:spcAft>
            </a:pPr>
            <a:r>
              <a:rPr sz="1600" b="0" i="0">
                <a:solidFill>
                  <a:srgbClr val="1F6FB2"/>
                </a:solidFill>
                <a:latin typeface="Calibri"/>
              </a:rPr>
              <a:t>▪  </a:t>
            </a:r>
            <a:r>
              <a:rPr sz="1600" b="1" i="0">
                <a:solidFill>
                  <a:srgbClr val="16222E"/>
                </a:solidFill>
                <a:latin typeface="Calibri"/>
              </a:rPr>
              <a:t>Research question and contribution</a:t>
            </a:r>
          </a:p>
          <a:p>
            <a:pPr>
              <a:lnSpc>
                <a:spcPct val="108000"/>
              </a:lnSpc>
              <a:spcAft>
                <a:spcPts val="992"/>
              </a:spcAft>
            </a:pPr>
            <a:r>
              <a:rPr sz="1600" b="0" i="0">
                <a:solidFill>
                  <a:srgbClr val="1F6FB2"/>
                </a:solidFill>
                <a:latin typeface="Calibri"/>
              </a:rPr>
              <a:t>▪  </a:t>
            </a:r>
            <a:r>
              <a:rPr sz="1600" b="1" i="0">
                <a:solidFill>
                  <a:srgbClr val="16222E"/>
                </a:solidFill>
                <a:latin typeface="Calibri"/>
              </a:rPr>
              <a:t>Data sources and sample</a:t>
            </a:r>
            <a:r>
              <a:rPr sz="1600" b="0" i="0">
                <a:solidFill>
                  <a:srgbClr val="16222E"/>
                </a:solidFill>
                <a:latin typeface="Calibri"/>
              </a:rPr>
              <a:t> — why the obvious corpus will not do</a:t>
            </a:r>
          </a:p>
          <a:p>
            <a:pPr>
              <a:lnSpc>
                <a:spcPct val="108000"/>
              </a:lnSpc>
              <a:spcAft>
                <a:spcPts val="992"/>
              </a:spcAft>
            </a:pPr>
            <a:r>
              <a:rPr sz="1600" b="0" i="0">
                <a:solidFill>
                  <a:srgbClr val="1F6FB2"/>
                </a:solidFill>
                <a:latin typeface="Calibri"/>
              </a:rPr>
              <a:t>▪  </a:t>
            </a:r>
            <a:r>
              <a:rPr sz="1600" b="1" i="0">
                <a:solidFill>
                  <a:srgbClr val="16222E"/>
                </a:solidFill>
                <a:latin typeface="Calibri"/>
              </a:rPr>
              <a:t>Identification strategy and model</a:t>
            </a:r>
            <a:r>
              <a:rPr sz="1600" b="0" i="0">
                <a:solidFill>
                  <a:srgbClr val="16222E"/>
                </a:solidFill>
                <a:latin typeface="Calibri"/>
              </a:rPr>
              <a:t> — a conditional joint test with a positive control</a:t>
            </a:r>
          </a:p>
          <a:p>
            <a:pPr>
              <a:lnSpc>
                <a:spcPct val="108000"/>
              </a:lnSpc>
              <a:spcAft>
                <a:spcPts val="992"/>
              </a:spcAft>
            </a:pPr>
            <a:r>
              <a:rPr sz="1600" b="0" i="0">
                <a:solidFill>
                  <a:srgbClr val="1F6FB2"/>
                </a:solidFill>
                <a:latin typeface="Calibri"/>
              </a:rPr>
              <a:t>▪  </a:t>
            </a:r>
            <a:r>
              <a:rPr sz="1600" b="1" i="0">
                <a:solidFill>
                  <a:srgbClr val="16222E"/>
                </a:solidFill>
                <a:latin typeface="Calibri"/>
              </a:rPr>
              <a:t>Results</a:t>
            </a:r>
            <a:r>
              <a:rPr sz="1600" b="0" i="0">
                <a:solidFill>
                  <a:srgbClr val="16222E"/>
                </a:solidFill>
                <a:latin typeface="Calibri"/>
              </a:rPr>
              <a:t> — four tests, two asset classes, one non-market outcome, and out of sample</a:t>
            </a:r>
          </a:p>
          <a:p>
            <a:pPr>
              <a:lnSpc>
                <a:spcPct val="108000"/>
              </a:lnSpc>
              <a:spcAft>
                <a:spcPts val="992"/>
              </a:spcAft>
            </a:pPr>
            <a:r>
              <a:rPr sz="1600" b="0" i="0">
                <a:solidFill>
                  <a:srgbClr val="1F6FB2"/>
                </a:solidFill>
                <a:latin typeface="Calibri"/>
              </a:rPr>
              <a:t>▪  </a:t>
            </a:r>
            <a:r>
              <a:rPr sz="1600" b="1" i="0">
                <a:solidFill>
                  <a:srgbClr val="16222E"/>
                </a:solidFill>
                <a:latin typeface="Calibri"/>
              </a:rPr>
              <a:t>Findings</a:t>
            </a:r>
            <a:r>
              <a:rPr sz="1600" b="0" i="0">
                <a:solidFill>
                  <a:srgbClr val="16222E"/>
                </a:solidFill>
                <a:latin typeface="Calibri"/>
              </a:rPr>
              <a:t> — what a null of this kind does and does not license</a:t>
            </a:r>
          </a:p>
          <a:p>
            <a:pPr>
              <a:lnSpc>
                <a:spcPct val="108000"/>
              </a:lnSpc>
              <a:spcAft>
                <a:spcPts val="992"/>
              </a:spcAft>
            </a:pPr>
            <a:r>
              <a:rPr sz="1600" b="0" i="0">
                <a:solidFill>
                  <a:srgbClr val="1F6FB2"/>
                </a:solidFill>
                <a:latin typeface="Calibri"/>
              </a:rPr>
              <a:t>▪  </a:t>
            </a:r>
            <a:r>
              <a:rPr sz="1600" b="1" i="0">
                <a:solidFill>
                  <a:srgbClr val="16222E"/>
                </a:solidFill>
                <a:latin typeface="Calibri"/>
              </a:rPr>
              <a:t>Robustness</a:t>
            </a:r>
            <a:r>
              <a:rPr sz="1600" b="0" i="0">
                <a:solidFill>
                  <a:srgbClr val="16222E"/>
                </a:solidFill>
                <a:latin typeface="Calibri"/>
              </a:rPr>
              <a:t> — why this null is a finding rather than an absence</a:t>
            </a:r>
          </a:p>
          <a:p>
            <a:pPr>
              <a:lnSpc>
                <a:spcPct val="108000"/>
              </a:lnSpc>
              <a:spcAft>
                <a:spcPts val="992"/>
              </a:spcAft>
            </a:pPr>
            <a:r>
              <a:rPr sz="1600" b="0" i="0">
                <a:solidFill>
                  <a:srgbClr val="1F6FB2"/>
                </a:solidFill>
                <a:latin typeface="Calibri"/>
              </a:rPr>
              <a:t>▪  </a:t>
            </a:r>
            <a:r>
              <a:rPr sz="1600" b="1" i="0">
                <a:solidFill>
                  <a:srgbClr val="16222E"/>
                </a:solidFill>
                <a:latin typeface="Calibri"/>
              </a:rPr>
              <a:t>Conclusions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WHY THIS TOPIC</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The repricing to be explained</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3 / 18</a:t>
            </a:r>
          </a:p>
        </p:txBody>
      </p:sp>
      <p:sp>
        <p:nvSpPr>
          <p:cNvPr id="6" name="TextBox 5"/>
          <p:cNvSpPr txBox="1"/>
          <p:nvPr/>
        </p:nvSpPr>
        <p:spPr>
          <a:xfrm>
            <a:off x="566928" y="1426464"/>
            <a:ext cx="11057839" cy="1746504"/>
          </a:xfrm>
          <a:prstGeom prst="rect">
            <a:avLst/>
          </a:prstGeom>
          <a:noFill/>
        </p:spPr>
        <p:txBody>
          <a:bodyPr wrap="square" lIns="0" rIns="0" tIns="0" bIns="0">
            <a:spAutoFit/>
          </a:bodyPr>
          <a:lstStyle/>
          <a:p>
            <a:pPr>
              <a:lnSpc>
                <a:spcPct val="108000"/>
              </a:lnSpc>
              <a:spcAft>
                <a:spcPts val="806"/>
              </a:spcAft>
            </a:pPr>
            <a:r>
              <a:rPr sz="1300" b="0" i="0">
                <a:solidFill>
                  <a:srgbClr val="1F6FB2"/>
                </a:solidFill>
                <a:latin typeface="Calibri"/>
              </a:rPr>
              <a:t>▪  </a:t>
            </a:r>
            <a:r>
              <a:rPr sz="1300" b="0" i="0">
                <a:solidFill>
                  <a:srgbClr val="16222E"/>
                </a:solidFill>
                <a:latin typeface="Calibri"/>
              </a:rPr>
              <a:t>Europe </a:t>
            </a:r>
            <a:r>
              <a:rPr sz="1300" b="1" i="0">
                <a:solidFill>
                  <a:srgbClr val="16222E"/>
                </a:solidFill>
                <a:latin typeface="Calibri"/>
              </a:rPr>
              <a:t>+21.6%</a:t>
            </a:r>
            <a:r>
              <a:rPr sz="1300" b="0" i="0">
                <a:solidFill>
                  <a:srgbClr val="16222E"/>
                </a:solidFill>
                <a:latin typeface="Calibri"/>
              </a:rPr>
              <a:t> in the five weeks from 24 February 2022; </a:t>
            </a:r>
            <a:r>
              <a:rPr sz="1300" b="1" i="0">
                <a:solidFill>
                  <a:srgbClr val="16222E"/>
                </a:solidFill>
                <a:latin typeface="Calibri"/>
              </a:rPr>
              <a:t>+7.0%</a:t>
            </a:r>
            <a:r>
              <a:rPr sz="1300" b="0" i="0">
                <a:solidFill>
                  <a:srgbClr val="16222E"/>
                </a:solidFill>
                <a:latin typeface="Calibri"/>
              </a:rPr>
              <a:t> globally, </a:t>
            </a:r>
            <a:r>
              <a:rPr sz="1300" b="1" i="0">
                <a:solidFill>
                  <a:srgbClr val="16222E"/>
                </a:solidFill>
                <a:latin typeface="Calibri"/>
              </a:rPr>
              <a:t>+9.1%</a:t>
            </a:r>
            <a:r>
              <a:rPr sz="1300" b="0" i="0">
                <a:solidFill>
                  <a:srgbClr val="16222E"/>
                </a:solidFill>
                <a:latin typeface="Calibri"/>
              </a:rPr>
              <a:t> in the US.</a:t>
            </a:r>
          </a:p>
          <a:p>
            <a:pPr>
              <a:lnSpc>
                <a:spcPct val="108000"/>
              </a:lnSpc>
              <a:spcAft>
                <a:spcPts val="806"/>
              </a:spcAft>
            </a:pPr>
            <a:r>
              <a:rPr sz="1300" b="0" i="0">
                <a:solidFill>
                  <a:srgbClr val="1F6FB2"/>
                </a:solidFill>
                <a:latin typeface="Calibri"/>
              </a:rPr>
              <a:t>▪  </a:t>
            </a:r>
            <a:r>
              <a:rPr sz="1300" b="0" i="0">
                <a:solidFill>
                  <a:srgbClr val="16222E"/>
                </a:solidFill>
                <a:latin typeface="Calibri"/>
              </a:rPr>
              <a:t>Then a second and larger step: Europe </a:t>
            </a:r>
            <a:r>
              <a:rPr sz="1300" b="1" i="0">
                <a:solidFill>
                  <a:srgbClr val="16222E"/>
                </a:solidFill>
                <a:latin typeface="Calibri"/>
              </a:rPr>
              <a:t>+63.7%</a:t>
            </a:r>
            <a:r>
              <a:rPr sz="1300" b="0" i="0">
                <a:solidFill>
                  <a:srgbClr val="16222E"/>
                </a:solidFill>
                <a:latin typeface="Calibri"/>
              </a:rPr>
              <a:t> in the first half of 2025, on rearmament budgets.</a:t>
            </a:r>
          </a:p>
          <a:p>
            <a:pPr>
              <a:lnSpc>
                <a:spcPct val="108000"/>
              </a:lnSpc>
              <a:spcAft>
                <a:spcPts val="806"/>
              </a:spcAft>
            </a:pPr>
            <a:r>
              <a:rPr sz="1300" b="0" i="0">
                <a:solidFill>
                  <a:srgbClr val="1F6FB2"/>
                </a:solidFill>
                <a:latin typeface="Calibri"/>
              </a:rPr>
              <a:t>▪  </a:t>
            </a:r>
            <a:r>
              <a:rPr sz="1300" b="1" i="0">
                <a:solidFill>
                  <a:srgbClr val="16222E"/>
                </a:solidFill>
                <a:latin typeface="Calibri"/>
              </a:rPr>
              <a:t>What information drove that repricing?</a:t>
            </a:r>
          </a:p>
        </p:txBody>
      </p:sp>
      <p:pic>
        <p:nvPicPr>
          <p:cNvPr id="7" name="Picture 6" descr="fig1_defense_indices.png"/>
          <p:cNvPicPr>
            <a:picLocks noChangeAspect="1"/>
          </p:cNvPicPr>
          <p:nvPr/>
        </p:nvPicPr>
        <p:blipFill>
          <a:blip r:embed="rId2"/>
          <a:stretch>
            <a:fillRect/>
          </a:stretch>
        </p:blipFill>
        <p:spPr>
          <a:xfrm>
            <a:off x="3178912" y="3172968"/>
            <a:ext cx="5833871" cy="2916936"/>
          </a:xfrm>
          <a:prstGeom prst="rect">
            <a:avLst/>
          </a:prstGeom>
        </p:spPr>
      </p:pic>
      <p:sp>
        <p:nvSpPr>
          <p:cNvPr id="8" name="TextBox 7"/>
          <p:cNvSpPr txBox="1"/>
          <p:nvPr/>
        </p:nvSpPr>
        <p:spPr>
          <a:xfrm>
            <a:off x="566928" y="6144768"/>
            <a:ext cx="11057839" cy="310896"/>
          </a:xfrm>
          <a:prstGeom prst="rect">
            <a:avLst/>
          </a:prstGeom>
          <a:noFill/>
        </p:spPr>
        <p:txBody>
          <a:bodyPr wrap="square" lIns="0" rIns="0" tIns="0" bIns="0">
            <a:spAutoFit/>
          </a:bodyPr>
          <a:lstStyle/>
          <a:p>
            <a:pPr algn="ctr"/>
            <a:r>
              <a:rPr sz="1000" b="0" i="1">
                <a:solidFill>
                  <a:srgbClr val="5A6B7A"/>
                </a:solidFill>
                <a:latin typeface="Calibri"/>
              </a:rPr>
              <a:t>Defence-equity index levels, 1 January 2020 = 100. Dashed line: 24 February 2022.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WHY THIS TOPIC</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What the literature establishes — and the gap</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4 / 18</a:t>
            </a:r>
          </a:p>
        </p:txBody>
      </p:sp>
      <p:sp>
        <p:nvSpPr>
          <p:cNvPr id="6" name="TextBox 5"/>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868"/>
              </a:spcAft>
            </a:pPr>
            <a:r>
              <a:rPr sz="1400" b="0" i="0">
                <a:solidFill>
                  <a:srgbClr val="1F6FB2"/>
                </a:solidFill>
                <a:latin typeface="Calibri"/>
              </a:rPr>
              <a:t>▪  </a:t>
            </a:r>
            <a:r>
              <a:rPr sz="1400" b="1" i="0">
                <a:solidFill>
                  <a:srgbClr val="16222E"/>
                </a:solidFill>
                <a:latin typeface="Calibri"/>
              </a:rPr>
              <a:t>Risk measured from newspaper text.</a:t>
            </a:r>
            <a:r>
              <a:rPr sz="1400" b="0" i="0">
                <a:solidFill>
                  <a:srgbClr val="16222E"/>
                </a:solidFill>
                <a:latin typeface="Calibri"/>
              </a:rPr>
              <a:t> Baker et al. (2016) and Caldara and Iacoviello (2022) established normalised newspaper counts as a workable proxy. Both are built from a fixed panel of English-language, mostly American and British outlets.</a:t>
            </a:r>
          </a:p>
          <a:p>
            <a:pPr>
              <a:lnSpc>
                <a:spcPct val="108000"/>
              </a:lnSpc>
              <a:spcAft>
                <a:spcPts val="868"/>
              </a:spcAft>
            </a:pPr>
            <a:r>
              <a:rPr sz="1400" b="0" i="0">
                <a:solidFill>
                  <a:srgbClr val="1F6FB2"/>
                </a:solidFill>
                <a:latin typeface="Calibri"/>
              </a:rPr>
              <a:t>▪  </a:t>
            </a:r>
            <a:r>
              <a:rPr sz="1400" b="1" i="0">
                <a:solidFill>
                  <a:srgbClr val="16222E"/>
                </a:solidFill>
                <a:latin typeface="Calibri"/>
              </a:rPr>
              <a:t>Media content moves prices.</a:t>
            </a:r>
            <a:r>
              <a:rPr sz="1400" b="0" i="0">
                <a:solidFill>
                  <a:srgbClr val="16222E"/>
                </a:solidFill>
                <a:latin typeface="Calibri"/>
              </a:rPr>
              <a:t> Tetlock (2007) at short horizons; Manela and Moreira (2017) at long ones.</a:t>
            </a:r>
          </a:p>
          <a:p>
            <a:pPr>
              <a:lnSpc>
                <a:spcPct val="108000"/>
              </a:lnSpc>
              <a:spcAft>
                <a:spcPts val="868"/>
              </a:spcAft>
            </a:pPr>
            <a:r>
              <a:rPr sz="1400" b="0" i="0">
                <a:solidFill>
                  <a:srgbClr val="1F6FB2"/>
                </a:solidFill>
                <a:latin typeface="Calibri"/>
              </a:rPr>
              <a:t>▪  </a:t>
            </a:r>
            <a:r>
              <a:rPr sz="1400" b="1" i="0">
                <a:solidFill>
                  <a:srgbClr val="16222E"/>
                </a:solidFill>
                <a:latin typeface="Calibri"/>
              </a:rPr>
              <a:t>Defence equities and conflict are more equivocal than the summaries suggest.</a:t>
            </a:r>
            <a:r>
              <a:rPr sz="1400" b="0" i="0">
                <a:solidFill>
                  <a:srgbClr val="16222E"/>
                </a:solidFill>
                <a:latin typeface="Calibri"/>
              </a:rPr>
              <a:t> Event studies find sharp responses at onsets — Covachev and Fazakas (2024) up to 12%, Klomp (2025) 10–15%. But continuously measured geopolitical risk predicts defence </a:t>
            </a:r>
            <a:r>
              <a:rPr sz="1400" b="0" i="1">
                <a:solidFill>
                  <a:srgbClr val="16222E"/>
                </a:solidFill>
                <a:latin typeface="Calibri"/>
              </a:rPr>
              <a:t>volatility</a:t>
            </a:r>
            <a:r>
              <a:rPr sz="1400" b="0" i="0">
                <a:solidFill>
                  <a:srgbClr val="16222E"/>
                </a:solidFill>
                <a:latin typeface="Calibri"/>
              </a:rPr>
              <a:t>, not returns: Apergis et al. (2018), Zhang et al. (2023).</a:t>
            </a:r>
          </a:p>
          <a:p>
            <a:pPr>
              <a:lnSpc>
                <a:spcPct val="108000"/>
              </a:lnSpc>
              <a:spcAft>
                <a:spcPts val="868"/>
              </a:spcAft>
            </a:pPr>
            <a:r>
              <a:rPr sz="1400" b="0" i="0">
                <a:solidFill>
                  <a:srgbClr val="1F6FB2"/>
                </a:solidFill>
                <a:latin typeface="Calibri"/>
              </a:rPr>
              <a:t>▪  </a:t>
            </a:r>
            <a:r>
              <a:rPr sz="1400" b="1" i="0">
                <a:solidFill>
                  <a:srgbClr val="16222E"/>
                </a:solidFill>
                <a:latin typeface="Calibri"/>
              </a:rPr>
              <a:t>The closest paper.</a:t>
            </a:r>
            <a:r>
              <a:rPr sz="1400" b="0" i="0">
                <a:solidFill>
                  <a:srgbClr val="16222E"/>
                </a:solidFill>
                <a:latin typeface="Calibri"/>
              </a:rPr>
              <a:t> Bondarenko et al. (2024): for the Russian domestic economy, local Russian-language risk measures carry information that English-language measures do not.</a:t>
            </a:r>
          </a:p>
          <a:p>
            <a:pPr>
              <a:lnSpc>
                <a:spcPct val="108000"/>
              </a:lnSpc>
              <a:spcAft>
                <a:spcPts val="868"/>
              </a:spcAft>
            </a:pPr>
            <a:r>
              <a:rPr sz="1400" b="0" i="0">
                <a:solidFill>
                  <a:srgbClr val="1F6FB2"/>
                </a:solidFill>
                <a:latin typeface="Calibri"/>
              </a:rPr>
              <a:t>▪  </a:t>
            </a:r>
            <a:r>
              <a:rPr sz="1400" b="1" i="0">
                <a:solidFill>
                  <a:srgbClr val="16222E"/>
                </a:solidFill>
                <a:latin typeface="Calibri"/>
              </a:rPr>
              <a:t>The gap.</a:t>
            </a:r>
            <a:r>
              <a:rPr sz="1400" b="0" i="0">
                <a:solidFill>
                  <a:srgbClr val="16222E"/>
                </a:solidFill>
                <a:latin typeface="Calibri"/>
              </a:rPr>
              <a:t> No study separates news by the nationality of the outlet that published it. So when a defence-equity price is said to respond to geopolitical risk, it is responding to a quantity built from </a:t>
            </a:r>
            <a:r>
              <a:rPr sz="1400" b="1" i="0">
                <a:solidFill>
                  <a:srgbClr val="16222E"/>
                </a:solidFill>
                <a:latin typeface="Calibri"/>
              </a:rPr>
              <a:t>one editorial vantage point</a:t>
            </a:r>
            <a:r>
              <a:rPr sz="1400" b="0" i="0">
                <a:solidFill>
                  <a:srgbClr val="16222E"/>
                </a:solidFill>
                <a:latin typeface="Calibri"/>
              </a:rPr>
              <a:t> — and that vantage point is an untested modelling assumption.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RESEARCH QUESTION AND CONTRIBUTION</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Research question and contribution</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5 / 18</a:t>
            </a:r>
          </a:p>
        </p:txBody>
      </p:sp>
      <p:sp>
        <p:nvSpPr>
          <p:cNvPr id="6" name="TextBox 5"/>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868"/>
              </a:spcAft>
            </a:pPr>
            <a:r>
              <a:rPr sz="1400" b="0" i="0">
                <a:solidFill>
                  <a:srgbClr val="1F6FB2"/>
                </a:solidFill>
                <a:latin typeface="Calibri"/>
              </a:rPr>
              <a:t>▪  </a:t>
            </a:r>
            <a:r>
              <a:rPr sz="1400" b="1" i="0">
                <a:solidFill>
                  <a:srgbClr val="16222E"/>
                </a:solidFill>
                <a:latin typeface="Calibri"/>
              </a:rPr>
              <a:t>Whose perception of geopolitical risk is priced in defence equities?</a:t>
            </a:r>
          </a:p>
          <a:p>
            <a:pPr>
              <a:lnSpc>
                <a:spcPct val="108000"/>
              </a:lnSpc>
              <a:spcAft>
                <a:spcPts val="868"/>
              </a:spcAft>
            </a:pPr>
            <a:r>
              <a:rPr sz="1400" b="0" i="0">
                <a:solidFill>
                  <a:srgbClr val="1F6FB2"/>
                </a:solidFill>
                <a:latin typeface="Calibri"/>
              </a:rPr>
              <a:t>▪  </a:t>
            </a:r>
            <a:r>
              <a:rPr sz="1400" b="0" i="0">
                <a:solidFill>
                  <a:srgbClr val="16222E"/>
                </a:solidFill>
                <a:latin typeface="Calibri"/>
              </a:rPr>
              <a:t>Two candidate answers:</a:t>
            </a:r>
          </a:p>
          <a:p>
            <a:pPr>
              <a:lnSpc>
                <a:spcPct val="108000"/>
              </a:lnSpc>
              <a:spcAft>
                <a:spcPts val="868"/>
              </a:spcAft>
            </a:pPr>
            <a:r>
              <a:rPr sz="1400" b="0" i="0">
                <a:solidFill>
                  <a:srgbClr val="5A6B7A"/>
                </a:solidFill>
                <a:latin typeface="Calibri"/>
              </a:rPr>
              <a:t>–  </a:t>
            </a:r>
            <a:r>
              <a:rPr sz="1300" b="0" i="1">
                <a:solidFill>
                  <a:srgbClr val="16222E"/>
                </a:solidFill>
                <a:latin typeface="Calibri"/>
              </a:rPr>
              <a:t>Either</a:t>
            </a:r>
            <a:r>
              <a:rPr sz="1300" b="0" i="0">
                <a:solidFill>
                  <a:srgbClr val="16222E"/>
                </a:solidFill>
                <a:latin typeface="Calibri"/>
              </a:rPr>
              <a:t> the information originates where the war is fought — local media are closer, cover it earlier and far more heavily — and reaches Western prices with a delay.</a:t>
            </a:r>
          </a:p>
          <a:p>
            <a:pPr>
              <a:lnSpc>
                <a:spcPct val="108000"/>
              </a:lnSpc>
              <a:spcAft>
                <a:spcPts val="868"/>
              </a:spcAft>
            </a:pPr>
            <a:r>
              <a:rPr sz="1400" b="0" i="0">
                <a:solidFill>
                  <a:srgbClr val="5A6B7A"/>
                </a:solidFill>
                <a:latin typeface="Calibri"/>
              </a:rPr>
              <a:t>–  </a:t>
            </a:r>
            <a:r>
              <a:rPr sz="1300" b="0" i="1">
                <a:solidFill>
                  <a:srgbClr val="16222E"/>
                </a:solidFill>
                <a:latin typeface="Calibri"/>
              </a:rPr>
              <a:t>Or</a:t>
            </a:r>
            <a:r>
              <a:rPr sz="1300" b="0" i="0">
                <a:solidFill>
                  <a:srgbClr val="16222E"/>
                </a:solidFill>
                <a:latin typeface="Calibri"/>
              </a:rPr>
              <a:t> local coverage adds nothing once the Western signal is already in the regression.</a:t>
            </a:r>
          </a:p>
          <a:p>
            <a:pPr>
              <a:lnSpc>
                <a:spcPct val="108000"/>
              </a:lnSpc>
              <a:spcAft>
                <a:spcPts val="868"/>
              </a:spcAft>
            </a:pPr>
            <a:r>
              <a:rPr sz="1400" b="0" i="0">
                <a:solidFill>
                  <a:srgbClr val="1F6FB2"/>
                </a:solidFill>
                <a:latin typeface="Calibri"/>
              </a:rPr>
              <a:t>▪  </a:t>
            </a:r>
            <a:r>
              <a:rPr sz="1400" b="0" i="0">
                <a:solidFill>
                  <a:srgbClr val="16222E"/>
                </a:solidFill>
                <a:latin typeface="Calibri"/>
              </a:rPr>
              <a:t>Only the second is directly testable, because it is a statement about </a:t>
            </a:r>
            <a:r>
              <a:rPr sz="1400" b="1" i="0">
                <a:solidFill>
                  <a:srgbClr val="16222E"/>
                </a:solidFill>
                <a:latin typeface="Calibri"/>
              </a:rPr>
              <a:t>incremental</a:t>
            </a:r>
            <a:r>
              <a:rPr sz="1400" b="0" i="0">
                <a:solidFill>
                  <a:srgbClr val="16222E"/>
                </a:solidFill>
                <a:latin typeface="Calibri"/>
              </a:rPr>
              <a:t> information. Establishing the positive claim that Western coverage is itself priced would need a different design, and is not claimed here.</a:t>
            </a:r>
          </a:p>
          <a:p>
            <a:pPr>
              <a:lnSpc>
                <a:spcPct val="108000"/>
              </a:lnSpc>
              <a:spcAft>
                <a:spcPts val="868"/>
              </a:spcAft>
            </a:pPr>
            <a:r>
              <a:rPr sz="1400" b="0" i="0">
                <a:solidFill>
                  <a:srgbClr val="1F6FB2"/>
                </a:solidFill>
                <a:latin typeface="Calibri"/>
              </a:rPr>
              <a:t>▪  </a:t>
            </a:r>
            <a:r>
              <a:rPr sz="1400" b="1" i="0">
                <a:solidFill>
                  <a:srgbClr val="16222E"/>
                </a:solidFill>
                <a:latin typeface="Calibri"/>
              </a:rPr>
              <a:t>Contribution.</a:t>
            </a:r>
            <a:r>
              <a:rPr sz="1400" b="0" i="0">
                <a:solidFill>
                  <a:srgbClr val="16222E"/>
                </a:solidFill>
                <a:latin typeface="Calibri"/>
              </a:rPr>
              <a:t> (i) The mirror of Bondarenko et al. (2024), run on the counterparty's assets. (ii) The editorial vantage point made the object of study rather than an assumption. (iii) A methodological point: at corpus level, this class of measurement error is invisible in the output. (iv) A refinement of the defence-equity literature — the response is specific to the Western reporting layer.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DATA SOURCES AND SAMPLE</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The measurement problem that dictates the data</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6 / 18</a:t>
            </a:r>
          </a:p>
        </p:txBody>
      </p:sp>
      <p:sp>
        <p:nvSpPr>
          <p:cNvPr id="6" name="TextBox 5"/>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868"/>
              </a:spcAft>
            </a:pPr>
            <a:r>
              <a:rPr sz="1400" b="0" i="0">
                <a:solidFill>
                  <a:srgbClr val="1F6FB2"/>
                </a:solidFill>
                <a:latin typeface="Calibri"/>
              </a:rPr>
              <a:t>▪  </a:t>
            </a:r>
            <a:r>
              <a:rPr sz="1400" b="0" i="0">
                <a:solidFill>
                  <a:srgbClr val="16222E"/>
                </a:solidFill>
                <a:latin typeface="Calibri"/>
              </a:rPr>
              <a:t>Comparing national media ecosystems requires a corpus that actually contains them. The stream most readily available for this — GDELT's Global Knowledge Graph 1.0 — does not.</a:t>
            </a:r>
          </a:p>
          <a:p>
            <a:pPr>
              <a:lnSpc>
                <a:spcPct val="108000"/>
              </a:lnSpc>
              <a:spcAft>
                <a:spcPts val="868"/>
              </a:spcAft>
            </a:pPr>
            <a:r>
              <a:rPr sz="1400" b="0" i="0">
                <a:solidFill>
                  <a:srgbClr val="1F6FB2"/>
                </a:solidFill>
                <a:latin typeface="Calibri"/>
              </a:rPr>
              <a:t>▪  </a:t>
            </a:r>
            <a:r>
              <a:rPr sz="1400" b="0" i="0">
                <a:solidFill>
                  <a:srgbClr val="16222E"/>
                </a:solidFill>
                <a:latin typeface="Calibri"/>
              </a:rPr>
              <a:t>A representative daily file holds </a:t>
            </a:r>
            <a:r>
              <a:rPr sz="1400" b="1" i="0">
                <a:solidFill>
                  <a:srgbClr val="16222E"/>
                </a:solidFill>
                <a:latin typeface="Calibri"/>
              </a:rPr>
              <a:t>60,690 records</a:t>
            </a:r>
            <a:r>
              <a:rPr sz="1400" b="0" i="0">
                <a:solidFill>
                  <a:srgbClr val="16222E"/>
                </a:solidFill>
                <a:latin typeface="Calibri"/>
              </a:rPr>
              <a:t>. Of these, </a:t>
            </a:r>
            <a:r>
              <a:rPr sz="1400" b="1" i="0">
                <a:solidFill>
                  <a:srgbClr val="16222E"/>
                </a:solidFill>
                <a:latin typeface="Calibri"/>
              </a:rPr>
              <a:t>7</a:t>
            </a:r>
            <a:r>
              <a:rPr sz="1400" b="0" i="0">
                <a:solidFill>
                  <a:srgbClr val="16222E"/>
                </a:solidFill>
                <a:latin typeface="Calibri"/>
              </a:rPr>
              <a:t> carry a .ru domain and </a:t>
            </a:r>
            <a:r>
              <a:rPr sz="1400" b="1" i="0">
                <a:solidFill>
                  <a:srgbClr val="16222E"/>
                </a:solidFill>
                <a:latin typeface="Calibri"/>
              </a:rPr>
              <a:t>21</a:t>
            </a:r>
            <a:r>
              <a:rPr sz="1400" b="0" i="0">
                <a:solidFill>
                  <a:srgbClr val="16222E"/>
                </a:solidFill>
                <a:latin typeface="Calibri"/>
              </a:rPr>
              <a:t> a .ua domain.</a:t>
            </a:r>
          </a:p>
          <a:p>
            <a:pPr>
              <a:lnSpc>
                <a:spcPct val="108000"/>
              </a:lnSpc>
              <a:spcAft>
                <a:spcPts val="868"/>
              </a:spcAft>
            </a:pPr>
            <a:r>
              <a:rPr sz="1400" b="0" i="0">
                <a:solidFill>
                  <a:srgbClr val="1F6FB2"/>
                </a:solidFill>
                <a:latin typeface="Calibri"/>
              </a:rPr>
              <a:t>▪  </a:t>
            </a:r>
            <a:r>
              <a:rPr sz="1400" b="0" i="0">
                <a:solidFill>
                  <a:srgbClr val="16222E"/>
                </a:solidFill>
                <a:latin typeface="Calibri"/>
              </a:rPr>
              <a:t>Nationality in that stream can be assigned only from the countries an article </a:t>
            </a:r>
            <a:r>
              <a:rPr sz="1400" b="0" i="1">
                <a:solidFill>
                  <a:srgbClr val="16222E"/>
                </a:solidFill>
                <a:latin typeface="Calibri"/>
              </a:rPr>
              <a:t>mentions</a:t>
            </a:r>
            <a:r>
              <a:rPr sz="1400" b="0" i="0">
                <a:solidFill>
                  <a:srgbClr val="16222E"/>
                </a:solidFill>
                <a:latin typeface="Calibri"/>
              </a:rPr>
              <a:t>, which for </a:t>
            </a:r>
            <a:r>
              <a:rPr sz="1400" b="1" i="0">
                <a:solidFill>
                  <a:srgbClr val="16222E"/>
                </a:solidFill>
                <a:latin typeface="Calibri"/>
              </a:rPr>
              <a:t>88.6%</a:t>
            </a:r>
            <a:r>
              <a:rPr sz="1400" b="0" i="0">
                <a:solidFill>
                  <a:srgbClr val="16222E"/>
                </a:solidFill>
                <a:latin typeface="Calibri"/>
              </a:rPr>
              <a:t> of articles is not the country that published it.</a:t>
            </a:r>
          </a:p>
          <a:p>
            <a:pPr>
              <a:lnSpc>
                <a:spcPct val="108000"/>
              </a:lnSpc>
              <a:spcAft>
                <a:spcPts val="868"/>
              </a:spcAft>
            </a:pPr>
            <a:r>
              <a:rPr sz="1400" b="0" i="0">
                <a:solidFill>
                  <a:srgbClr val="1F6FB2"/>
                </a:solidFill>
                <a:latin typeface="Calibri"/>
              </a:rPr>
              <a:t>▪  </a:t>
            </a:r>
            <a:r>
              <a:rPr sz="1400" b="0" i="0">
                <a:solidFill>
                  <a:srgbClr val="16222E"/>
                </a:solidFill>
                <a:latin typeface="Calibri"/>
              </a:rPr>
              <a:t>A series built that way and labelled Ukrainian sentiment therefore measures the tone of </a:t>
            </a:r>
            <a:r>
              <a:rPr sz="1400" b="1" i="0">
                <a:solidFill>
                  <a:srgbClr val="16222E"/>
                </a:solidFill>
                <a:latin typeface="Calibri"/>
              </a:rPr>
              <a:t>English-language writing about Ukraine</a:t>
            </a:r>
            <a:r>
              <a:rPr sz="1400" b="0" i="0">
                <a:solidFill>
                  <a:srgbClr val="16222E"/>
                </a:solidFill>
                <a:latin typeface="Calibri"/>
              </a:rPr>
              <a:t> — one editorial population sorted by topic and relabelled as three perspectives. Any comparison between them compares two topic proxies, not two vantage points.</a:t>
            </a:r>
          </a:p>
          <a:p>
            <a:pPr>
              <a:lnSpc>
                <a:spcPct val="108000"/>
              </a:lnSpc>
              <a:spcAft>
                <a:spcPts val="868"/>
              </a:spcAft>
            </a:pPr>
            <a:r>
              <a:rPr sz="1400" b="0" i="0">
                <a:solidFill>
                  <a:srgbClr val="1F6FB2"/>
                </a:solidFill>
                <a:latin typeface="Calibri"/>
              </a:rPr>
              <a:t>▪  </a:t>
            </a:r>
            <a:r>
              <a:rPr sz="1400" b="1" i="0">
                <a:solidFill>
                  <a:srgbClr val="16222E"/>
                </a:solidFill>
                <a:latin typeface="Calibri"/>
              </a:rPr>
              <a:t>The fix:</a:t>
            </a:r>
            <a:r>
              <a:rPr sz="1400" b="0" i="0">
                <a:solidFill>
                  <a:srgbClr val="16222E"/>
                </a:solidFill>
                <a:latin typeface="Calibri"/>
              </a:rPr>
              <a:t> GDELT's translingual archive — </a:t>
            </a:r>
            <a:r>
              <a:rPr sz="1400" b="1" i="0">
                <a:solidFill>
                  <a:srgbClr val="16222E"/>
                </a:solidFill>
                <a:latin typeface="Calibri"/>
              </a:rPr>
              <a:t>65 source languages</a:t>
            </a:r>
            <a:r>
              <a:rPr sz="1400" b="0" i="0">
                <a:solidFill>
                  <a:srgbClr val="16222E"/>
                </a:solidFill>
                <a:latin typeface="Calibri"/>
              </a:rPr>
              <a:t>, machine-translated through a single annotation pipeline, with each article identified by </a:t>
            </a:r>
            <a:r>
              <a:rPr sz="1400" b="1" i="0">
                <a:solidFill>
                  <a:srgbClr val="16222E"/>
                </a:solidFill>
                <a:latin typeface="Calibri"/>
              </a:rPr>
              <a:t>the outlet that published it</a:t>
            </a:r>
            <a:r>
              <a:rPr sz="1400" b="0" i="0">
                <a:solidFill>
                  <a:srgbClr val="16222E"/>
                </a:solidFill>
                <a:latin typeface="Calibri"/>
              </a:rPr>
              <a: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DATA SOURCES AND SAMPLE</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Five ecosystems, classified by publisher</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7 / 18</a:t>
            </a:r>
          </a:p>
        </p:txBody>
      </p:sp>
      <p:sp>
        <p:nvSpPr>
          <p:cNvPr id="6" name="TextBox 5"/>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868"/>
              </a:spcAft>
            </a:pPr>
            <a:r>
              <a:rPr sz="1400" b="0" i="0">
                <a:solidFill>
                  <a:srgbClr val="1F6FB2"/>
                </a:solidFill>
                <a:latin typeface="Calibri"/>
              </a:rPr>
              <a:t>▪  </a:t>
            </a:r>
            <a:r>
              <a:rPr sz="1400" b="1" i="0">
                <a:solidFill>
                  <a:srgbClr val="16222E"/>
                </a:solidFill>
                <a:latin typeface="Calibri"/>
              </a:rPr>
              <a:t>UA, RU_STATE, RU_INDEP, WEST, EN_GLOBAL.</a:t>
            </a:r>
            <a:r>
              <a:rPr sz="1400" b="0" i="0">
                <a:solidFill>
                  <a:srgbClr val="16222E"/>
                </a:solidFill>
                <a:latin typeface="Calibri"/>
              </a:rPr>
              <a:t> An article in a British newspaper about Russian troop movements is Western, not Russian.</a:t>
            </a:r>
          </a:p>
          <a:p>
            <a:pPr>
              <a:lnSpc>
                <a:spcPct val="108000"/>
              </a:lnSpc>
              <a:spcAft>
                <a:spcPts val="868"/>
              </a:spcAft>
            </a:pPr>
            <a:r>
              <a:rPr sz="1400" b="0" i="0">
                <a:solidFill>
                  <a:srgbClr val="1F6FB2"/>
                </a:solidFill>
                <a:latin typeface="Calibri"/>
              </a:rPr>
              <a:t>▪  </a:t>
            </a:r>
            <a:r>
              <a:rPr sz="1400" b="0" i="0">
                <a:solidFill>
                  <a:srgbClr val="16222E"/>
                </a:solidFill>
                <a:latin typeface="Calibri"/>
              </a:rPr>
              <a:t>Four tiers in priority order: a hand-curated register, then national domain suffix, then source language conditional on country, then a residual category.</a:t>
            </a:r>
          </a:p>
          <a:p>
            <a:pPr>
              <a:lnSpc>
                <a:spcPct val="108000"/>
              </a:lnSpc>
              <a:spcAft>
                <a:spcPts val="868"/>
              </a:spcAft>
            </a:pPr>
            <a:r>
              <a:rPr sz="1400" b="0" i="0">
                <a:solidFill>
                  <a:srgbClr val="1F6FB2"/>
                </a:solidFill>
                <a:latin typeface="Calibri"/>
              </a:rPr>
              <a:t>▪  </a:t>
            </a:r>
            <a:r>
              <a:rPr sz="1400" b="1" i="0">
                <a:solidFill>
                  <a:srgbClr val="16222E"/>
                </a:solidFill>
                <a:latin typeface="Calibri"/>
              </a:rPr>
              <a:t>Country beats language at every tier.</a:t>
            </a:r>
            <a:r>
              <a:rPr sz="1400" b="0" i="0">
                <a:solidFill>
                  <a:srgbClr val="16222E"/>
                </a:solidFill>
                <a:latin typeface="Calibri"/>
              </a:rPr>
              <a:t> Ukrainian outlets publish heavily in Russian — 24tv.ua carries 2,595 Ukrainian-language and 1,865 Russian-language articles. A language-first rule would file those as Russian and manufacture agreement between two ecosystems the design must keep apart.</a:t>
            </a:r>
          </a:p>
          <a:p>
            <a:pPr>
              <a:lnSpc>
                <a:spcPct val="108000"/>
              </a:lnSpc>
              <a:spcAft>
                <a:spcPts val="868"/>
              </a:spcAft>
            </a:pPr>
            <a:r>
              <a:rPr sz="1400" b="0" i="0">
                <a:solidFill>
                  <a:srgbClr val="1F6FB2"/>
                </a:solidFill>
                <a:latin typeface="Calibri"/>
              </a:rPr>
              <a:t>▪  </a:t>
            </a:r>
            <a:r>
              <a:rPr sz="1400" b="1" i="0">
                <a:solidFill>
                  <a:srgbClr val="16222E"/>
                </a:solidFill>
                <a:latin typeface="Calibri"/>
              </a:rPr>
              <a:t>One rule, pointing both ways.</a:t>
            </a:r>
            <a:r>
              <a:rPr sz="1400" b="0" i="0">
                <a:solidFill>
                  <a:srgbClr val="16222E"/>
                </a:solidFill>
                <a:latin typeface="Calibri"/>
              </a:rPr>
              <a:t> State-funded external broadcasters classify to the funding state, which puts Deutsche Welle and RFE/RL in the Western block; exile newsrooms classify to their country of origin, which keeps Meduza in the Russian independent one.</a:t>
            </a:r>
          </a:p>
          <a:p>
            <a:pPr>
              <a:lnSpc>
                <a:spcPct val="108000"/>
              </a:lnSpc>
              <a:spcAft>
                <a:spcPts val="868"/>
              </a:spcAft>
            </a:pPr>
            <a:r>
              <a:rPr sz="1400" b="0" i="0">
                <a:solidFill>
                  <a:srgbClr val="1F6FB2"/>
                </a:solidFill>
                <a:latin typeface="Calibri"/>
              </a:rPr>
              <a:t>▪  </a:t>
            </a:r>
            <a:r>
              <a:rPr sz="1400" b="1" i="0">
                <a:solidFill>
                  <a:srgbClr val="16222E"/>
                </a:solidFill>
                <a:latin typeface="Calibri"/>
              </a:rPr>
              <a:t>Validated externally, not asserted.</a:t>
            </a:r>
            <a:r>
              <a:rPr sz="1400" b="0" i="0">
                <a:solidFill>
                  <a:srgbClr val="16222E"/>
                </a:solidFill>
                <a:latin typeface="Calibri"/>
              </a:rPr>
              <a:t> Each registered domain is resolved against Wikidata: of 84 outlets, 66 resolve and </a:t>
            </a:r>
            <a:r>
              <a:rPr sz="1400" b="1" i="0">
                <a:solidFill>
                  <a:srgbClr val="16222E"/>
                </a:solidFill>
                <a:latin typeface="Calibri"/>
              </a:rPr>
              <a:t>63 agree — precision 0.955</a:t>
            </a:r>
            <a:r>
              <a:rPr sz="1400" b="0" i="0">
                <a:solidFill>
                  <a:srgbClr val="16222E"/>
                </a:solidFill>
                <a:latin typeface="Calibri"/>
              </a:rPr>
              <a:t>. All three disagreements are exile newsrooms, the one case where origin and operation genuinely differ.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DATA SOURCES AND SAMPLE</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Variables, targets and sample</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8 / 18</a:t>
            </a:r>
          </a:p>
        </p:txBody>
      </p:sp>
      <p:sp>
        <p:nvSpPr>
          <p:cNvPr id="6" name="TextBox 5"/>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806"/>
              </a:spcAft>
            </a:pPr>
            <a:r>
              <a:rPr sz="1300" b="0" i="0">
                <a:solidFill>
                  <a:srgbClr val="1F6FB2"/>
                </a:solidFill>
                <a:latin typeface="Calibri"/>
              </a:rPr>
              <a:t>▪  </a:t>
            </a:r>
            <a:r>
              <a:rPr sz="1300" b="1" i="0">
                <a:solidFill>
                  <a:srgbClr val="16222E"/>
                </a:solidFill>
                <a:latin typeface="Calibri"/>
              </a:rPr>
              <a:t>Two perception indices per ecosystem per day.</a:t>
            </a:r>
            <a:r>
              <a:rPr sz="1300" b="0" i="0">
                <a:solidFill>
                  <a:srgbClr val="16222E"/>
                </a:solidFill>
                <a:latin typeface="Calibri"/>
              </a:rPr>
              <a:t> </a:t>
            </a:r>
            <a:r>
              <a:rPr sz="1300" b="0" i="1">
                <a:solidFill>
                  <a:srgbClr val="16222E"/>
                </a:solidFill>
                <a:latin typeface="Calibri"/>
              </a:rPr>
              <a:t>Ukraine/Russia coverage share</a:t>
            </a:r>
            <a:r>
              <a:rPr sz="1300" b="0" i="0">
                <a:solidFill>
                  <a:srgbClr val="16222E"/>
                </a:solidFill>
                <a:latin typeface="Calibri"/>
              </a:rPr>
              <a:t> — articles whose GDELT location field names a place in Ukraine or Russia, over the ecosystem's </a:t>
            </a:r>
            <a:r>
              <a:rPr sz="1300" b="1" i="0">
                <a:solidFill>
                  <a:srgbClr val="16222E"/>
                </a:solidFill>
                <a:latin typeface="Calibri"/>
              </a:rPr>
              <a:t>entire</a:t>
            </a:r>
            <a:r>
              <a:rPr sz="1300" b="0" i="0">
                <a:solidFill>
                  <a:srgbClr val="16222E"/>
                </a:solidFill>
                <a:latin typeface="Calibri"/>
              </a:rPr>
              <a:t> daily output. </a:t>
            </a:r>
            <a:r>
              <a:rPr sz="1300" b="0" i="1">
                <a:solidFill>
                  <a:srgbClr val="16222E"/>
                </a:solidFill>
                <a:latin typeface="Calibri"/>
              </a:rPr>
              <a:t>Coverage tone</a:t>
            </a:r>
            <a:r>
              <a:rPr sz="1300" b="0" i="0">
                <a:solidFill>
                  <a:srgbClr val="16222E"/>
                </a:solidFill>
                <a:latin typeface="Calibri"/>
              </a:rPr>
              <a:t> — mean GDELT tone of those same articles.</a:t>
            </a:r>
          </a:p>
          <a:p>
            <a:pPr>
              <a:lnSpc>
                <a:spcPct val="108000"/>
              </a:lnSpc>
              <a:spcAft>
                <a:spcPts val="806"/>
              </a:spcAft>
            </a:pPr>
            <a:r>
              <a:rPr sz="1300" b="0" i="0">
                <a:solidFill>
                  <a:srgbClr val="1F6FB2"/>
                </a:solidFill>
                <a:latin typeface="Calibri"/>
              </a:rPr>
              <a:t>▪  </a:t>
            </a:r>
            <a:r>
              <a:rPr sz="1300" b="1" i="0">
                <a:solidFill>
                  <a:srgbClr val="16222E"/>
                </a:solidFill>
                <a:latin typeface="Calibri"/>
              </a:rPr>
              <a:t>A third, theme-based split</a:t>
            </a:r>
            <a:r>
              <a:rPr sz="1300" b="0" i="0">
                <a:solidFill>
                  <a:srgbClr val="16222E"/>
                </a:solidFill>
                <a:latin typeface="Calibri"/>
              </a:rPr>
              <a:t> following Caldara and Iacoviello (2022): anticipatory coverage of threats and build-ups against realised coverage of acts and attacks. Conflict-specific by construction.</a:t>
            </a:r>
          </a:p>
          <a:p>
            <a:pPr>
              <a:lnSpc>
                <a:spcPct val="108000"/>
              </a:lnSpc>
              <a:spcAft>
                <a:spcPts val="806"/>
              </a:spcAft>
            </a:pPr>
            <a:r>
              <a:rPr sz="1300" b="0" i="0">
                <a:solidFill>
                  <a:srgbClr val="1F6FB2"/>
                </a:solidFill>
                <a:latin typeface="Calibri"/>
              </a:rPr>
              <a:t>▪  </a:t>
            </a:r>
            <a:r>
              <a:rPr sz="1300" b="1" i="0">
                <a:solidFill>
                  <a:srgbClr val="16222E"/>
                </a:solidFill>
                <a:latin typeface="Calibri"/>
              </a:rPr>
              <a:t>Shares, never raw counts.</a:t>
            </a:r>
            <a:r>
              <a:rPr sz="1300" b="0" i="0">
                <a:solidFill>
                  <a:srgbClr val="16222E"/>
                </a:solidFill>
                <a:latin typeface="Calibri"/>
              </a:rPr>
              <a:t> GDELT source coverage drifts by a factor of two and a half over eleven years; a count series would show that drift as a trend in every ecosystem at once.</a:t>
            </a:r>
          </a:p>
          <a:p>
            <a:pPr>
              <a:lnSpc>
                <a:spcPct val="108000"/>
              </a:lnSpc>
              <a:spcAft>
                <a:spcPts val="806"/>
              </a:spcAft>
            </a:pPr>
            <a:r>
              <a:rPr sz="1300" b="0" i="0">
                <a:solidFill>
                  <a:srgbClr val="1F6FB2"/>
                </a:solidFill>
                <a:latin typeface="Calibri"/>
              </a:rPr>
              <a:t>▪  </a:t>
            </a:r>
            <a:r>
              <a:rPr sz="1300" b="1" i="0">
                <a:solidFill>
                  <a:srgbClr val="16222E"/>
                </a:solidFill>
                <a:latin typeface="Calibri"/>
              </a:rPr>
              <a:t>Changes, never levels.</a:t>
            </a:r>
            <a:r>
              <a:rPr sz="1300" b="0" i="0">
                <a:solidFill>
                  <a:srgbClr val="16222E"/>
                </a:solidFill>
                <a:latin typeface="Calibri"/>
              </a:rPr>
              <a:t> In levels every series carries a common war-regime trend that the financial controls already capture.</a:t>
            </a:r>
          </a:p>
          <a:p>
            <a:pPr>
              <a:lnSpc>
                <a:spcPct val="108000"/>
              </a:lnSpc>
              <a:spcAft>
                <a:spcPts val="806"/>
              </a:spcAft>
            </a:pPr>
            <a:r>
              <a:rPr sz="1300" b="0" i="0">
                <a:solidFill>
                  <a:srgbClr val="1F6FB2"/>
                </a:solidFill>
                <a:latin typeface="Calibri"/>
              </a:rPr>
              <a:t>▪  </a:t>
            </a:r>
            <a:r>
              <a:rPr sz="1300" b="1" i="0">
                <a:solidFill>
                  <a:srgbClr val="16222E"/>
                </a:solidFill>
                <a:latin typeface="Calibri"/>
              </a:rPr>
              <a:t>Five targets:</a:t>
            </a:r>
            <a:r>
              <a:rPr sz="1300" b="0" i="0">
                <a:solidFill>
                  <a:srgbClr val="16222E"/>
                </a:solidFill>
                <a:latin typeface="Calibri"/>
              </a:rPr>
              <a:t> Bloomberg WAERLST (global) and BSHIELDT (Europe) from 2020; the ITA ETF back to 2015; and two hand-built equal-weighted baskets.</a:t>
            </a:r>
          </a:p>
          <a:p>
            <a:pPr>
              <a:lnSpc>
                <a:spcPct val="108000"/>
              </a:lnSpc>
              <a:spcAft>
                <a:spcPts val="806"/>
              </a:spcAft>
            </a:pPr>
            <a:r>
              <a:rPr sz="1300" b="0" i="0">
                <a:solidFill>
                  <a:srgbClr val="1F6FB2"/>
                </a:solidFill>
                <a:latin typeface="Calibri"/>
              </a:rPr>
              <a:t>▪  </a:t>
            </a:r>
            <a:r>
              <a:rPr sz="1300" b="1" i="0">
                <a:solidFill>
                  <a:srgbClr val="16222E"/>
                </a:solidFill>
                <a:latin typeface="Calibri"/>
              </a:rPr>
              <a:t>Sample: 4,027 days, 18 February 2015 to 20 May 2026, 98% of calendar days</a:t>
            </a:r>
            <a:r>
              <a:rPr sz="1300" b="0" i="0">
                <a:solidFill>
                  <a:srgbClr val="16222E"/>
                </a:solidFill>
                <a:latin typeface="Calibri"/>
              </a:rPr>
              <a:t>; 3,073 carry all five ecosystem series. Supplementary: Ukrainian Air Force records — 3,812 attack records, 102,396 weapons launched, </a:t>
            </a:r>
            <a:r>
              <a:rPr sz="1300" b="1" i="0">
                <a:solidFill>
                  <a:srgbClr val="16222E"/>
                </a:solidFill>
                <a:latin typeface="Calibri"/>
              </a:rPr>
              <a:t>74.3%</a:t>
            </a:r>
            <a:r>
              <a:rPr sz="1300" b="0" i="0">
                <a:solidFill>
                  <a:srgbClr val="16222E"/>
                </a:solidFill>
                <a:latin typeface="Calibri"/>
              </a:rPr>
              <a:t> intercepted.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IDENTIFICATION STRATEGY AND MODEL</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Identification strategy and model</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9 / 18</a:t>
            </a:r>
          </a:p>
        </p:txBody>
      </p:sp>
      <p:sp>
        <p:nvSpPr>
          <p:cNvPr id="6" name="TextBox 5"/>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806"/>
              </a:spcAft>
            </a:pPr>
            <a:r>
              <a:rPr sz="1300" b="0" i="0">
                <a:solidFill>
                  <a:srgbClr val="1F6FB2"/>
                </a:solidFill>
                <a:latin typeface="Calibri"/>
              </a:rPr>
              <a:t>▪  </a:t>
            </a:r>
            <a:r>
              <a:rPr sz="1300" b="0" i="0">
                <a:solidFill>
                  <a:srgbClr val="16222E"/>
                </a:solidFill>
                <a:latin typeface="Calibri"/>
              </a:rPr>
              <a:t>r_i,t = α + β_West X^West_t + β_Local X^Local_t + γ Z_t + ε_i,t</a:t>
            </a:r>
          </a:p>
          <a:p>
            <a:pPr>
              <a:lnSpc>
                <a:spcPct val="108000"/>
              </a:lnSpc>
              <a:spcAft>
                <a:spcPts val="806"/>
              </a:spcAft>
            </a:pPr>
            <a:r>
              <a:rPr sz="1300" b="0" i="0">
                <a:solidFill>
                  <a:srgbClr val="1F6FB2"/>
                </a:solidFill>
                <a:latin typeface="Calibri"/>
              </a:rPr>
              <a:t>▪  </a:t>
            </a:r>
            <a:r>
              <a:rPr sz="1300" b="0" i="0">
                <a:solidFill>
                  <a:srgbClr val="16222E"/>
                </a:solidFill>
                <a:latin typeface="Calibri"/>
              </a:rPr>
              <a:t>The object of interest is a </a:t>
            </a:r>
            <a:r>
              <a:rPr sz="1300" b="1" i="0">
                <a:solidFill>
                  <a:srgbClr val="16222E"/>
                </a:solidFill>
                <a:latin typeface="Calibri"/>
              </a:rPr>
              <a:t>joint </a:t>
            </a:r>
            <a:r>
              <a:rPr sz="1300" b="1" i="0">
                <a:solidFill>
                  <a:srgbClr val="16222E"/>
                </a:solidFill>
                <a:latin typeface="Calibri"/>
              </a:rPr>
              <a:t>F</a:t>
            </a:r>
            <a:r>
              <a:rPr sz="1300" b="1" i="0">
                <a:solidFill>
                  <a:srgbClr val="16222E"/>
                </a:solidFill>
                <a:latin typeface="Calibri"/>
              </a:rPr>
              <a:t>-test on </a:t>
            </a:r>
            <a:r>
              <a:rPr sz="1300" b="1" i="0">
                <a:solidFill>
                  <a:srgbClr val="16222E"/>
                </a:solidFill>
                <a:latin typeface="Calibri"/>
              </a:rPr>
              <a:t>β_Local</a:t>
            </a:r>
            <a:r>
              <a:rPr sz="1300" b="1" i="0">
                <a:solidFill>
                  <a:srgbClr val="16222E"/>
                </a:solidFill>
                <a:latin typeface="Calibri"/>
              </a:rPr>
              <a:t>, with the Western block already in the regression.</a:t>
            </a:r>
            <a:r>
              <a:rPr sz="1300" b="0" i="0">
                <a:solidFill>
                  <a:srgbClr val="16222E"/>
                </a:solidFill>
                <a:latin typeface="Calibri"/>
              </a:rPr>
              <a:t> That conditioning is what separates local media adding something from local and Western media correlating with returns for the same reason.</a:t>
            </a:r>
          </a:p>
          <a:p>
            <a:pPr>
              <a:lnSpc>
                <a:spcPct val="108000"/>
              </a:lnSpc>
              <a:spcAft>
                <a:spcPts val="806"/>
              </a:spcAft>
            </a:pPr>
            <a:r>
              <a:rPr sz="1300" b="0" i="0">
                <a:solidFill>
                  <a:srgbClr val="1F6FB2"/>
                </a:solidFill>
                <a:latin typeface="Calibri"/>
              </a:rPr>
              <a:t>▪  </a:t>
            </a:r>
            <a:r>
              <a:rPr sz="1300" b="1" i="0">
                <a:solidFill>
                  <a:srgbClr val="16222E"/>
                </a:solidFill>
                <a:latin typeface="Calibri"/>
              </a:rPr>
              <a:t>The positive control is the identical test on </a:t>
            </a:r>
            <a:r>
              <a:rPr sz="1300" b="1" i="0">
                <a:solidFill>
                  <a:srgbClr val="16222E"/>
                </a:solidFill>
                <a:latin typeface="Calibri"/>
              </a:rPr>
              <a:t>β_West</a:t>
            </a:r>
            <a:r>
              <a:rPr sz="1300" b="1" i="0">
                <a:solidFill>
                  <a:srgbClr val="16222E"/>
                </a:solidFill>
                <a:latin typeface="Calibri"/>
              </a:rPr>
              <a:t>, in the same cells.</a:t>
            </a:r>
            <a:r>
              <a:rPr sz="1300" b="0" i="0">
                <a:solidFill>
                  <a:srgbClr val="16222E"/>
                </a:solidFill>
                <a:latin typeface="Calibri"/>
              </a:rPr>
              <a:t> If the design detects neither block, a null on the local block means nothing. This is what makes the result a finding.</a:t>
            </a:r>
          </a:p>
          <a:p>
            <a:pPr>
              <a:lnSpc>
                <a:spcPct val="108000"/>
              </a:lnSpc>
              <a:spcAft>
                <a:spcPts val="806"/>
              </a:spcAft>
            </a:pPr>
            <a:r>
              <a:rPr sz="1300" b="0" i="0">
                <a:solidFill>
                  <a:srgbClr val="1F6FB2"/>
                </a:solidFill>
                <a:latin typeface="Calibri"/>
              </a:rPr>
              <a:t>▪  </a:t>
            </a:r>
            <a:r>
              <a:rPr sz="1300" b="1" i="0">
                <a:solidFill>
                  <a:srgbClr val="16222E"/>
                </a:solidFill>
                <a:latin typeface="Calibri"/>
              </a:rPr>
              <a:t>The market control must be regional.</a:t>
            </a:r>
            <a:r>
              <a:rPr sz="1300" b="0" i="0">
                <a:solidFill>
                  <a:srgbClr val="16222E"/>
                </a:solidFill>
                <a:latin typeface="Calibri"/>
              </a:rPr>
              <a:t> European defence returns are controlled with the STOXX 600, not the S&amp;P 500. Over the build-up the two markets correlate only 0.409, so a US control leaves ordinary European variation in the residual — and that residual correlates 0.26 with the threat measure being tested.</a:t>
            </a:r>
          </a:p>
          <a:p>
            <a:pPr>
              <a:lnSpc>
                <a:spcPct val="108000"/>
              </a:lnSpc>
              <a:spcAft>
                <a:spcPts val="806"/>
              </a:spcAft>
            </a:pPr>
            <a:r>
              <a:rPr sz="1300" b="0" i="0">
                <a:solidFill>
                  <a:srgbClr val="1F6FB2"/>
                </a:solidFill>
                <a:latin typeface="Calibri"/>
              </a:rPr>
              <a:t>▪  </a:t>
            </a:r>
            <a:r>
              <a:rPr sz="1300" b="0" i="0">
                <a:solidFill>
                  <a:srgbClr val="16222E"/>
                </a:solidFill>
                <a:latin typeface="Calibri"/>
              </a:rPr>
              <a:t>Two controls only, plus HAC(5) standard errors throughout. The grid crosses two frequencies, six episode windows plus the full sample, and five targets: 70 cells, of which </a:t>
            </a:r>
            <a:r>
              <a:rPr sz="1300" b="1" i="0">
                <a:solidFill>
                  <a:srgbClr val="16222E"/>
                </a:solidFill>
                <a:latin typeface="Calibri"/>
              </a:rPr>
              <a:t>31</a:t>
            </a:r>
            <a:r>
              <a:rPr sz="1300" b="0" i="0">
                <a:solidFill>
                  <a:srgbClr val="16222E"/>
                </a:solidFill>
                <a:latin typeface="Calibri"/>
              </a:rPr>
              <a:t> clear a minimum-observation rule.</a:t>
            </a:r>
          </a:p>
          <a:p>
            <a:pPr>
              <a:lnSpc>
                <a:spcPct val="108000"/>
              </a:lnSpc>
              <a:spcAft>
                <a:spcPts val="806"/>
              </a:spcAft>
            </a:pPr>
            <a:r>
              <a:rPr sz="1300" b="0" i="0">
                <a:solidFill>
                  <a:srgbClr val="1F6FB2"/>
                </a:solidFill>
                <a:latin typeface="Calibri"/>
              </a:rPr>
              <a:t>▪  </a:t>
            </a:r>
            <a:r>
              <a:rPr sz="1300" b="1" i="0">
                <a:solidFill>
                  <a:srgbClr val="16222E"/>
                </a:solidFill>
                <a:latin typeface="Calibri"/>
              </a:rPr>
              <a:t>31 tests at 5% would produce about 1.5 false rejections by chance</a:t>
            </a:r>
            <a:r>
              <a:rPr sz="1300" b="0" i="0">
                <a:solidFill>
                  <a:srgbClr val="16222E"/>
                </a:solidFill>
                <a:latin typeface="Calibri"/>
              </a:rPr>
              <a:t>, so Benjamini–Hochberg correction is applied across all 31 at a 5% false discovery rate. Gates 3, 4 and 5 are </a:t>
            </a:r>
            <a:r>
              <a:rPr sz="1300" b="1" i="0">
                <a:solidFill>
                  <a:srgbClr val="16222E"/>
                </a:solidFill>
                <a:latin typeface="Calibri"/>
              </a:rPr>
              <a:t>pre-registered</a:t>
            </a:r>
            <a:r>
              <a:rPr sz="1300" b="0" i="0">
                <a:solidFill>
                  <a:srgbClr val="16222E"/>
                </a:solidFill>
                <a:latin typeface="Calibri"/>
              </a:rPr>
              <a:t>; </a:t>
            </a:r>
            <a:r>
              <a:rPr sz="1300" b="1" i="0">
                <a:solidFill>
                  <a:srgbClr val="16222E"/>
                </a:solidFill>
                <a:latin typeface="Calibri"/>
              </a:rPr>
              <a:t>Gate 2 is not</a:t>
            </a:r>
            <a:r>
              <a:rPr sz="1300" b="0" i="0">
                <a:solidFill>
                  <a:srgbClr val="16222E"/>
                </a:solidFill>
                <a:latin typeface="Calibri"/>
              </a:rPr>
              <a:t>, and is reported as the exploratory test it 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RESULTS</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Descriptive: two media worlds, an order of magnitude apart</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10 / 18</a:t>
            </a:r>
          </a:p>
        </p:txBody>
      </p:sp>
      <p:sp>
        <p:nvSpPr>
          <p:cNvPr id="6" name="TextBox 5"/>
          <p:cNvSpPr txBox="1"/>
          <p:nvPr/>
        </p:nvSpPr>
        <p:spPr>
          <a:xfrm>
            <a:off x="566928" y="1426464"/>
            <a:ext cx="11057839" cy="1746504"/>
          </a:xfrm>
          <a:prstGeom prst="rect">
            <a:avLst/>
          </a:prstGeom>
          <a:noFill/>
        </p:spPr>
        <p:txBody>
          <a:bodyPr wrap="square" lIns="0" rIns="0" tIns="0" bIns="0">
            <a:spAutoFit/>
          </a:bodyPr>
          <a:lstStyle/>
          <a:p>
            <a:pPr>
              <a:lnSpc>
                <a:spcPct val="108000"/>
              </a:lnSpc>
              <a:spcAft>
                <a:spcPts val="806"/>
              </a:spcAft>
            </a:pPr>
            <a:r>
              <a:rPr sz="1300" b="0" i="0">
                <a:solidFill>
                  <a:srgbClr val="1F6FB2"/>
                </a:solidFill>
                <a:latin typeface="Calibri"/>
              </a:rPr>
              <a:t>▪  </a:t>
            </a:r>
            <a:r>
              <a:rPr sz="1300" b="0" i="0">
                <a:solidFill>
                  <a:srgbClr val="16222E"/>
                </a:solidFill>
                <a:latin typeface="Calibri"/>
              </a:rPr>
              <a:t>Local outlets: </a:t>
            </a:r>
            <a:r>
              <a:rPr sz="1300" b="1" i="0">
                <a:solidFill>
                  <a:srgbClr val="16222E"/>
                </a:solidFill>
                <a:latin typeface="Calibri"/>
              </a:rPr>
              <a:t>71–85%</a:t>
            </a:r>
            <a:r>
              <a:rPr sz="1300" b="0" i="0">
                <a:solidFill>
                  <a:srgbClr val="16222E"/>
                </a:solidFill>
                <a:latin typeface="Calibri"/>
              </a:rPr>
              <a:t> of output names a Ukrainian or Russian place. Western: </a:t>
            </a:r>
            <a:r>
              <a:rPr sz="1300" b="1" i="0">
                <a:solidFill>
                  <a:srgbClr val="16222E"/>
                </a:solidFill>
                <a:latin typeface="Calibri"/>
              </a:rPr>
              <a:t>7.2%</a:t>
            </a:r>
            <a:r>
              <a:rPr sz="1300" b="0" i="0">
                <a:solidFill>
                  <a:srgbClr val="16222E"/>
                </a:solidFill>
                <a:latin typeface="Calibri"/>
              </a:rPr>
              <a:t>. Native-English: </a:t>
            </a:r>
            <a:r>
              <a:rPr sz="1300" b="1" i="0">
                <a:solidFill>
                  <a:srgbClr val="16222E"/>
                </a:solidFill>
                <a:latin typeface="Calibri"/>
              </a:rPr>
              <a:t>5.4%</a:t>
            </a:r>
            <a:r>
              <a:rPr sz="1300" b="0" i="0">
                <a:solidFill>
                  <a:srgbClr val="16222E"/>
                </a:solidFill>
                <a:latin typeface="Calibri"/>
              </a:rPr>
              <a:t>.</a:t>
            </a:r>
          </a:p>
          <a:p>
            <a:pPr>
              <a:lnSpc>
                <a:spcPct val="108000"/>
              </a:lnSpc>
              <a:spcAft>
                <a:spcPts val="806"/>
              </a:spcAft>
            </a:pPr>
            <a:r>
              <a:rPr sz="1300" b="0" i="0">
                <a:solidFill>
                  <a:srgbClr val="1F6FB2"/>
                </a:solidFill>
                <a:latin typeface="Calibri"/>
              </a:rPr>
              <a:t>▪  </a:t>
            </a:r>
            <a:r>
              <a:rPr sz="1300" b="0" i="0">
                <a:solidFill>
                  <a:srgbClr val="16222E"/>
                </a:solidFill>
                <a:latin typeface="Calibri"/>
              </a:rPr>
              <a:t>At the invasion Western attention moves </a:t>
            </a:r>
            <a:r>
              <a:rPr sz="1300" b="1" i="0">
                <a:solidFill>
                  <a:srgbClr val="16222E"/>
                </a:solidFill>
                <a:latin typeface="Calibri"/>
              </a:rPr>
              <a:t>19.0% to 40.9%</a:t>
            </a:r>
            <a:r>
              <a:rPr sz="1300" b="0" i="0">
                <a:solidFill>
                  <a:srgbClr val="16222E"/>
                </a:solidFill>
                <a:latin typeface="Calibri"/>
              </a:rPr>
              <a:t> in a day — Ukrainian only 90.3% to 95.8%.</a:t>
            </a:r>
          </a:p>
          <a:p>
            <a:pPr>
              <a:lnSpc>
                <a:spcPct val="108000"/>
              </a:lnSpc>
              <a:spcAft>
                <a:spcPts val="806"/>
              </a:spcAft>
            </a:pPr>
            <a:r>
              <a:rPr sz="1300" b="0" i="0">
                <a:solidFill>
                  <a:srgbClr val="1F6FB2"/>
                </a:solidFill>
                <a:latin typeface="Calibri"/>
              </a:rPr>
              <a:t>▪  </a:t>
            </a:r>
            <a:r>
              <a:rPr sz="1300" b="1" i="0">
                <a:solidFill>
                  <a:srgbClr val="16222E"/>
                </a:solidFill>
                <a:latin typeface="Calibri"/>
              </a:rPr>
              <a:t>The local ecosystems had almost no headroom left to react.</a:t>
            </a:r>
          </a:p>
        </p:txBody>
      </p:sp>
      <p:pic>
        <p:nvPicPr>
          <p:cNvPr id="7" name="Picture 6" descr="fig1_attention_full_sample.png"/>
          <p:cNvPicPr>
            <a:picLocks noChangeAspect="1"/>
          </p:cNvPicPr>
          <p:nvPr/>
        </p:nvPicPr>
        <p:blipFill>
          <a:blip r:embed="rId2"/>
          <a:stretch>
            <a:fillRect/>
          </a:stretch>
        </p:blipFill>
        <p:spPr>
          <a:xfrm>
            <a:off x="2623304" y="3172968"/>
            <a:ext cx="6945086" cy="2916936"/>
          </a:xfrm>
          <a:prstGeom prst="rect">
            <a:avLst/>
          </a:prstGeom>
        </p:spPr>
      </p:pic>
      <p:sp>
        <p:nvSpPr>
          <p:cNvPr id="8" name="TextBox 7"/>
          <p:cNvSpPr txBox="1"/>
          <p:nvPr/>
        </p:nvSpPr>
        <p:spPr>
          <a:xfrm>
            <a:off x="566928" y="6144768"/>
            <a:ext cx="11057839" cy="310896"/>
          </a:xfrm>
          <a:prstGeom prst="rect">
            <a:avLst/>
          </a:prstGeom>
          <a:noFill/>
        </p:spPr>
        <p:txBody>
          <a:bodyPr wrap="square" lIns="0" rIns="0" tIns="0" bIns="0">
            <a:spAutoFit/>
          </a:bodyPr>
          <a:lstStyle/>
          <a:p>
            <a:pPr algn="ctr"/>
            <a:r>
              <a:rPr sz="1000" b="0" i="1">
                <a:solidFill>
                  <a:srgbClr val="5A6B7A"/>
                </a:solidFill>
                <a:latin typeface="Calibri"/>
              </a:rPr>
              <a:t>Ukraine/Russia coverage share by ecosystem, 30-day moving averages, 2015–2026.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RESULTS</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Descriptive: the tone asymmetry at the invasion</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11 / 18</a:t>
            </a:r>
          </a:p>
        </p:txBody>
      </p:sp>
      <p:sp>
        <p:nvSpPr>
          <p:cNvPr id="6" name="TextBox 5"/>
          <p:cNvSpPr txBox="1"/>
          <p:nvPr/>
        </p:nvSpPr>
        <p:spPr>
          <a:xfrm>
            <a:off x="566928" y="1426464"/>
            <a:ext cx="11057839" cy="1746504"/>
          </a:xfrm>
          <a:prstGeom prst="rect">
            <a:avLst/>
          </a:prstGeom>
          <a:noFill/>
        </p:spPr>
        <p:txBody>
          <a:bodyPr wrap="square" lIns="0" rIns="0" tIns="0" bIns="0">
            <a:spAutoFit/>
          </a:bodyPr>
          <a:lstStyle/>
          <a:p>
            <a:pPr>
              <a:lnSpc>
                <a:spcPct val="108000"/>
              </a:lnSpc>
              <a:spcAft>
                <a:spcPts val="806"/>
              </a:spcAft>
            </a:pPr>
            <a:r>
              <a:rPr sz="1300" b="0" i="0">
                <a:solidFill>
                  <a:srgbClr val="1F6FB2"/>
                </a:solidFill>
                <a:latin typeface="Calibri"/>
              </a:rPr>
              <a:t>▪  </a:t>
            </a:r>
            <a:r>
              <a:rPr sz="1300" b="0" i="0">
                <a:solidFill>
                  <a:srgbClr val="16222E"/>
                </a:solidFill>
                <a:latin typeface="Calibri"/>
              </a:rPr>
              <a:t>Tone shift at the invasion: Ukrainian </a:t>
            </a:r>
            <a:r>
              <a:rPr sz="1300" b="1" i="0">
                <a:solidFill>
                  <a:srgbClr val="16222E"/>
                </a:solidFill>
                <a:latin typeface="Calibri"/>
              </a:rPr>
              <a:t>−1.66</a:t>
            </a:r>
            <a:r>
              <a:rPr sz="1300" b="0" i="0">
                <a:solidFill>
                  <a:srgbClr val="16222E"/>
                </a:solidFill>
                <a:latin typeface="Calibri"/>
              </a:rPr>
              <a:t>, native-English </a:t>
            </a:r>
            <a:r>
              <a:rPr sz="1300" b="0" i="0">
                <a:solidFill>
                  <a:srgbClr val="16222E"/>
                </a:solidFill>
                <a:latin typeface="Calibri"/>
              </a:rPr>
              <a:t>−0.64</a:t>
            </a:r>
            <a:r>
              <a:rPr sz="1300" b="0" i="0">
                <a:solidFill>
                  <a:srgbClr val="16222E"/>
                </a:solidFill>
                <a:latin typeface="Calibri"/>
              </a:rPr>
              <a:t>, Western </a:t>
            </a:r>
            <a:r>
              <a:rPr sz="1300" b="0" i="0">
                <a:solidFill>
                  <a:srgbClr val="16222E"/>
                </a:solidFill>
                <a:latin typeface="Calibri"/>
              </a:rPr>
              <a:t>−0.36</a:t>
            </a:r>
            <a:r>
              <a:rPr sz="1300" b="0" i="0">
                <a:solidFill>
                  <a:srgbClr val="16222E"/>
                </a:solidFill>
                <a:latin typeface="Calibri"/>
              </a:rPr>
              <a:t> — </a:t>
            </a:r>
            <a:r>
              <a:rPr sz="1300" b="1" i="0">
                <a:solidFill>
                  <a:srgbClr val="16222E"/>
                </a:solidFill>
                <a:latin typeface="Calibri"/>
              </a:rPr>
              <a:t>Russian state </a:t>
            </a:r>
            <a:r>
              <a:rPr sz="1300" b="1" i="0">
                <a:solidFill>
                  <a:srgbClr val="16222E"/>
                </a:solidFill>
                <a:latin typeface="Calibri"/>
              </a:rPr>
              <a:t>+0.02</a:t>
            </a:r>
            <a:r>
              <a:rPr sz="1300" b="0" i="0">
                <a:solidFill>
                  <a:srgbClr val="16222E"/>
                </a:solidFill>
                <a:latin typeface="Calibri"/>
              </a:rPr>
              <a:t>.</a:t>
            </a:r>
          </a:p>
          <a:p>
            <a:pPr>
              <a:lnSpc>
                <a:spcPct val="108000"/>
              </a:lnSpc>
              <a:spcAft>
                <a:spcPts val="806"/>
              </a:spcAft>
            </a:pPr>
            <a:r>
              <a:rPr sz="1300" b="0" i="0">
                <a:solidFill>
                  <a:srgbClr val="1F6FB2"/>
                </a:solidFill>
                <a:latin typeface="Calibri"/>
              </a:rPr>
              <a:t>▪  </a:t>
            </a:r>
            <a:r>
              <a:rPr sz="1300" b="1" i="0">
                <a:solidFill>
                  <a:srgbClr val="16222E"/>
                </a:solidFill>
                <a:latin typeface="Calibri"/>
              </a:rPr>
              <a:t>Not a composition artefact:</a:t>
            </a:r>
            <a:r>
              <a:rPr sz="1300" b="0" i="0">
                <a:solidFill>
                  <a:srgbClr val="16222E"/>
                </a:solidFill>
                <a:latin typeface="Calibri"/>
              </a:rPr>
              <a:t> on a fixed panel of the 24 state outlets present on both sides, the shift is </a:t>
            </a:r>
            <a:r>
              <a:rPr sz="1300" b="1" i="0">
                <a:solidFill>
                  <a:srgbClr val="16222E"/>
                </a:solidFill>
                <a:latin typeface="Calibri"/>
              </a:rPr>
              <a:t>−0.05</a:t>
            </a:r>
            <a:r>
              <a:rPr sz="1300" b="0" i="0">
                <a:solidFill>
                  <a:srgbClr val="16222E"/>
                </a:solidFill>
                <a:latin typeface="Calibri"/>
              </a:rPr>
              <a:t>.</a:t>
            </a:r>
          </a:p>
          <a:p>
            <a:pPr>
              <a:lnSpc>
                <a:spcPct val="108000"/>
              </a:lnSpc>
              <a:spcAft>
                <a:spcPts val="806"/>
              </a:spcAft>
            </a:pPr>
            <a:r>
              <a:rPr sz="1300" b="0" i="0">
                <a:solidFill>
                  <a:srgbClr val="1F6FB2"/>
                </a:solidFill>
                <a:latin typeface="Calibri"/>
              </a:rPr>
              <a:t>▪  </a:t>
            </a:r>
            <a:r>
              <a:rPr sz="1300" b="1" i="0">
                <a:solidFill>
                  <a:srgbClr val="16222E"/>
                </a:solidFill>
                <a:latin typeface="Calibri"/>
              </a:rPr>
              <a:t>The signal that moved most sharply at the defining event of the sample is not the one prices track.</a:t>
            </a:r>
          </a:p>
        </p:txBody>
      </p:sp>
      <p:pic>
        <p:nvPicPr>
          <p:cNvPr id="7" name="Picture 6" descr="fig2_tone_full_sample.png"/>
          <p:cNvPicPr>
            <a:picLocks noChangeAspect="1"/>
          </p:cNvPicPr>
          <p:nvPr/>
        </p:nvPicPr>
        <p:blipFill>
          <a:blip r:embed="rId2"/>
          <a:stretch>
            <a:fillRect/>
          </a:stretch>
        </p:blipFill>
        <p:spPr>
          <a:xfrm>
            <a:off x="2623304" y="3172968"/>
            <a:ext cx="6945086" cy="2916936"/>
          </a:xfrm>
          <a:prstGeom prst="rect">
            <a:avLst/>
          </a:prstGeom>
        </p:spPr>
      </p:pic>
      <p:sp>
        <p:nvSpPr>
          <p:cNvPr id="8" name="TextBox 7"/>
          <p:cNvSpPr txBox="1"/>
          <p:nvPr/>
        </p:nvSpPr>
        <p:spPr>
          <a:xfrm>
            <a:off x="566928" y="6144768"/>
            <a:ext cx="11057839" cy="310896"/>
          </a:xfrm>
          <a:prstGeom prst="rect">
            <a:avLst/>
          </a:prstGeom>
          <a:noFill/>
        </p:spPr>
        <p:txBody>
          <a:bodyPr wrap="square" lIns="0" rIns="0" tIns="0" bIns="0">
            <a:spAutoFit/>
          </a:bodyPr>
          <a:lstStyle/>
          <a:p>
            <a:pPr algn="ctr"/>
            <a:r>
              <a:rPr sz="1000" b="0" i="1">
                <a:solidFill>
                  <a:srgbClr val="5A6B7A"/>
                </a:solidFill>
                <a:latin typeface="Calibri"/>
              </a:rPr>
              <a:t>Mean coverage tone by ecosystem, 30-day moving averages, 2015–2026.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RESULTS</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Gates 2 and 3: local perception and defence-equity returns</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12 / 18</a:t>
            </a:r>
          </a:p>
        </p:txBody>
      </p:sp>
      <p:graphicFrame>
        <p:nvGraphicFramePr>
          <p:cNvPr id="6" name="Table 5"/>
          <p:cNvGraphicFramePr>
            <a:graphicFrameLocks noGrp="1"/>
          </p:cNvGraphicFramePr>
          <p:nvPr/>
        </p:nvGraphicFramePr>
        <p:xfrm>
          <a:off x="566928" y="1426464"/>
          <a:ext cx="11057837" cy="2487168"/>
        </p:xfrm>
        <a:graphic>
          <a:graphicData uri="http://schemas.openxmlformats.org/drawingml/2006/table">
            <a:tbl>
              <a:tblPr>
                <a:tableStyleId>{5C22544A-7EE6-4342-B048-85BDC9FD1C3A}</a:tableStyleId>
              </a:tblPr>
              <a:tblGrid>
                <a:gridCol w="3923749"/>
                <a:gridCol w="1783522"/>
                <a:gridCol w="1783522"/>
                <a:gridCol w="1783522"/>
                <a:gridCol w="1783522"/>
              </a:tblGrid>
              <a:tr h="310896">
                <a:tc>
                  <a:txBody>
                    <a:bodyPr wrap="square"/>
                    <a:lstStyle/>
                    <a:p>
                      <a:pPr algn="l"/>
                      <a:r>
                        <a:rPr sz="1200" b="1" i="0">
                          <a:solidFill>
                            <a:srgbClr val="1F6FB2"/>
                          </a:solidFill>
                          <a:latin typeface="Calibri"/>
                        </a:rPr>
                        <a:t>Block and news timing</a:t>
                      </a:r>
                    </a:p>
                  </a:txBody>
                  <a:tcPr marL="54864" marR="54864" marT="18288" marB="18288" anchor="ctr">
                    <a:solidFill>
                      <a:srgbClr val="F2F6F9"/>
                    </a:solidFill>
                  </a:tcPr>
                </a:tc>
                <a:tc>
                  <a:txBody>
                    <a:bodyPr wrap="square"/>
                    <a:lstStyle/>
                    <a:p>
                      <a:pPr algn="ctr"/>
                      <a:r>
                        <a:rPr sz="1200" b="1" i="0">
                          <a:solidFill>
                            <a:srgbClr val="1F6FB2"/>
                          </a:solidFill>
                          <a:latin typeface="Calibri"/>
                        </a:rPr>
                        <a:t>Cells</a:t>
                      </a:r>
                    </a:p>
                  </a:txBody>
                  <a:tcPr marL="54864" marR="54864" marT="18288" marB="18288" anchor="ctr">
                    <a:solidFill>
                      <a:srgbClr val="F2F6F9"/>
                    </a:solidFill>
                  </a:tcPr>
                </a:tc>
                <a:tc>
                  <a:txBody>
                    <a:bodyPr wrap="square"/>
                    <a:lstStyle/>
                    <a:p>
                      <a:pPr algn="ctr"/>
                      <a:r>
                        <a:rPr sz="1200" b="1" i="0">
                          <a:solidFill>
                            <a:srgbClr val="1F6FB2"/>
                          </a:solidFill>
                          <a:latin typeface="Calibri"/>
                        </a:rPr>
                        <a:t>BH surv.</a:t>
                      </a:r>
                    </a:p>
                  </a:txBody>
                  <a:tcPr marL="54864" marR="54864" marT="18288" marB="18288" anchor="ctr">
                    <a:solidFill>
                      <a:srgbClr val="F2F6F9"/>
                    </a:solidFill>
                  </a:tcPr>
                </a:tc>
                <a:tc>
                  <a:txBody>
                    <a:bodyPr wrap="square"/>
                    <a:lstStyle/>
                    <a:p>
                      <a:pPr algn="ctr"/>
                      <a:r>
                        <a:rPr sz="1200" b="1" i="0">
                          <a:solidFill>
                            <a:srgbClr val="1F6FB2"/>
                          </a:solidFill>
                          <a:latin typeface="Calibri"/>
                        </a:rPr>
                        <a:t>Min. </a:t>
                      </a:r>
                      <a:r>
                        <a:rPr sz="1200" b="1" i="0">
                          <a:solidFill>
                            <a:srgbClr val="1F6FB2"/>
                          </a:solidFill>
                          <a:latin typeface="Calibri"/>
                        </a:rPr>
                        <a:t>p</a:t>
                      </a:r>
                    </a:p>
                  </a:txBody>
                  <a:tcPr marL="54864" marR="54864" marT="18288" marB="18288" anchor="ctr">
                    <a:solidFill>
                      <a:srgbClr val="F2F6F9"/>
                    </a:solidFill>
                  </a:tcPr>
                </a:tc>
                <a:tc>
                  <a:txBody>
                    <a:bodyPr wrap="square"/>
                    <a:lstStyle/>
                    <a:p>
                      <a:pPr algn="ctr"/>
                      <a:r>
                        <a:rPr sz="1200" b="1" i="0">
                          <a:solidFill>
                            <a:srgbClr val="1F6FB2"/>
                          </a:solidFill>
                          <a:latin typeface="Calibri"/>
                        </a:rPr>
                        <a:t>Verdict</a:t>
                      </a:r>
                    </a:p>
                  </a:txBody>
                  <a:tcPr marL="54864" marR="54864" marT="18288" marB="18288" anchor="ctr">
                    <a:solidFill>
                      <a:srgbClr val="F2F6F9"/>
                    </a:solidFill>
                  </a:tcPr>
                </a:tc>
              </a:tr>
              <a:tr h="310896">
                <a:tc gridSpan="5">
                  <a:txBody>
                    <a:bodyPr wrap="square"/>
                    <a:lstStyle/>
                    <a:p>
                      <a:pPr algn="l"/>
                      <a:r>
                        <a:rPr sz="1200" b="0" i="1">
                          <a:solidFill>
                            <a:srgbClr val="5A6B7A"/>
                          </a:solidFill>
                          <a:latin typeface="Calibri"/>
                        </a:rPr>
                        <a:t>Gate 2 — coverage volume and tone (exploratory)</a:t>
                      </a:r>
                    </a:p>
                  </a:txBody>
                  <a:tcPr marL="54864" marR="54864" marT="18288" marB="18288" anchor="ctr">
                    <a:solidFill>
                      <a:srgbClr val="F2F6F9"/>
                    </a:solidFill>
                  </a:tcPr>
                </a:tc>
                <a:tc hMerge="1">
                  <a:txBody>
                    <a:bodyPr/>
                    <a:lstStyle/>
                    <a:p/>
                  </a:txBody>
                  <a:tcPr/>
                </a:tc>
                <a:tc hMerge="1">
                  <a:txBody>
                    <a:bodyPr/>
                    <a:lstStyle/>
                    <a:p/>
                  </a:txBody>
                  <a:tcPr/>
                </a:tc>
                <a:tc hMerge="1">
                  <a:txBody>
                    <a:bodyPr/>
                    <a:lstStyle/>
                    <a:p/>
                  </a:txBody>
                  <a:tcPr/>
                </a:tc>
                <a:tc hMerge="1">
                  <a:txBody>
                    <a:bodyPr/>
                    <a:lstStyle/>
                    <a:p/>
                  </a:txBody>
                  <a:tcPr/>
                </a:tc>
              </a:tr>
              <a:tr h="310896">
                <a:tc>
                  <a:txBody>
                    <a:bodyPr wrap="square"/>
                    <a:lstStyle/>
                    <a:p>
                      <a:pPr algn="l"/>
                      <a:r>
                        <a:rPr sz="1200" b="0" i="0">
                          <a:solidFill>
                            <a:srgbClr val="16222E"/>
                          </a:solidFill>
                          <a:latin typeface="Calibri"/>
                        </a:rPr>
                        <a:t>Local, lagged one day (primary)</a:t>
                      </a:r>
                    </a:p>
                  </a:txBody>
                  <a:tcPr marL="54864" marR="54864" marT="18288" marB="18288" anchor="ctr">
                    <a:solidFill>
                      <a:srgbClr val="FFFFFF"/>
                    </a:solidFill>
                  </a:tcPr>
                </a:tc>
                <a:tc>
                  <a:txBody>
                    <a:bodyPr wrap="square"/>
                    <a:lstStyle/>
                    <a:p>
                      <a:pPr algn="ctr"/>
                      <a:r>
                        <a:rPr sz="1200" b="0" i="0">
                          <a:solidFill>
                            <a:srgbClr val="16222E"/>
                          </a:solidFill>
                          <a:latin typeface="Calibri"/>
                        </a:rPr>
                        <a:t>31</a:t>
                      </a:r>
                    </a:p>
                  </a:txBody>
                  <a:tcPr marL="54864" marR="54864" marT="18288" marB="18288" anchor="ctr">
                    <a:solidFill>
                      <a:srgbClr val="FFFFFF"/>
                    </a:solidFill>
                  </a:tcPr>
                </a:tc>
                <a:tc>
                  <a:txBody>
                    <a:bodyPr wrap="square"/>
                    <a:lstStyle/>
                    <a:p>
                      <a:pPr algn="ctr"/>
                      <a:r>
                        <a:rPr sz="1200" b="0" i="0">
                          <a:solidFill>
                            <a:srgbClr val="16222E"/>
                          </a:solidFill>
                          <a:latin typeface="Calibri"/>
                        </a:rPr>
                        <a:t>1</a:t>
                      </a:r>
                    </a:p>
                  </a:txBody>
                  <a:tcPr marL="54864" marR="54864" marT="18288" marB="18288" anchor="ctr">
                    <a:solidFill>
                      <a:srgbClr val="FFFFFF"/>
                    </a:solidFill>
                  </a:tcPr>
                </a:tc>
                <a:tc>
                  <a:txBody>
                    <a:bodyPr wrap="square"/>
                    <a:lstStyle/>
                    <a:p>
                      <a:pPr algn="ctr"/>
                      <a:r>
                        <a:rPr sz="1200" b="0" i="0">
                          <a:solidFill>
                            <a:srgbClr val="16222E"/>
                          </a:solidFill>
                          <a:latin typeface="Calibri"/>
                        </a:rPr>
                        <a:t>9.0×10⁻⁴</a:t>
                      </a:r>
                    </a:p>
                  </a:txBody>
                  <a:tcPr marL="54864" marR="54864" marT="18288" marB="18288" anchor="ctr">
                    <a:solidFill>
                      <a:srgbClr val="FFFFFF"/>
                    </a:solidFill>
                  </a:tcPr>
                </a:tc>
                <a:tc>
                  <a:txBody>
                    <a:bodyPr wrap="square"/>
                    <a:lstStyle/>
                    <a:p>
                      <a:pPr algn="ctr"/>
                      <a:r>
                        <a:rPr sz="1200" b="0" i="0">
                          <a:solidFill>
                            <a:srgbClr val="16222E"/>
                          </a:solidFill>
                          <a:latin typeface="Calibri"/>
                        </a:rPr>
                        <a:t>not robust</a:t>
                      </a:r>
                    </a:p>
                  </a:txBody>
                  <a:tcPr marL="54864" marR="54864" marT="18288" marB="18288" anchor="ctr">
                    <a:solidFill>
                      <a:srgbClr val="FFFFFF"/>
                    </a:solidFill>
                  </a:tcPr>
                </a:tc>
              </a:tr>
              <a:tr h="310896">
                <a:tc>
                  <a:txBody>
                    <a:bodyPr wrap="square"/>
                    <a:lstStyle/>
                    <a:p>
                      <a:pPr algn="l"/>
                      <a:r>
                        <a:rPr sz="1200" b="0" i="0">
                          <a:solidFill>
                            <a:srgbClr val="16222E"/>
                          </a:solidFill>
                          <a:latin typeface="Calibri"/>
                        </a:rPr>
                        <a:t>Local, same-day</a:t>
                      </a:r>
                    </a:p>
                  </a:txBody>
                  <a:tcPr marL="54864" marR="54864" marT="18288" marB="18288" anchor="ctr">
                    <a:solidFill>
                      <a:srgbClr val="FFFFFF"/>
                    </a:solidFill>
                  </a:tcPr>
                </a:tc>
                <a:tc>
                  <a:txBody>
                    <a:bodyPr wrap="square"/>
                    <a:lstStyle/>
                    <a:p>
                      <a:pPr algn="ctr"/>
                      <a:r>
                        <a:rPr sz="1200" b="0" i="0">
                          <a:solidFill>
                            <a:srgbClr val="16222E"/>
                          </a:solidFill>
                          <a:latin typeface="Calibri"/>
                        </a:rPr>
                        <a:t>31</a:t>
                      </a:r>
                    </a:p>
                  </a:txBody>
                  <a:tcPr marL="54864" marR="54864" marT="18288" marB="18288" anchor="ctr">
                    <a:solidFill>
                      <a:srgbClr val="FFFFFF"/>
                    </a:solidFill>
                  </a:tcPr>
                </a:tc>
                <a:tc>
                  <a:txBody>
                    <a:bodyPr wrap="square"/>
                    <a:lstStyle/>
                    <a:p>
                      <a:pPr algn="ctr"/>
                      <a:r>
                        <a:rPr sz="1200" b="0" i="0">
                          <a:solidFill>
                            <a:srgbClr val="16222E"/>
                          </a:solidFill>
                          <a:latin typeface="Calibri"/>
                        </a:rPr>
                        <a:t>7</a:t>
                      </a:r>
                    </a:p>
                  </a:txBody>
                  <a:tcPr marL="54864" marR="54864" marT="18288" marB="18288" anchor="ctr">
                    <a:solidFill>
                      <a:srgbClr val="FFFFFF"/>
                    </a:solidFill>
                  </a:tcPr>
                </a:tc>
                <a:tc>
                  <a:txBody>
                    <a:bodyPr wrap="square"/>
                    <a:lstStyle/>
                    <a:p>
                      <a:pPr algn="ctr"/>
                      <a:r>
                        <a:rPr sz="1200" b="0" i="0">
                          <a:solidFill>
                            <a:srgbClr val="16222E"/>
                          </a:solidFill>
                          <a:latin typeface="Calibri"/>
                        </a:rPr>
                        <a:t>2.2×10⁻⁶</a:t>
                      </a:r>
                    </a:p>
                  </a:txBody>
                  <a:tcPr marL="54864" marR="54864" marT="18288" marB="18288" anchor="ctr">
                    <a:solidFill>
                      <a:srgbClr val="FFFFFF"/>
                    </a:solidFill>
                  </a:tcPr>
                </a:tc>
                <a:tc>
                  <a:txBody>
                    <a:bodyPr wrap="square"/>
                    <a:lstStyle/>
                    <a:p>
                      <a:pPr algn="ctr"/>
                      <a:r>
                        <a:rPr sz="1200" b="0" i="0">
                          <a:solidFill>
                            <a:srgbClr val="16222E"/>
                          </a:solidFill>
                          <a:latin typeface="Calibri"/>
                        </a:rPr>
                        <a:t>not tradeable</a:t>
                      </a:r>
                    </a:p>
                  </a:txBody>
                  <a:tcPr marL="54864" marR="54864" marT="18288" marB="18288" anchor="ctr">
                    <a:solidFill>
                      <a:srgbClr val="FFFFFF"/>
                    </a:solidFill>
                  </a:tcPr>
                </a:tc>
              </a:tr>
              <a:tr h="310896">
                <a:tc>
                  <a:txBody>
                    <a:bodyPr wrap="square"/>
                    <a:lstStyle/>
                    <a:p>
                      <a:pPr algn="l"/>
                      <a:r>
                        <a:rPr sz="1200" b="0" i="0">
                          <a:solidFill>
                            <a:srgbClr val="16222E"/>
                          </a:solidFill>
                          <a:latin typeface="Calibri"/>
                        </a:rPr>
                        <a:t>Western, lagged one day (control)</a:t>
                      </a:r>
                    </a:p>
                  </a:txBody>
                  <a:tcPr marL="54864" marR="54864" marT="18288" marB="18288" anchor="ctr">
                    <a:solidFill>
                      <a:srgbClr val="FFFFFF"/>
                    </a:solidFill>
                  </a:tcPr>
                </a:tc>
                <a:tc>
                  <a:txBody>
                    <a:bodyPr wrap="square"/>
                    <a:lstStyle/>
                    <a:p>
                      <a:pPr algn="ctr"/>
                      <a:r>
                        <a:rPr sz="1200" b="0" i="0">
                          <a:solidFill>
                            <a:srgbClr val="16222E"/>
                          </a:solidFill>
                          <a:latin typeface="Calibri"/>
                        </a:rPr>
                        <a:t>31</a:t>
                      </a:r>
                    </a:p>
                  </a:txBody>
                  <a:tcPr marL="54864" marR="54864" marT="18288" marB="18288" anchor="ctr">
                    <a:solidFill>
                      <a:srgbClr val="FFFFFF"/>
                    </a:solidFill>
                  </a:tcPr>
                </a:tc>
                <a:tc>
                  <a:txBody>
                    <a:bodyPr wrap="square"/>
                    <a:lstStyle/>
                    <a:p>
                      <a:pPr algn="ctr"/>
                      <a:r>
                        <a:rPr sz="1200" b="0" i="0">
                          <a:solidFill>
                            <a:srgbClr val="16222E"/>
                          </a:solidFill>
                          <a:latin typeface="Calibri"/>
                        </a:rPr>
                        <a:t>0</a:t>
                      </a:r>
                    </a:p>
                  </a:txBody>
                  <a:tcPr marL="54864" marR="54864" marT="18288" marB="18288" anchor="ctr">
                    <a:solidFill>
                      <a:srgbClr val="FFFFFF"/>
                    </a:solidFill>
                  </a:tcPr>
                </a:tc>
                <a:tc>
                  <a:txBody>
                    <a:bodyPr wrap="square"/>
                    <a:lstStyle/>
                    <a:p>
                      <a:pPr algn="ctr"/>
                      <a:r>
                        <a:rPr sz="1200" b="0" i="0">
                          <a:solidFill>
                            <a:srgbClr val="16222E"/>
                          </a:solidFill>
                          <a:latin typeface="Calibri"/>
                        </a:rPr>
                        <a:t>2.7×10⁻³</a:t>
                      </a:r>
                    </a:p>
                  </a:txBody>
                  <a:tcPr marL="54864" marR="54864" marT="18288" marB="18288" anchor="ctr">
                    <a:solidFill>
                      <a:srgbClr val="FFFFFF"/>
                    </a:solidFill>
                  </a:tcPr>
                </a:tc>
                <a:tc>
                  <a:txBody>
                    <a:bodyPr wrap="square"/>
                    <a:lstStyle/>
                    <a:p>
                      <a:pPr algn="ctr"/>
                      <a:r>
                        <a:rPr sz="1200" b="0" i="0">
                          <a:solidFill>
                            <a:srgbClr val="16222E"/>
                          </a:solidFill>
                          <a:latin typeface="Calibri"/>
                        </a:rPr>
                        <a:t>not detected</a:t>
                      </a:r>
                    </a:p>
                  </a:txBody>
                  <a:tcPr marL="54864" marR="54864" marT="18288" marB="18288" anchor="ctr">
                    <a:solidFill>
                      <a:srgbClr val="FFFFFF"/>
                    </a:solidFill>
                  </a:tcPr>
                </a:tc>
              </a:tr>
              <a:tr h="310896">
                <a:tc gridSpan="5">
                  <a:txBody>
                    <a:bodyPr wrap="square"/>
                    <a:lstStyle/>
                    <a:p>
                      <a:pPr algn="l"/>
                      <a:r>
                        <a:rPr sz="1200" b="0" i="1">
                          <a:solidFill>
                            <a:srgbClr val="5A6B7A"/>
                          </a:solidFill>
                          <a:latin typeface="Calibri"/>
                        </a:rPr>
                        <a:t>Gate 3 — anticipated/realised split (pre-registered)</a:t>
                      </a:r>
                    </a:p>
                  </a:txBody>
                  <a:tcPr marL="54864" marR="54864" marT="18288" marB="18288" anchor="ctr">
                    <a:solidFill>
                      <a:srgbClr val="F2F6F9"/>
                    </a:solidFill>
                  </a:tcPr>
                </a:tc>
                <a:tc hMerge="1">
                  <a:txBody>
                    <a:bodyPr/>
                    <a:lstStyle/>
                    <a:p/>
                  </a:txBody>
                  <a:tcPr/>
                </a:tc>
                <a:tc hMerge="1">
                  <a:txBody>
                    <a:bodyPr/>
                    <a:lstStyle/>
                    <a:p/>
                  </a:txBody>
                  <a:tcPr/>
                </a:tc>
                <a:tc hMerge="1">
                  <a:txBody>
                    <a:bodyPr/>
                    <a:lstStyle/>
                    <a:p/>
                  </a:txBody>
                  <a:tcPr/>
                </a:tc>
                <a:tc hMerge="1">
                  <a:txBody>
                    <a:bodyPr/>
                    <a:lstStyle/>
                    <a:p/>
                  </a:txBody>
                  <a:tcPr/>
                </a:tc>
              </a:tr>
              <a:tr h="310896">
                <a:tc>
                  <a:txBody>
                    <a:bodyPr wrap="square"/>
                    <a:lstStyle/>
                    <a:p>
                      <a:pPr algn="l"/>
                      <a:r>
                        <a:rPr sz="1200" b="0" i="0">
                          <a:solidFill>
                            <a:srgbClr val="16222E"/>
                          </a:solidFill>
                          <a:latin typeface="Calibri"/>
                        </a:rPr>
                        <a:t>Local, lagged one day (primary arm)</a:t>
                      </a:r>
                    </a:p>
                  </a:txBody>
                  <a:tcPr marL="54864" marR="54864" marT="18288" marB="18288" anchor="ctr">
                    <a:solidFill>
                      <a:srgbClr val="FFFFFF"/>
                    </a:solidFill>
                  </a:tcPr>
                </a:tc>
                <a:tc>
                  <a:txBody>
                    <a:bodyPr wrap="square"/>
                    <a:lstStyle/>
                    <a:p>
                      <a:pPr algn="ctr"/>
                      <a:r>
                        <a:rPr sz="1200" b="0" i="0">
                          <a:solidFill>
                            <a:srgbClr val="16222E"/>
                          </a:solidFill>
                          <a:latin typeface="Calibri"/>
                        </a:rPr>
                        <a:t>31</a:t>
                      </a:r>
                    </a:p>
                  </a:txBody>
                  <a:tcPr marL="54864" marR="54864" marT="18288" marB="18288" anchor="ctr">
                    <a:solidFill>
                      <a:srgbClr val="FFFFFF"/>
                    </a:solidFill>
                  </a:tcPr>
                </a:tc>
                <a:tc>
                  <a:txBody>
                    <a:bodyPr wrap="square"/>
                    <a:lstStyle/>
                    <a:p>
                      <a:pPr algn="ctr"/>
                      <a:r>
                        <a:rPr sz="1200" b="0" i="0">
                          <a:solidFill>
                            <a:srgbClr val="16222E"/>
                          </a:solidFill>
                          <a:latin typeface="Calibri"/>
                        </a:rPr>
                        <a:t>2</a:t>
                      </a:r>
                    </a:p>
                  </a:txBody>
                  <a:tcPr marL="54864" marR="54864" marT="18288" marB="18288" anchor="ctr">
                    <a:solidFill>
                      <a:srgbClr val="FFFFFF"/>
                    </a:solidFill>
                  </a:tcPr>
                </a:tc>
                <a:tc>
                  <a:txBody>
                    <a:bodyPr wrap="square"/>
                    <a:lstStyle/>
                    <a:p>
                      <a:pPr algn="ctr"/>
                      <a:r>
                        <a:rPr sz="1200" b="0" i="0">
                          <a:solidFill>
                            <a:srgbClr val="16222E"/>
                          </a:solidFill>
                          <a:latin typeface="Calibri"/>
                        </a:rPr>
                        <a:t>5.5×10⁻⁶</a:t>
                      </a:r>
                    </a:p>
                  </a:txBody>
                  <a:tcPr marL="54864" marR="54864" marT="18288" marB="18288" anchor="ctr">
                    <a:solidFill>
                      <a:srgbClr val="FFFFFF"/>
                    </a:solidFill>
                  </a:tcPr>
                </a:tc>
                <a:tc>
                  <a:txBody>
                    <a:bodyPr wrap="square"/>
                    <a:lstStyle/>
                    <a:p>
                      <a:pPr algn="ctr"/>
                      <a:r>
                        <a:rPr sz="1200" b="1" i="0">
                          <a:solidFill>
                            <a:srgbClr val="16222E"/>
                          </a:solidFill>
                          <a:latin typeface="Calibri"/>
                        </a:rPr>
                        <a:t>FAIL</a:t>
                      </a:r>
                    </a:p>
                  </a:txBody>
                  <a:tcPr marL="54864" marR="54864" marT="18288" marB="18288" anchor="ctr">
                    <a:solidFill>
                      <a:srgbClr val="FFFFFF"/>
                    </a:solidFill>
                  </a:tcPr>
                </a:tc>
              </a:tr>
              <a:tr h="310896">
                <a:tc>
                  <a:txBody>
                    <a:bodyPr wrap="square"/>
                    <a:lstStyle/>
                    <a:p>
                      <a:pPr algn="l"/>
                      <a:r>
                        <a:rPr sz="1200" b="0" i="0">
                          <a:solidFill>
                            <a:srgbClr val="16222E"/>
                          </a:solidFill>
                          <a:latin typeface="Calibri"/>
                        </a:rPr>
                        <a:t>Western, lagged one day (control)</a:t>
                      </a:r>
                    </a:p>
                  </a:txBody>
                  <a:tcPr marL="54864" marR="54864" marT="18288" marB="18288" anchor="ctr">
                    <a:solidFill>
                      <a:srgbClr val="FFFFFF"/>
                    </a:solidFill>
                  </a:tcPr>
                </a:tc>
                <a:tc>
                  <a:txBody>
                    <a:bodyPr wrap="square"/>
                    <a:lstStyle/>
                    <a:p>
                      <a:pPr algn="ctr"/>
                      <a:r>
                        <a:rPr sz="1200" b="0" i="0">
                          <a:solidFill>
                            <a:srgbClr val="16222E"/>
                          </a:solidFill>
                          <a:latin typeface="Calibri"/>
                        </a:rPr>
                        <a:t>31</a:t>
                      </a:r>
                    </a:p>
                  </a:txBody>
                  <a:tcPr marL="54864" marR="54864" marT="18288" marB="18288" anchor="ctr">
                    <a:solidFill>
                      <a:srgbClr val="FFFFFF"/>
                    </a:solidFill>
                  </a:tcPr>
                </a:tc>
                <a:tc>
                  <a:txBody>
                    <a:bodyPr wrap="square"/>
                    <a:lstStyle/>
                    <a:p>
                      <a:pPr algn="ctr"/>
                      <a:r>
                        <a:rPr sz="1200" b="0" i="0">
                          <a:solidFill>
                            <a:srgbClr val="16222E"/>
                          </a:solidFill>
                          <a:latin typeface="Calibri"/>
                        </a:rPr>
                        <a:t>2</a:t>
                      </a:r>
                    </a:p>
                  </a:txBody>
                  <a:tcPr marL="54864" marR="54864" marT="18288" marB="18288" anchor="ctr">
                    <a:solidFill>
                      <a:srgbClr val="FFFFFF"/>
                    </a:solidFill>
                  </a:tcPr>
                </a:tc>
                <a:tc>
                  <a:txBody>
                    <a:bodyPr wrap="square"/>
                    <a:lstStyle/>
                    <a:p>
                      <a:pPr algn="ctr"/>
                      <a:r>
                        <a:rPr sz="1200" b="0" i="0">
                          <a:solidFill>
                            <a:srgbClr val="16222E"/>
                          </a:solidFill>
                          <a:latin typeface="Calibri"/>
                        </a:rPr>
                        <a:t>1.6×10⁻⁴</a:t>
                      </a:r>
                    </a:p>
                  </a:txBody>
                  <a:tcPr marL="54864" marR="54864" marT="18288" marB="18288" anchor="ctr">
                    <a:solidFill>
                      <a:srgbClr val="FFFFFF"/>
                    </a:solidFill>
                  </a:tcPr>
                </a:tc>
                <a:tc>
                  <a:txBody>
                    <a:bodyPr wrap="square"/>
                    <a:lstStyle/>
                    <a:p>
                      <a:pPr algn="ctr"/>
                      <a:r>
                        <a:rPr sz="1200" b="1" i="0">
                          <a:solidFill>
                            <a:srgbClr val="16222E"/>
                          </a:solidFill>
                          <a:latin typeface="Calibri"/>
                        </a:rPr>
                        <a:t>detected</a:t>
                      </a:r>
                    </a:p>
                  </a:txBody>
                  <a:tcPr marL="54864" marR="54864" marT="18288" marB="18288" anchor="ctr">
                    <a:solidFill>
                      <a:srgbClr val="FFFFFF"/>
                    </a:solidFill>
                  </a:tcPr>
                </a:tc>
              </a:tr>
            </a:tbl>
          </a:graphicData>
        </a:graphic>
      </p:graphicFrame>
      <p:sp>
        <p:nvSpPr>
          <p:cNvPr id="7" name="TextBox 6"/>
          <p:cNvSpPr txBox="1"/>
          <p:nvPr/>
        </p:nvSpPr>
        <p:spPr>
          <a:xfrm>
            <a:off x="566928" y="3986784"/>
            <a:ext cx="11057839" cy="475488"/>
          </a:xfrm>
          <a:prstGeom prst="rect">
            <a:avLst/>
          </a:prstGeom>
          <a:noFill/>
        </p:spPr>
        <p:txBody>
          <a:bodyPr wrap="square" lIns="0" rIns="0" tIns="0" bIns="0">
            <a:spAutoFit/>
          </a:bodyPr>
          <a:lstStyle/>
          <a:p>
            <a:pPr>
              <a:lnSpc>
                <a:spcPct val="100000"/>
              </a:lnSpc>
            </a:pPr>
            <a:r>
              <a:rPr sz="900" b="0" i="1">
                <a:solidFill>
                  <a:srgbClr val="5A6B7A"/>
                </a:solidFill>
                <a:latin typeface="Calibri"/>
              </a:rPr>
              <a:t>Notes: Joint </a:t>
            </a:r>
            <a:r>
              <a:rPr sz="900" b="0" i="1">
                <a:solidFill>
                  <a:srgbClr val="5A6B7A"/>
                </a:solidFill>
                <a:latin typeface="Calibri"/>
              </a:rPr>
              <a:t>F</a:t>
            </a:r>
            <a:r>
              <a:rPr sz="900" b="0" i="1">
                <a:solidFill>
                  <a:srgbClr val="5A6B7A"/>
                </a:solidFill>
                <a:latin typeface="Calibri"/>
              </a:rPr>
              <a:t>-tests on one block, with the other block and the controls already in the regression. Benjamini–Hochberg at 5% FDR across all 31 cells of an arm.</a:t>
            </a:r>
          </a:p>
        </p:txBody>
      </p:sp>
      <p:sp>
        <p:nvSpPr>
          <p:cNvPr id="8" name="TextBox 7"/>
          <p:cNvSpPr txBox="1"/>
          <p:nvPr/>
        </p:nvSpPr>
        <p:spPr>
          <a:xfrm>
            <a:off x="566928" y="4535424"/>
            <a:ext cx="11057839" cy="1865376"/>
          </a:xfrm>
          <a:prstGeom prst="rect">
            <a:avLst/>
          </a:prstGeom>
          <a:noFill/>
        </p:spPr>
        <p:txBody>
          <a:bodyPr wrap="square" lIns="0" rIns="0" tIns="0" bIns="0">
            <a:spAutoFit/>
          </a:bodyPr>
          <a:lstStyle/>
          <a:p>
            <a:pPr>
              <a:lnSpc>
                <a:spcPct val="108000"/>
              </a:lnSpc>
              <a:spcAft>
                <a:spcPts val="744"/>
              </a:spcAft>
            </a:pPr>
            <a:r>
              <a:rPr sz="1200" b="0" i="0">
                <a:solidFill>
                  <a:srgbClr val="1F6FB2"/>
                </a:solidFill>
                <a:latin typeface="Calibri"/>
              </a:rPr>
              <a:t>▪  </a:t>
            </a:r>
            <a:r>
              <a:rPr sz="1200" b="1" i="0">
                <a:solidFill>
                  <a:srgbClr val="16222E"/>
                </a:solidFill>
                <a:latin typeface="Calibri"/>
              </a:rPr>
              <a:t>The timing contrast is the sensitivity evidence.</a:t>
            </a:r>
            <a:r>
              <a:rPr sz="1200" b="0" i="0">
                <a:solidFill>
                  <a:srgbClr val="16222E"/>
                </a:solidFill>
                <a:latin typeface="Calibri"/>
              </a:rPr>
              <a:t> Local coverage is detected in </a:t>
            </a:r>
            <a:r>
              <a:rPr sz="1200" b="1" i="0">
                <a:solidFill>
                  <a:srgbClr val="16222E"/>
                </a:solidFill>
                <a:latin typeface="Calibri"/>
              </a:rPr>
              <a:t>7 of 31</a:t>
            </a:r>
            <a:r>
              <a:rPr sz="1200" b="0" i="0">
                <a:solidFill>
                  <a:srgbClr val="16222E"/>
                </a:solidFill>
                <a:latin typeface="Calibri"/>
              </a:rPr>
              <a:t> cells when credited to its publication day, and in </a:t>
            </a:r>
            <a:r>
              <a:rPr sz="1200" b="1" i="0">
                <a:solidFill>
                  <a:srgbClr val="16222E"/>
                </a:solidFill>
                <a:latin typeface="Calibri"/>
              </a:rPr>
              <a:t>1 of 31</a:t>
            </a:r>
            <a:r>
              <a:rPr sz="1200" b="0" i="0">
                <a:solidFill>
                  <a:srgbClr val="16222E"/>
                </a:solidFill>
                <a:latin typeface="Calibri"/>
              </a:rPr>
              <a:t> when lagged one trading day so that all of it precedes the open — and that one cell is the 2017–19 window on ITA at weekly frequency, years before the full-scale invasion.</a:t>
            </a:r>
          </a:p>
          <a:p>
            <a:pPr>
              <a:lnSpc>
                <a:spcPct val="108000"/>
              </a:lnSpc>
              <a:spcAft>
                <a:spcPts val="744"/>
              </a:spcAft>
            </a:pPr>
            <a:r>
              <a:rPr sz="1200" b="0" i="0">
                <a:solidFill>
                  <a:srgbClr val="1F6FB2"/>
                </a:solidFill>
                <a:latin typeface="Calibri"/>
              </a:rPr>
              <a:t>▪  </a:t>
            </a:r>
            <a:r>
              <a:rPr sz="1200" b="1" i="0">
                <a:solidFill>
                  <a:srgbClr val="16222E"/>
                </a:solidFill>
                <a:latin typeface="Calibri"/>
              </a:rPr>
              <a:t>Gate 3 fails both pre-registered arms.</a:t>
            </a:r>
            <a:r>
              <a:rPr sz="1200" b="0" i="0">
                <a:solidFill>
                  <a:srgbClr val="16222E"/>
                </a:solidFill>
                <a:latin typeface="Calibri"/>
              </a:rPr>
              <a:t> The build-up window produces no survivor (smallest </a:t>
            </a:r>
            <a:r>
              <a:rPr sz="1200" b="0" i="0">
                <a:solidFill>
                  <a:srgbClr val="16222E"/>
                </a:solidFill>
                <a:latin typeface="Calibri"/>
              </a:rPr>
              <a:t>p</a:t>
            </a:r>
            <a:r>
              <a:rPr sz="1200" b="0" i="0">
                <a:solidFill>
                  <a:srgbClr val="16222E"/>
                </a:solidFill>
                <a:latin typeface="Calibri"/>
              </a:rPr>
              <a:t> 0.018), and the two that do survive share a window where the rule required two. Both are weekly cells fitting 13 parameters to 58 observations, while the grid's two deepest cells — 2,754 observations — return </a:t>
            </a:r>
            <a:r>
              <a:rPr sz="1200" b="0" i="0">
                <a:solidFill>
                  <a:srgbClr val="16222E"/>
                </a:solidFill>
                <a:latin typeface="Calibri"/>
              </a:rPr>
              <a:t>p = 0.08</a:t>
            </a:r>
            <a:r>
              <a:rPr sz="1200" b="0" i="0">
                <a:solidFill>
                  <a:srgbClr val="16222E"/>
                </a:solidFill>
                <a:latin typeface="Calibri"/>
              </a:rPr>
              <a:t> and 0.36.</a:t>
            </a:r>
          </a:p>
          <a:p>
            <a:pPr>
              <a:lnSpc>
                <a:spcPct val="108000"/>
              </a:lnSpc>
              <a:spcAft>
                <a:spcPts val="744"/>
              </a:spcAft>
            </a:pPr>
            <a:r>
              <a:rPr sz="1200" b="0" i="0">
                <a:solidFill>
                  <a:srgbClr val="1F6FB2"/>
                </a:solidFill>
                <a:latin typeface="Calibri"/>
              </a:rPr>
              <a:t>▪  </a:t>
            </a:r>
            <a:r>
              <a:rPr sz="1200" b="1" i="0">
                <a:solidFill>
                  <a:srgbClr val="16222E"/>
                </a:solidFill>
                <a:latin typeface="Calibri"/>
              </a:rPr>
              <a:t>The Western block is detected in the same 31 cells, under the same correction.</a:t>
            </a:r>
            <a:r>
              <a:rPr sz="1200" b="0" i="0">
                <a:solidFill>
                  <a:srgbClr val="16222E"/>
                </a:solidFill>
                <a:latin typeface="Calibri"/>
              </a:rPr>
              <a:t> That asymmetry is what the test was built to isolate.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RESULTS</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Gates 4 and 5: gas and escalation</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13 / 18</a:t>
            </a:r>
          </a:p>
        </p:txBody>
      </p:sp>
      <p:graphicFrame>
        <p:nvGraphicFramePr>
          <p:cNvPr id="6" name="Table 5"/>
          <p:cNvGraphicFramePr>
            <a:graphicFrameLocks noGrp="1"/>
          </p:cNvGraphicFramePr>
          <p:nvPr/>
        </p:nvGraphicFramePr>
        <p:xfrm>
          <a:off x="566928" y="1426464"/>
          <a:ext cx="11057837" cy="2798064"/>
        </p:xfrm>
        <a:graphic>
          <a:graphicData uri="http://schemas.openxmlformats.org/drawingml/2006/table">
            <a:tbl>
              <a:tblPr>
                <a:tableStyleId>{5C22544A-7EE6-4342-B048-85BDC9FD1C3A}</a:tableStyleId>
              </a:tblPr>
              <a:tblGrid>
                <a:gridCol w="4678316"/>
                <a:gridCol w="2126507"/>
                <a:gridCol w="2126507"/>
                <a:gridCol w="2126507"/>
              </a:tblGrid>
              <a:tr h="310896">
                <a:tc>
                  <a:txBody>
                    <a:bodyPr wrap="square"/>
                    <a:lstStyle/>
                    <a:p>
                      <a:pPr algn="l"/>
                      <a:r>
                        <a:rPr sz="1000" b="1" i="0">
                          <a:solidFill>
                            <a:srgbClr val="1F6FB2"/>
                          </a:solidFill>
                          <a:latin typeface="Calibri"/>
                        </a:rPr>
                        <a:t>Gate and window</a:t>
                      </a:r>
                    </a:p>
                  </a:txBody>
                  <a:tcPr marL="54864" marR="54864" marT="18288" marB="18288" anchor="ctr">
                    <a:solidFill>
                      <a:srgbClr val="F2F6F9"/>
                    </a:solidFill>
                  </a:tcPr>
                </a:tc>
                <a:tc>
                  <a:txBody>
                    <a:bodyPr wrap="square"/>
                    <a:lstStyle/>
                    <a:p>
                      <a:pPr algn="ctr"/>
                      <a:r>
                        <a:rPr sz="1000" b="1" i="0">
                          <a:solidFill>
                            <a:srgbClr val="1F6FB2"/>
                          </a:solidFill>
                          <a:latin typeface="Calibri"/>
                        </a:rPr>
                        <a:t>n</a:t>
                      </a:r>
                    </a:p>
                  </a:txBody>
                  <a:tcPr marL="54864" marR="54864" marT="18288" marB="18288" anchor="ctr">
                    <a:solidFill>
                      <a:srgbClr val="F2F6F9"/>
                    </a:solidFill>
                  </a:tcPr>
                </a:tc>
                <a:tc>
                  <a:txBody>
                    <a:bodyPr wrap="square"/>
                    <a:lstStyle/>
                    <a:p>
                      <a:pPr algn="ctr"/>
                      <a:r>
                        <a:rPr sz="1000" b="1" i="0">
                          <a:solidFill>
                            <a:srgbClr val="1F6FB2"/>
                          </a:solidFill>
                          <a:latin typeface="Calibri"/>
                        </a:rPr>
                        <a:t>p</a:t>
                      </a:r>
                      <a:r>
                        <a:rPr sz="1000" b="1" i="0">
                          <a:solidFill>
                            <a:srgbClr val="1F6FB2"/>
                          </a:solidFill>
                          <a:latin typeface="Calibri"/>
                        </a:rPr>
                        <a:t> (local)</a:t>
                      </a:r>
                    </a:p>
                  </a:txBody>
                  <a:tcPr marL="54864" marR="54864" marT="18288" marB="18288" anchor="ctr">
                    <a:solidFill>
                      <a:srgbClr val="F2F6F9"/>
                    </a:solidFill>
                  </a:tcPr>
                </a:tc>
                <a:tc>
                  <a:txBody>
                    <a:bodyPr wrap="square"/>
                    <a:lstStyle/>
                    <a:p>
                      <a:pPr algn="ctr"/>
                      <a:r>
                        <a:rPr sz="1000" b="1" i="0">
                          <a:solidFill>
                            <a:srgbClr val="1F6FB2"/>
                          </a:solidFill>
                          <a:latin typeface="Calibri"/>
                        </a:rPr>
                        <a:t>p</a:t>
                      </a:r>
                      <a:r>
                        <a:rPr sz="1000" b="1" i="0">
                          <a:solidFill>
                            <a:srgbClr val="1F6FB2"/>
                          </a:solidFill>
                          <a:latin typeface="Calibri"/>
                        </a:rPr>
                        <a:t> (Western)</a:t>
                      </a:r>
                    </a:p>
                  </a:txBody>
                  <a:tcPr marL="54864" marR="54864" marT="18288" marB="18288" anchor="ctr">
                    <a:solidFill>
                      <a:srgbClr val="F2F6F9"/>
                    </a:solidFill>
                  </a:tcPr>
                </a:tc>
              </a:tr>
              <a:tr h="310896">
                <a:tc gridSpan="4">
                  <a:txBody>
                    <a:bodyPr wrap="square"/>
                    <a:lstStyle/>
                    <a:p>
                      <a:pPr algn="l"/>
                      <a:r>
                        <a:rPr sz="1000" b="0" i="1">
                          <a:solidFill>
                            <a:srgbClr val="5A6B7A"/>
                          </a:solidFill>
                          <a:latin typeface="Calibri"/>
                        </a:rPr>
                        <a:t>Gate 4 — Dutch TTF natural gas returns</a:t>
                      </a:r>
                    </a:p>
                  </a:txBody>
                  <a:tcPr marL="54864" marR="54864" marT="18288" marB="18288" anchor="ctr">
                    <a:solidFill>
                      <a:srgbClr val="F2F6F9"/>
                    </a:solidFill>
                  </a:tcPr>
                </a:tc>
                <a:tc hMerge="1">
                  <a:txBody>
                    <a:bodyPr/>
                    <a:lstStyle/>
                    <a:p/>
                  </a:txBody>
                  <a:tcPr/>
                </a:tc>
                <a:tc hMerge="1">
                  <a:txBody>
                    <a:bodyPr/>
                    <a:lstStyle/>
                    <a:p/>
                  </a:txBody>
                  <a:tcPr/>
                </a:tc>
                <a:tc hMerge="1">
                  <a:txBody>
                    <a:bodyPr/>
                    <a:lstStyle/>
                    <a:p/>
                  </a:txBody>
                  <a:tcPr/>
                </a:tc>
              </a:tr>
              <a:tr h="310896">
                <a:tc>
                  <a:txBody>
                    <a:bodyPr wrap="square"/>
                    <a:lstStyle/>
                    <a:p>
                      <a:pPr algn="l"/>
                      <a:r>
                        <a:rPr sz="1000" b="0" i="0">
                          <a:solidFill>
                            <a:srgbClr val="16222E"/>
                          </a:solidFill>
                          <a:latin typeface="Calibri"/>
                        </a:rPr>
                        <a:t>(a) Build-up and invasion, daily</a:t>
                      </a:r>
                    </a:p>
                  </a:txBody>
                  <a:tcPr marL="54864" marR="54864" marT="18288" marB="18288" anchor="ctr">
                    <a:solidFill>
                      <a:srgbClr val="FFFFFF"/>
                    </a:solidFill>
                  </a:tcPr>
                </a:tc>
                <a:tc>
                  <a:txBody>
                    <a:bodyPr wrap="square"/>
                    <a:lstStyle/>
                    <a:p>
                      <a:pPr algn="ctr"/>
                      <a:r>
                        <a:rPr sz="1000" b="0" i="0">
                          <a:solidFill>
                            <a:srgbClr val="16222E"/>
                          </a:solidFill>
                          <a:latin typeface="Calibri"/>
                        </a:rPr>
                        <a:t>222</a:t>
                      </a:r>
                    </a:p>
                  </a:txBody>
                  <a:tcPr marL="54864" marR="54864" marT="18288" marB="18288" anchor="ctr">
                    <a:solidFill>
                      <a:srgbClr val="FFFFFF"/>
                    </a:solidFill>
                  </a:tcPr>
                </a:tc>
                <a:tc>
                  <a:txBody>
                    <a:bodyPr wrap="square"/>
                    <a:lstStyle/>
                    <a:p>
                      <a:pPr algn="ctr"/>
                      <a:r>
                        <a:rPr sz="1000" b="0" i="0">
                          <a:solidFill>
                            <a:srgbClr val="16222E"/>
                          </a:solidFill>
                          <a:latin typeface="Calibri"/>
                        </a:rPr>
                        <a:t>0.399</a:t>
                      </a:r>
                    </a:p>
                  </a:txBody>
                  <a:tcPr marL="54864" marR="54864" marT="18288" marB="18288" anchor="ctr">
                    <a:solidFill>
                      <a:srgbClr val="FFFFFF"/>
                    </a:solidFill>
                  </a:tcPr>
                </a:tc>
                <a:tc>
                  <a:txBody>
                    <a:bodyPr wrap="square"/>
                    <a:lstStyle/>
                    <a:p>
                      <a:pPr algn="ctr"/>
                      <a:r>
                        <a:rPr sz="1000" b="1" i="0">
                          <a:solidFill>
                            <a:srgbClr val="16222E"/>
                          </a:solidFill>
                          <a:latin typeface="Calibri"/>
                        </a:rPr>
                        <a:t>0.00004</a:t>
                      </a:r>
                    </a:p>
                  </a:txBody>
                  <a:tcPr marL="54864" marR="54864" marT="18288" marB="18288" anchor="ctr">
                    <a:solidFill>
                      <a:srgbClr val="FFFFFF"/>
                    </a:solidFill>
                  </a:tcPr>
                </a:tc>
              </a:tr>
              <a:tr h="310896">
                <a:tc>
                  <a:txBody>
                    <a:bodyPr wrap="square"/>
                    <a:lstStyle/>
                    <a:p>
                      <a:pPr algn="l"/>
                      <a:r>
                        <a:rPr sz="1000" b="0" i="0">
                          <a:solidFill>
                            <a:srgbClr val="16222E"/>
                          </a:solidFill>
                          <a:latin typeface="Calibri"/>
                        </a:rPr>
                        <a:t>(b) Shutdown and aftermath, daily</a:t>
                      </a:r>
                    </a:p>
                  </a:txBody>
                  <a:tcPr marL="54864" marR="54864" marT="18288" marB="18288" anchor="ctr">
                    <a:solidFill>
                      <a:srgbClr val="FFFFFF"/>
                    </a:solidFill>
                  </a:tcPr>
                </a:tc>
                <a:tc>
                  <a:txBody>
                    <a:bodyPr wrap="square"/>
                    <a:lstStyle/>
                    <a:p>
                      <a:pPr algn="ctr"/>
                      <a:r>
                        <a:rPr sz="1000" b="0" i="0">
                          <a:solidFill>
                            <a:srgbClr val="16222E"/>
                          </a:solidFill>
                          <a:latin typeface="Calibri"/>
                        </a:rPr>
                        <a:t>231</a:t>
                      </a:r>
                    </a:p>
                  </a:txBody>
                  <a:tcPr marL="54864" marR="54864" marT="18288" marB="18288" anchor="ctr">
                    <a:solidFill>
                      <a:srgbClr val="FFFFFF"/>
                    </a:solidFill>
                  </a:tcPr>
                </a:tc>
                <a:tc>
                  <a:txBody>
                    <a:bodyPr wrap="square"/>
                    <a:lstStyle/>
                    <a:p>
                      <a:pPr algn="ctr"/>
                      <a:r>
                        <a:rPr sz="1000" b="0" i="0">
                          <a:solidFill>
                            <a:srgbClr val="16222E"/>
                          </a:solidFill>
                          <a:latin typeface="Calibri"/>
                        </a:rPr>
                        <a:t>0.533</a:t>
                      </a:r>
                    </a:p>
                  </a:txBody>
                  <a:tcPr marL="54864" marR="54864" marT="18288" marB="18288" anchor="ctr">
                    <a:solidFill>
                      <a:srgbClr val="FFFFFF"/>
                    </a:solidFill>
                  </a:tcPr>
                </a:tc>
                <a:tc>
                  <a:txBody>
                    <a:bodyPr wrap="square"/>
                    <a:lstStyle/>
                    <a:p>
                      <a:pPr algn="ctr"/>
                      <a:r>
                        <a:rPr sz="1000" b="0" i="0">
                          <a:solidFill>
                            <a:srgbClr val="16222E"/>
                          </a:solidFill>
                          <a:latin typeface="Calibri"/>
                        </a:rPr>
                        <a:t>0.193</a:t>
                      </a:r>
                    </a:p>
                  </a:txBody>
                  <a:tcPr marL="54864" marR="54864" marT="18288" marB="18288" anchor="ctr">
                    <a:solidFill>
                      <a:srgbClr val="FFFFFF"/>
                    </a:solidFill>
                  </a:tcPr>
                </a:tc>
              </a:tr>
              <a:tr h="310896">
                <a:tc>
                  <a:txBody>
                    <a:bodyPr wrap="square"/>
                    <a:lstStyle/>
                    <a:p>
                      <a:pPr algn="l"/>
                      <a:r>
                        <a:rPr sz="1000" b="0" i="0">
                          <a:solidFill>
                            <a:srgbClr val="16222E"/>
                          </a:solidFill>
                          <a:latin typeface="Calibri"/>
                        </a:rPr>
                        <a:t>(c) Full crisis, daily</a:t>
                      </a:r>
                    </a:p>
                  </a:txBody>
                  <a:tcPr marL="54864" marR="54864" marT="18288" marB="18288" anchor="ctr">
                    <a:solidFill>
                      <a:srgbClr val="FFFFFF"/>
                    </a:solidFill>
                  </a:tcPr>
                </a:tc>
                <a:tc>
                  <a:txBody>
                    <a:bodyPr wrap="square"/>
                    <a:lstStyle/>
                    <a:p>
                      <a:pPr algn="ctr"/>
                      <a:r>
                        <a:rPr sz="1000" b="0" i="0">
                          <a:solidFill>
                            <a:srgbClr val="16222E"/>
                          </a:solidFill>
                          <a:latin typeface="Calibri"/>
                        </a:rPr>
                        <a:t>563</a:t>
                      </a:r>
                    </a:p>
                  </a:txBody>
                  <a:tcPr marL="54864" marR="54864" marT="18288" marB="18288" anchor="ctr">
                    <a:solidFill>
                      <a:srgbClr val="FFFFFF"/>
                    </a:solidFill>
                  </a:tcPr>
                </a:tc>
                <a:tc>
                  <a:txBody>
                    <a:bodyPr wrap="square"/>
                    <a:lstStyle/>
                    <a:p>
                      <a:pPr algn="ctr"/>
                      <a:r>
                        <a:rPr sz="1000" b="0" i="0">
                          <a:solidFill>
                            <a:srgbClr val="16222E"/>
                          </a:solidFill>
                          <a:latin typeface="Calibri"/>
                        </a:rPr>
                        <a:t>0.250</a:t>
                      </a:r>
                    </a:p>
                  </a:txBody>
                  <a:tcPr marL="54864" marR="54864" marT="18288" marB="18288" anchor="ctr">
                    <a:solidFill>
                      <a:srgbClr val="FFFFFF"/>
                    </a:solidFill>
                  </a:tcPr>
                </a:tc>
                <a:tc>
                  <a:txBody>
                    <a:bodyPr wrap="square"/>
                    <a:lstStyle/>
                    <a:p>
                      <a:pPr algn="ctr"/>
                      <a:r>
                        <a:rPr sz="1000" b="0" i="0">
                          <a:solidFill>
                            <a:srgbClr val="16222E"/>
                          </a:solidFill>
                          <a:latin typeface="Calibri"/>
                        </a:rPr>
                        <a:t>0.066</a:t>
                      </a:r>
                    </a:p>
                  </a:txBody>
                  <a:tcPr marL="54864" marR="54864" marT="18288" marB="18288" anchor="ctr">
                    <a:solidFill>
                      <a:srgbClr val="FFFFFF"/>
                    </a:solidFill>
                  </a:tcPr>
                </a:tc>
              </a:tr>
              <a:tr h="310896">
                <a:tc>
                  <a:txBody>
                    <a:bodyPr wrap="square"/>
                    <a:lstStyle/>
                    <a:p>
                      <a:pPr algn="l"/>
                      <a:r>
                        <a:rPr sz="1000" b="0" i="0">
                          <a:solidFill>
                            <a:srgbClr val="16222E"/>
                          </a:solidFill>
                          <a:latin typeface="Calibri"/>
                        </a:rPr>
                        <a:t>(c) Full crisis, weekly</a:t>
                      </a:r>
                    </a:p>
                  </a:txBody>
                  <a:tcPr marL="54864" marR="54864" marT="18288" marB="18288" anchor="ctr">
                    <a:solidFill>
                      <a:srgbClr val="FFFFFF"/>
                    </a:solidFill>
                  </a:tcPr>
                </a:tc>
                <a:tc>
                  <a:txBody>
                    <a:bodyPr wrap="square"/>
                    <a:lstStyle/>
                    <a:p>
                      <a:pPr algn="ctr"/>
                      <a:r>
                        <a:rPr sz="1000" b="0" i="0">
                          <a:solidFill>
                            <a:srgbClr val="16222E"/>
                          </a:solidFill>
                          <a:latin typeface="Calibri"/>
                        </a:rPr>
                        <a:t>133</a:t>
                      </a:r>
                    </a:p>
                  </a:txBody>
                  <a:tcPr marL="54864" marR="54864" marT="18288" marB="18288" anchor="ctr">
                    <a:solidFill>
                      <a:srgbClr val="FFFFFF"/>
                    </a:solidFill>
                  </a:tcPr>
                </a:tc>
                <a:tc>
                  <a:txBody>
                    <a:bodyPr wrap="square"/>
                    <a:lstStyle/>
                    <a:p>
                      <a:pPr algn="ctr"/>
                      <a:r>
                        <a:rPr sz="1000" b="0" i="0">
                          <a:solidFill>
                            <a:srgbClr val="16222E"/>
                          </a:solidFill>
                          <a:latin typeface="Calibri"/>
                        </a:rPr>
                        <a:t>0.907</a:t>
                      </a:r>
                    </a:p>
                  </a:txBody>
                  <a:tcPr marL="54864" marR="54864" marT="18288" marB="18288" anchor="ctr">
                    <a:solidFill>
                      <a:srgbClr val="FFFFFF"/>
                    </a:solidFill>
                  </a:tcPr>
                </a:tc>
                <a:tc>
                  <a:txBody>
                    <a:bodyPr wrap="square"/>
                    <a:lstStyle/>
                    <a:p>
                      <a:pPr algn="ctr"/>
                      <a:r>
                        <a:rPr sz="1000" b="0" i="0">
                          <a:solidFill>
                            <a:srgbClr val="16222E"/>
                          </a:solidFill>
                          <a:latin typeface="Calibri"/>
                        </a:rPr>
                        <a:t>0.052</a:t>
                      </a:r>
                    </a:p>
                  </a:txBody>
                  <a:tcPr marL="54864" marR="54864" marT="18288" marB="18288" anchor="ctr">
                    <a:solidFill>
                      <a:srgbClr val="FFFFFF"/>
                    </a:solidFill>
                  </a:tcPr>
                </a:tc>
              </a:tr>
              <a:tr h="310896">
                <a:tc gridSpan="4">
                  <a:txBody>
                    <a:bodyPr wrap="square"/>
                    <a:lstStyle/>
                    <a:p>
                      <a:pPr algn="l"/>
                      <a:r>
                        <a:rPr sz="1000" b="0" i="1">
                          <a:solidFill>
                            <a:srgbClr val="5A6B7A"/>
                          </a:solidFill>
                          <a:latin typeface="Calibri"/>
                        </a:rPr>
                        <a:t>Gate 5 — realised escalation, held-out sample</a:t>
                      </a:r>
                    </a:p>
                  </a:txBody>
                  <a:tcPr marL="54864" marR="54864" marT="18288" marB="18288" anchor="ctr">
                    <a:solidFill>
                      <a:srgbClr val="F2F6F9"/>
                    </a:solidFill>
                  </a:tcPr>
                </a:tc>
                <a:tc hMerge="1">
                  <a:txBody>
                    <a:bodyPr/>
                    <a:lstStyle/>
                    <a:p/>
                  </a:txBody>
                  <a:tcPr/>
                </a:tc>
                <a:tc hMerge="1">
                  <a:txBody>
                    <a:bodyPr/>
                    <a:lstStyle/>
                    <a:p/>
                  </a:txBody>
                  <a:tcPr/>
                </a:tc>
                <a:tc hMerge="1">
                  <a:txBody>
                    <a:bodyPr/>
                    <a:lstStyle/>
                    <a:p/>
                  </a:txBody>
                  <a:tcPr/>
                </a:tc>
              </a:tr>
              <a:tr h="310896">
                <a:tc>
                  <a:txBody>
                    <a:bodyPr wrap="square"/>
                    <a:lstStyle/>
                    <a:p>
                      <a:pPr algn="l"/>
                      <a:r>
                        <a:rPr sz="1000" b="0" i="0">
                          <a:solidFill>
                            <a:srgbClr val="16222E"/>
                          </a:solidFill>
                          <a:latin typeface="Calibri"/>
                        </a:rPr>
                        <a:t>Horizon </a:t>
                      </a:r>
                      <a:r>
                        <a:rPr sz="1000" b="0" i="0">
                          <a:solidFill>
                            <a:srgbClr val="16222E"/>
                          </a:solidFill>
                          <a:latin typeface="Calibri"/>
                        </a:rPr>
                        <a:t>h = 1</a:t>
                      </a:r>
                      <a:r>
                        <a:rPr sz="1000" b="0" i="0">
                          <a:solidFill>
                            <a:srgbClr val="16222E"/>
                          </a:solidFill>
                          <a:latin typeface="Calibri"/>
                        </a:rPr>
                        <a:t> day</a:t>
                      </a:r>
                    </a:p>
                  </a:txBody>
                  <a:tcPr marL="54864" marR="54864" marT="18288" marB="18288" anchor="ctr">
                    <a:solidFill>
                      <a:srgbClr val="FFFFFF"/>
                    </a:solidFill>
                  </a:tcPr>
                </a:tc>
                <a:tc>
                  <a:txBody>
                    <a:bodyPr wrap="square"/>
                    <a:lstStyle/>
                    <a:p>
                      <a:pPr algn="ctr"/>
                      <a:r>
                        <a:rPr sz="1000" b="0" i="0">
                          <a:solidFill>
                            <a:srgbClr val="16222E"/>
                          </a:solidFill>
                          <a:latin typeface="Calibri"/>
                        </a:rPr>
                        <a:t>637</a:t>
                      </a:r>
                    </a:p>
                  </a:txBody>
                  <a:tcPr marL="54864" marR="54864" marT="18288" marB="18288" anchor="ctr">
                    <a:solidFill>
                      <a:srgbClr val="FFFFFF"/>
                    </a:solidFill>
                  </a:tcPr>
                </a:tc>
                <a:tc>
                  <a:txBody>
                    <a:bodyPr wrap="square"/>
                    <a:lstStyle/>
                    <a:p>
                      <a:pPr algn="ctr"/>
                      <a:r>
                        <a:rPr sz="1000" b="0" i="0">
                          <a:solidFill>
                            <a:srgbClr val="16222E"/>
                          </a:solidFill>
                          <a:latin typeface="Calibri"/>
                        </a:rPr>
                        <a:t>0.212</a:t>
                      </a:r>
                    </a:p>
                  </a:txBody>
                  <a:tcPr marL="54864" marR="54864" marT="18288" marB="18288" anchor="ctr">
                    <a:solidFill>
                      <a:srgbClr val="FFFFFF"/>
                    </a:solidFill>
                  </a:tcPr>
                </a:tc>
                <a:tc>
                  <a:txBody>
                    <a:bodyPr wrap="square"/>
                    <a:lstStyle/>
                    <a:p>
                      <a:pPr algn="ctr"/>
                      <a:r>
                        <a:rPr sz="1000" b="0" i="0">
                          <a:solidFill>
                            <a:srgbClr val="16222E"/>
                          </a:solidFill>
                          <a:latin typeface="Calibri"/>
                        </a:rPr>
                        <a:t>0.171</a:t>
                      </a:r>
                    </a:p>
                  </a:txBody>
                  <a:tcPr marL="54864" marR="54864" marT="18288" marB="18288" anchor="ctr">
                    <a:solidFill>
                      <a:srgbClr val="FFFFFF"/>
                    </a:solidFill>
                  </a:tcPr>
                </a:tc>
              </a:tr>
              <a:tr h="310896">
                <a:tc>
                  <a:txBody>
                    <a:bodyPr wrap="square"/>
                    <a:lstStyle/>
                    <a:p>
                      <a:pPr algn="l"/>
                      <a:r>
                        <a:rPr sz="1000" b="0" i="0">
                          <a:solidFill>
                            <a:srgbClr val="16222E"/>
                          </a:solidFill>
                          <a:latin typeface="Calibri"/>
                        </a:rPr>
                        <a:t>Horizon </a:t>
                      </a:r>
                      <a:r>
                        <a:rPr sz="1000" b="0" i="0">
                          <a:solidFill>
                            <a:srgbClr val="16222E"/>
                          </a:solidFill>
                          <a:latin typeface="Calibri"/>
                        </a:rPr>
                        <a:t>h = 5</a:t>
                      </a:r>
                      <a:r>
                        <a:rPr sz="1000" b="0" i="0">
                          <a:solidFill>
                            <a:srgbClr val="16222E"/>
                          </a:solidFill>
                          <a:latin typeface="Calibri"/>
                        </a:rPr>
                        <a:t> days</a:t>
                      </a:r>
                    </a:p>
                  </a:txBody>
                  <a:tcPr marL="54864" marR="54864" marT="18288" marB="18288" anchor="ctr">
                    <a:solidFill>
                      <a:srgbClr val="FFFFFF"/>
                    </a:solidFill>
                  </a:tcPr>
                </a:tc>
                <a:tc>
                  <a:txBody>
                    <a:bodyPr wrap="square"/>
                    <a:lstStyle/>
                    <a:p>
                      <a:pPr algn="ctr"/>
                      <a:r>
                        <a:rPr sz="1000" b="0" i="0">
                          <a:solidFill>
                            <a:srgbClr val="16222E"/>
                          </a:solidFill>
                          <a:latin typeface="Calibri"/>
                        </a:rPr>
                        <a:t>629</a:t>
                      </a:r>
                    </a:p>
                  </a:txBody>
                  <a:tcPr marL="54864" marR="54864" marT="18288" marB="18288" anchor="ctr">
                    <a:solidFill>
                      <a:srgbClr val="FFFFFF"/>
                    </a:solidFill>
                  </a:tcPr>
                </a:tc>
                <a:tc>
                  <a:txBody>
                    <a:bodyPr wrap="square"/>
                    <a:lstStyle/>
                    <a:p>
                      <a:pPr algn="ctr"/>
                      <a:r>
                        <a:rPr sz="1000" b="0" i="0">
                          <a:solidFill>
                            <a:srgbClr val="16222E"/>
                          </a:solidFill>
                          <a:latin typeface="Calibri"/>
                        </a:rPr>
                        <a:t>0.227</a:t>
                      </a:r>
                    </a:p>
                  </a:txBody>
                  <a:tcPr marL="54864" marR="54864" marT="18288" marB="18288" anchor="ctr">
                    <a:solidFill>
                      <a:srgbClr val="FFFFFF"/>
                    </a:solidFill>
                  </a:tcPr>
                </a:tc>
                <a:tc>
                  <a:txBody>
                    <a:bodyPr wrap="square"/>
                    <a:lstStyle/>
                    <a:p>
                      <a:pPr algn="ctr"/>
                      <a:r>
                        <a:rPr sz="1000" b="1" i="0">
                          <a:solidFill>
                            <a:srgbClr val="16222E"/>
                          </a:solidFill>
                          <a:latin typeface="Calibri"/>
                        </a:rPr>
                        <a:t>0.033</a:t>
                      </a:r>
                    </a:p>
                  </a:txBody>
                  <a:tcPr marL="54864" marR="54864" marT="18288" marB="18288" anchor="ctr">
                    <a:solidFill>
                      <a:srgbClr val="FFFFFF"/>
                    </a:solidFill>
                  </a:tcPr>
                </a:tc>
              </a:tr>
            </a:tbl>
          </a:graphicData>
        </a:graphic>
      </p:graphicFrame>
      <p:sp>
        <p:nvSpPr>
          <p:cNvPr id="7" name="TextBox 6"/>
          <p:cNvSpPr txBox="1"/>
          <p:nvPr/>
        </p:nvSpPr>
        <p:spPr>
          <a:xfrm>
            <a:off x="566928" y="4297680"/>
            <a:ext cx="11057839" cy="475488"/>
          </a:xfrm>
          <a:prstGeom prst="rect">
            <a:avLst/>
          </a:prstGeom>
          <a:noFill/>
        </p:spPr>
        <p:txBody>
          <a:bodyPr wrap="square" lIns="0" rIns="0" tIns="0" bIns="0">
            <a:spAutoFit/>
          </a:bodyPr>
          <a:lstStyle/>
          <a:p>
            <a:pPr>
              <a:lnSpc>
                <a:spcPct val="100000"/>
              </a:lnSpc>
            </a:pPr>
            <a:r>
              <a:rPr sz="900" b="0" i="1">
                <a:solidFill>
                  <a:srgbClr val="5A6B7A"/>
                </a:solidFill>
                <a:latin typeface="Calibri"/>
              </a:rPr>
              <a:t>Notes: Both gates were pre-registered before their data were ingested. All four Gate 4 cells estimated are reported.</a:t>
            </a:r>
          </a:p>
        </p:txBody>
      </p:sp>
      <p:sp>
        <p:nvSpPr>
          <p:cNvPr id="8" name="TextBox 7"/>
          <p:cNvSpPr txBox="1"/>
          <p:nvPr/>
        </p:nvSpPr>
        <p:spPr>
          <a:xfrm>
            <a:off x="566928" y="4846320"/>
            <a:ext cx="11057839" cy="1554480"/>
          </a:xfrm>
          <a:prstGeom prst="rect">
            <a:avLst/>
          </a:prstGeom>
          <a:noFill/>
        </p:spPr>
        <p:txBody>
          <a:bodyPr wrap="square" lIns="0" rIns="0" tIns="0" bIns="0">
            <a:spAutoFit/>
          </a:bodyPr>
          <a:lstStyle/>
          <a:p>
            <a:pPr>
              <a:lnSpc>
                <a:spcPct val="108000"/>
              </a:lnSpc>
              <a:spcAft>
                <a:spcPts val="744"/>
              </a:spcAft>
            </a:pPr>
            <a:r>
              <a:rPr sz="1200" b="0" i="0">
                <a:solidFill>
                  <a:srgbClr val="1F6FB2"/>
                </a:solidFill>
                <a:latin typeface="Calibri"/>
              </a:rPr>
              <a:t>▪  </a:t>
            </a:r>
            <a:r>
              <a:rPr sz="1200" b="0" i="0">
                <a:solidFill>
                  <a:srgbClr val="16222E"/>
                </a:solidFill>
                <a:latin typeface="Calibri"/>
              </a:rPr>
              <a:t>These answer the fair objection that </a:t>
            </a:r>
            <a:r>
              <a:rPr sz="1200" b="1" i="0">
                <a:solidFill>
                  <a:srgbClr val="16222E"/>
                </a:solidFill>
                <a:latin typeface="Calibri"/>
              </a:rPr>
              <a:t>defence equities are a weak testbed</a:t>
            </a:r>
            <a:r>
              <a:rPr sz="1200" b="0" i="0">
                <a:solidFill>
                  <a:srgbClr val="16222E"/>
                </a:solidFill>
                <a:latin typeface="Calibri"/>
              </a:rPr>
              <a:t> — the link from a Russian newspaper to a US contractor's share price runs entirely through Western investors.</a:t>
            </a:r>
          </a:p>
          <a:p>
            <a:pPr>
              <a:lnSpc>
                <a:spcPct val="108000"/>
              </a:lnSpc>
              <a:spcAft>
                <a:spcPts val="744"/>
              </a:spcAft>
            </a:pPr>
            <a:r>
              <a:rPr sz="1200" b="0" i="0">
                <a:solidFill>
                  <a:srgbClr val="1F6FB2"/>
                </a:solidFill>
                <a:latin typeface="Calibri"/>
              </a:rPr>
              <a:t>▪  </a:t>
            </a:r>
            <a:r>
              <a:rPr sz="1200" b="1" i="0">
                <a:solidFill>
                  <a:srgbClr val="16222E"/>
                </a:solidFill>
                <a:latin typeface="Calibri"/>
              </a:rPr>
              <a:t>Gas has a direct physical channel:</a:t>
            </a:r>
            <a:r>
              <a:rPr sz="1200" b="0" i="0">
                <a:solidFill>
                  <a:srgbClr val="16222E"/>
                </a:solidFill>
                <a:latin typeface="Calibri"/>
              </a:rPr>
              <a:t> Russia supplied roughly 40% of EU gas, and TTF went from about 20 euro to over 300. Yet </a:t>
            </a:r>
            <a:r>
              <a:rPr sz="1200" b="1" i="0">
                <a:solidFill>
                  <a:srgbClr val="16222E"/>
                </a:solidFill>
                <a:latin typeface="Calibri"/>
              </a:rPr>
              <a:t>all four pre-registered conditions fail</a:t>
            </a:r>
            <a:r>
              <a:rPr sz="1200" b="0" i="0">
                <a:solidFill>
                  <a:srgbClr val="16222E"/>
                </a:solidFill>
                <a:latin typeface="Calibri"/>
              </a:rPr>
              <a:t> — no surviving cell; the Brent placebo breached at </a:t>
            </a:r>
            <a:r>
              <a:rPr sz="1200" b="0" i="0">
                <a:solidFill>
                  <a:srgbClr val="16222E"/>
                </a:solidFill>
                <a:latin typeface="Calibri"/>
              </a:rPr>
              <a:t>p = 0.0014</a:t>
            </a:r>
            <a:r>
              <a:rPr sz="1200" b="0" i="0">
                <a:solidFill>
                  <a:srgbClr val="16222E"/>
                </a:solidFill>
                <a:latin typeface="Calibri"/>
              </a:rPr>
              <a:t>; 0.399 becoming 0.840 without the ten largest TTF moves; and the ordering inverted. </a:t>
            </a:r>
            <a:r>
              <a:rPr sz="1200" b="1" i="0">
                <a:solidFill>
                  <a:srgbClr val="16222E"/>
                </a:solidFill>
                <a:latin typeface="Calibri"/>
              </a:rPr>
              <a:t>Western detected at </a:t>
            </a:r>
            <a:r>
              <a:rPr sz="1200" b="1" i="0">
                <a:solidFill>
                  <a:srgbClr val="16222E"/>
                </a:solidFill>
                <a:latin typeface="Calibri"/>
              </a:rPr>
              <a:t>p = 4×10⁻⁵</a:t>
            </a:r>
            <a:r>
              <a:rPr sz="1200" b="1" i="0">
                <a:solidFill>
                  <a:srgbClr val="16222E"/>
                </a:solidFill>
                <a:latin typeface="Calibri"/>
              </a:rPr>
              <a:t>.</a:t>
            </a:r>
          </a:p>
          <a:p>
            <a:pPr>
              <a:lnSpc>
                <a:spcPct val="108000"/>
              </a:lnSpc>
              <a:spcAft>
                <a:spcPts val="744"/>
              </a:spcAft>
            </a:pPr>
            <a:r>
              <a:rPr sz="1200" b="0" i="0">
                <a:solidFill>
                  <a:srgbClr val="1F6FB2"/>
                </a:solidFill>
                <a:latin typeface="Calibri"/>
              </a:rPr>
              <a:t>▪  </a:t>
            </a:r>
            <a:r>
              <a:rPr sz="1200" b="1" i="0">
                <a:solidFill>
                  <a:srgbClr val="16222E"/>
                </a:solidFill>
                <a:latin typeface="Calibri"/>
              </a:rPr>
              <a:t>Escalation removes prices entirely.</a:t>
            </a:r>
            <a:r>
              <a:rPr sz="1200" b="0" i="0">
                <a:solidFill>
                  <a:srgbClr val="16222E"/>
                </a:solidFill>
                <a:latin typeface="Calibri"/>
              </a:rPr>
              <a:t> On 637 held-out days local media do not lead realised conflict. The weakest of the four gates: its own Western control is significant at five days, not at 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RESULTS</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Out of sample — and what a null can bear</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14 / 18</a:t>
            </a:r>
          </a:p>
        </p:txBody>
      </p:sp>
      <p:graphicFrame>
        <p:nvGraphicFramePr>
          <p:cNvPr id="6" name="Table 5"/>
          <p:cNvGraphicFramePr>
            <a:graphicFrameLocks noGrp="1"/>
          </p:cNvGraphicFramePr>
          <p:nvPr/>
        </p:nvGraphicFramePr>
        <p:xfrm>
          <a:off x="566928" y="1426464"/>
          <a:ext cx="11057837" cy="1865376"/>
        </p:xfrm>
        <a:graphic>
          <a:graphicData uri="http://schemas.openxmlformats.org/drawingml/2006/table">
            <a:tbl>
              <a:tblPr>
                <a:tableStyleId>{5C22544A-7EE6-4342-B048-85BDC9FD1C3A}</a:tableStyleId>
              </a:tblPr>
              <a:tblGrid>
                <a:gridCol w="5792201"/>
                <a:gridCol w="2632818"/>
                <a:gridCol w="2632818"/>
              </a:tblGrid>
              <a:tr h="310896">
                <a:tc>
                  <a:txBody>
                    <a:bodyPr wrap="square"/>
                    <a:lstStyle/>
                    <a:p>
                      <a:pPr algn="l"/>
                      <a:r>
                        <a:rPr sz="1200" b="1" i="0">
                          <a:solidFill>
                            <a:srgbClr val="1F6FB2"/>
                          </a:solidFill>
                          <a:latin typeface="Calibri"/>
                        </a:rPr>
                        <a:t>True </a:t>
                      </a:r>
                      <a:r>
                        <a:rPr sz="1200" b="1" i="0">
                          <a:solidFill>
                            <a:srgbClr val="1F6FB2"/>
                          </a:solidFill>
                          <a:latin typeface="Calibri"/>
                        </a:rPr>
                        <a:t>R²_OS</a:t>
                      </a:r>
                      <a:r>
                        <a:rPr sz="1200" b="1" i="0">
                          <a:solidFill>
                            <a:srgbClr val="1F6FB2"/>
                          </a:solidFill>
                          <a:latin typeface="Calibri"/>
                        </a:rPr>
                        <a:t> implanted</a:t>
                      </a:r>
                    </a:p>
                  </a:txBody>
                  <a:tcPr marL="54864" marR="54864" marT="18288" marB="18288" anchor="ctr">
                    <a:solidFill>
                      <a:srgbClr val="F2F6F9"/>
                    </a:solidFill>
                  </a:tcPr>
                </a:tc>
                <a:tc>
                  <a:txBody>
                    <a:bodyPr wrap="square"/>
                    <a:lstStyle/>
                    <a:p>
                      <a:pPr algn="ctr"/>
                      <a:r>
                        <a:rPr sz="1200" b="1" i="0">
                          <a:solidFill>
                            <a:srgbClr val="1F6FB2"/>
                          </a:solidFill>
                          <a:latin typeface="Calibri"/>
                        </a:rPr>
                        <a:t>Long sample (1,855 days, 3 targets)</a:t>
                      </a:r>
                    </a:p>
                  </a:txBody>
                  <a:tcPr marL="54864" marR="54864" marT="18288" marB="18288" anchor="ctr">
                    <a:solidFill>
                      <a:srgbClr val="F2F6F9"/>
                    </a:solidFill>
                  </a:tcPr>
                </a:tc>
                <a:tc>
                  <a:txBody>
                    <a:bodyPr wrap="square"/>
                    <a:lstStyle/>
                    <a:p>
                      <a:pPr algn="ctr"/>
                      <a:r>
                        <a:rPr sz="1200" b="1" i="0">
                          <a:solidFill>
                            <a:srgbClr val="1F6FB2"/>
                          </a:solidFill>
                          <a:latin typeface="Calibri"/>
                        </a:rPr>
                        <a:t>Bloomberg (686 days, 2 targets)</a:t>
                      </a:r>
                    </a:p>
                  </a:txBody>
                  <a:tcPr marL="54864" marR="54864" marT="18288" marB="18288" anchor="ctr">
                    <a:solidFill>
                      <a:srgbClr val="F2F6F9"/>
                    </a:solidFill>
                  </a:tcPr>
                </a:tc>
              </a:tr>
              <a:tr h="310896">
                <a:tc>
                  <a:txBody>
                    <a:bodyPr wrap="square"/>
                    <a:lstStyle/>
                    <a:p>
                      <a:pPr algn="l"/>
                      <a:r>
                        <a:rPr sz="1200" b="0" i="0">
                          <a:solidFill>
                            <a:srgbClr val="16222E"/>
                          </a:solidFill>
                          <a:latin typeface="Calibri"/>
                        </a:rPr>
                        <a:t>0.0% (nominal size)</a:t>
                      </a:r>
                    </a:p>
                  </a:txBody>
                  <a:tcPr marL="54864" marR="54864" marT="18288" marB="18288" anchor="ctr">
                    <a:solidFill>
                      <a:srgbClr val="FFFFFF"/>
                    </a:solidFill>
                  </a:tcPr>
                </a:tc>
                <a:tc>
                  <a:txBody>
                    <a:bodyPr wrap="square"/>
                    <a:lstStyle/>
                    <a:p>
                      <a:pPr algn="ctr"/>
                      <a:r>
                        <a:rPr sz="1200" b="0" i="0">
                          <a:solidFill>
                            <a:srgbClr val="16222E"/>
                          </a:solidFill>
                          <a:latin typeface="Calibri"/>
                        </a:rPr>
                        <a:t>0.02</a:t>
                      </a:r>
                    </a:p>
                  </a:txBody>
                  <a:tcPr marL="54864" marR="54864" marT="18288" marB="18288" anchor="ctr">
                    <a:solidFill>
                      <a:srgbClr val="FFFFFF"/>
                    </a:solidFill>
                  </a:tcPr>
                </a:tc>
                <a:tc>
                  <a:txBody>
                    <a:bodyPr wrap="square"/>
                    <a:lstStyle/>
                    <a:p>
                      <a:pPr algn="ctr"/>
                      <a:r>
                        <a:rPr sz="1200" b="0" i="0">
                          <a:solidFill>
                            <a:srgbClr val="16222E"/>
                          </a:solidFill>
                          <a:latin typeface="Calibri"/>
                        </a:rPr>
                        <a:t>0.02</a:t>
                      </a:r>
                    </a:p>
                  </a:txBody>
                  <a:tcPr marL="54864" marR="54864" marT="18288" marB="18288" anchor="ctr">
                    <a:solidFill>
                      <a:srgbClr val="FFFFFF"/>
                    </a:solidFill>
                  </a:tcPr>
                </a:tc>
              </a:tr>
              <a:tr h="310896">
                <a:tc>
                  <a:txBody>
                    <a:bodyPr wrap="square"/>
                    <a:lstStyle/>
                    <a:p>
                      <a:pPr algn="l"/>
                      <a:r>
                        <a:rPr sz="1200" b="0" i="0">
                          <a:solidFill>
                            <a:srgbClr val="16222E"/>
                          </a:solidFill>
                          <a:latin typeface="Calibri"/>
                        </a:rPr>
                        <a:t>0.2%</a:t>
                      </a:r>
                    </a:p>
                  </a:txBody>
                  <a:tcPr marL="54864" marR="54864" marT="18288" marB="18288" anchor="ctr">
                    <a:solidFill>
                      <a:srgbClr val="FFFFFF"/>
                    </a:solidFill>
                  </a:tcPr>
                </a:tc>
                <a:tc>
                  <a:txBody>
                    <a:bodyPr wrap="square"/>
                    <a:lstStyle/>
                    <a:p>
                      <a:pPr algn="ctr"/>
                      <a:r>
                        <a:rPr sz="1200" b="0" i="0">
                          <a:solidFill>
                            <a:srgbClr val="16222E"/>
                          </a:solidFill>
                          <a:latin typeface="Calibri"/>
                        </a:rPr>
                        <a:t>0.40</a:t>
                      </a:r>
                    </a:p>
                  </a:txBody>
                  <a:tcPr marL="54864" marR="54864" marT="18288" marB="18288" anchor="ctr">
                    <a:solidFill>
                      <a:srgbClr val="FFFFFF"/>
                    </a:solidFill>
                  </a:tcPr>
                </a:tc>
                <a:tc>
                  <a:txBody>
                    <a:bodyPr wrap="square"/>
                    <a:lstStyle/>
                    <a:p>
                      <a:pPr algn="ctr"/>
                      <a:r>
                        <a:rPr sz="1200" b="0" i="0">
                          <a:solidFill>
                            <a:srgbClr val="16222E"/>
                          </a:solidFill>
                          <a:latin typeface="Calibri"/>
                        </a:rPr>
                        <a:t>0.21</a:t>
                      </a:r>
                    </a:p>
                  </a:txBody>
                  <a:tcPr marL="54864" marR="54864" marT="18288" marB="18288" anchor="ctr">
                    <a:solidFill>
                      <a:srgbClr val="FFFFFF"/>
                    </a:solidFill>
                  </a:tcPr>
                </a:tc>
              </a:tr>
              <a:tr h="310896">
                <a:tc>
                  <a:txBody>
                    <a:bodyPr wrap="square"/>
                    <a:lstStyle/>
                    <a:p>
                      <a:pPr algn="l"/>
                      <a:r>
                        <a:rPr sz="1200" b="1" i="0">
                          <a:solidFill>
                            <a:srgbClr val="16222E"/>
                          </a:solidFill>
                          <a:latin typeface="Calibri"/>
                        </a:rPr>
                        <a:t>0.5%</a:t>
                      </a:r>
                    </a:p>
                  </a:txBody>
                  <a:tcPr marL="54864" marR="54864" marT="18288" marB="18288" anchor="ctr">
                    <a:solidFill>
                      <a:srgbClr val="FFFFFF"/>
                    </a:solidFill>
                  </a:tcPr>
                </a:tc>
                <a:tc>
                  <a:txBody>
                    <a:bodyPr wrap="square"/>
                    <a:lstStyle/>
                    <a:p>
                      <a:pPr algn="ctr"/>
                      <a:r>
                        <a:rPr sz="1200" b="1" i="0">
                          <a:solidFill>
                            <a:srgbClr val="16222E"/>
                          </a:solidFill>
                          <a:latin typeface="Calibri"/>
                        </a:rPr>
                        <a:t>0.81</a:t>
                      </a:r>
                    </a:p>
                  </a:txBody>
                  <a:tcPr marL="54864" marR="54864" marT="18288" marB="18288" anchor="ctr">
                    <a:solidFill>
                      <a:srgbClr val="FFFFFF"/>
                    </a:solidFill>
                  </a:tcPr>
                </a:tc>
                <a:tc>
                  <a:txBody>
                    <a:bodyPr wrap="square"/>
                    <a:lstStyle/>
                    <a:p>
                      <a:pPr algn="ctr"/>
                      <a:r>
                        <a:rPr sz="1200" b="1" i="0">
                          <a:solidFill>
                            <a:srgbClr val="16222E"/>
                          </a:solidFill>
                          <a:latin typeface="Calibri"/>
                        </a:rPr>
                        <a:t>0.44</a:t>
                      </a:r>
                    </a:p>
                  </a:txBody>
                  <a:tcPr marL="54864" marR="54864" marT="18288" marB="18288" anchor="ctr">
                    <a:solidFill>
                      <a:srgbClr val="FFFFFF"/>
                    </a:solidFill>
                  </a:tcPr>
                </a:tc>
              </a:tr>
              <a:tr h="310896">
                <a:tc>
                  <a:txBody>
                    <a:bodyPr wrap="square"/>
                    <a:lstStyle/>
                    <a:p>
                      <a:pPr algn="l"/>
                      <a:r>
                        <a:rPr sz="1200" b="0" i="0">
                          <a:solidFill>
                            <a:srgbClr val="16222E"/>
                          </a:solidFill>
                          <a:latin typeface="Calibri"/>
                        </a:rPr>
                        <a:t>1.0%</a:t>
                      </a:r>
                    </a:p>
                  </a:txBody>
                  <a:tcPr marL="54864" marR="54864" marT="18288" marB="18288" anchor="ctr">
                    <a:solidFill>
                      <a:srgbClr val="FFFFFF"/>
                    </a:solidFill>
                  </a:tcPr>
                </a:tc>
                <a:tc>
                  <a:txBody>
                    <a:bodyPr wrap="square"/>
                    <a:lstStyle/>
                    <a:p>
                      <a:pPr algn="ctr"/>
                      <a:r>
                        <a:rPr sz="1200" b="0" i="0">
                          <a:solidFill>
                            <a:srgbClr val="16222E"/>
                          </a:solidFill>
                          <a:latin typeface="Calibri"/>
                        </a:rPr>
                        <a:t>0.98</a:t>
                      </a:r>
                    </a:p>
                  </a:txBody>
                  <a:tcPr marL="54864" marR="54864" marT="18288" marB="18288" anchor="ctr">
                    <a:solidFill>
                      <a:srgbClr val="FFFFFF"/>
                    </a:solidFill>
                  </a:tcPr>
                </a:tc>
                <a:tc>
                  <a:txBody>
                    <a:bodyPr wrap="square"/>
                    <a:lstStyle/>
                    <a:p>
                      <a:pPr algn="ctr"/>
                      <a:r>
                        <a:rPr sz="1200" b="0" i="0">
                          <a:solidFill>
                            <a:srgbClr val="16222E"/>
                          </a:solidFill>
                          <a:latin typeface="Calibri"/>
                        </a:rPr>
                        <a:t>0.76</a:t>
                      </a:r>
                    </a:p>
                  </a:txBody>
                  <a:tcPr marL="54864" marR="54864" marT="18288" marB="18288" anchor="ctr">
                    <a:solidFill>
                      <a:srgbClr val="FFFFFF"/>
                    </a:solidFill>
                  </a:tcPr>
                </a:tc>
              </a:tr>
              <a:tr h="310896">
                <a:tc>
                  <a:txBody>
                    <a:bodyPr wrap="square"/>
                    <a:lstStyle/>
                    <a:p>
                      <a:pPr algn="l"/>
                      <a:r>
                        <a:rPr sz="1200" b="0" i="0">
                          <a:solidFill>
                            <a:srgbClr val="16222E"/>
                          </a:solidFill>
                          <a:latin typeface="Calibri"/>
                        </a:rPr>
                        <a:t>2.0%</a:t>
                      </a:r>
                    </a:p>
                  </a:txBody>
                  <a:tcPr marL="54864" marR="54864" marT="18288" marB="18288" anchor="ctr">
                    <a:solidFill>
                      <a:srgbClr val="FFFFFF"/>
                    </a:solidFill>
                  </a:tcPr>
                </a:tc>
                <a:tc>
                  <a:txBody>
                    <a:bodyPr wrap="square"/>
                    <a:lstStyle/>
                    <a:p>
                      <a:pPr algn="ctr"/>
                      <a:r>
                        <a:rPr sz="1200" b="0" i="0">
                          <a:solidFill>
                            <a:srgbClr val="16222E"/>
                          </a:solidFill>
                          <a:latin typeface="Calibri"/>
                        </a:rPr>
                        <a:t>1.00</a:t>
                      </a:r>
                    </a:p>
                  </a:txBody>
                  <a:tcPr marL="54864" marR="54864" marT="18288" marB="18288" anchor="ctr">
                    <a:solidFill>
                      <a:srgbClr val="FFFFFF"/>
                    </a:solidFill>
                  </a:tcPr>
                </a:tc>
                <a:tc>
                  <a:txBody>
                    <a:bodyPr wrap="square"/>
                    <a:lstStyle/>
                    <a:p>
                      <a:pPr algn="ctr"/>
                      <a:r>
                        <a:rPr sz="1200" b="0" i="0">
                          <a:solidFill>
                            <a:srgbClr val="16222E"/>
                          </a:solidFill>
                          <a:latin typeface="Calibri"/>
                        </a:rPr>
                        <a:t>0.97</a:t>
                      </a:r>
                    </a:p>
                  </a:txBody>
                  <a:tcPr marL="54864" marR="54864" marT="18288" marB="18288" anchor="ctr">
                    <a:solidFill>
                      <a:srgbClr val="FFFFFF"/>
                    </a:solidFill>
                  </a:tcPr>
                </a:tc>
              </a:tr>
            </a:tbl>
          </a:graphicData>
        </a:graphic>
      </p:graphicFrame>
      <p:sp>
        <p:nvSpPr>
          <p:cNvPr id="7" name="TextBox 6"/>
          <p:cNvSpPr txBox="1"/>
          <p:nvPr/>
        </p:nvSpPr>
        <p:spPr>
          <a:xfrm>
            <a:off x="566928" y="3364992"/>
            <a:ext cx="11057839" cy="475488"/>
          </a:xfrm>
          <a:prstGeom prst="rect">
            <a:avLst/>
          </a:prstGeom>
          <a:noFill/>
        </p:spPr>
        <p:txBody>
          <a:bodyPr wrap="square" lIns="0" rIns="0" tIns="0" bIns="0">
            <a:spAutoFit/>
          </a:bodyPr>
          <a:lstStyle/>
          <a:p>
            <a:pPr>
              <a:lnSpc>
                <a:spcPct val="100000"/>
              </a:lnSpc>
            </a:pPr>
            <a:r>
              <a:rPr sz="900" b="0" i="1">
                <a:solidFill>
                  <a:srgbClr val="5A6B7A"/>
                </a:solidFill>
                <a:latin typeface="Calibri"/>
              </a:rPr>
              <a:t>Notes: Simulated power: rejection rate at the 5% level, 1,000 paths per cell, so each entry carries a standard error of at most 1.6 percentage points.</a:t>
            </a:r>
          </a:p>
        </p:txBody>
      </p:sp>
      <p:sp>
        <p:nvSpPr>
          <p:cNvPr id="8" name="TextBox 7"/>
          <p:cNvSpPr txBox="1"/>
          <p:nvPr/>
        </p:nvSpPr>
        <p:spPr>
          <a:xfrm>
            <a:off x="566928" y="3913632"/>
            <a:ext cx="11057839" cy="2487168"/>
          </a:xfrm>
          <a:prstGeom prst="rect">
            <a:avLst/>
          </a:prstGeom>
          <a:noFill/>
        </p:spPr>
        <p:txBody>
          <a:bodyPr wrap="square" lIns="0" rIns="0" tIns="0" bIns="0">
            <a:spAutoFit/>
          </a:bodyPr>
          <a:lstStyle/>
          <a:p>
            <a:pPr>
              <a:lnSpc>
                <a:spcPct val="108000"/>
              </a:lnSpc>
              <a:spcAft>
                <a:spcPts val="744"/>
              </a:spcAft>
            </a:pPr>
            <a:r>
              <a:rPr sz="1200" b="0" i="0">
                <a:solidFill>
                  <a:srgbClr val="1F6FB2"/>
                </a:solidFill>
                <a:latin typeface="Calibri"/>
              </a:rPr>
              <a:t>▪  </a:t>
            </a:r>
            <a:r>
              <a:rPr sz="1200" b="0" i="0">
                <a:solidFill>
                  <a:srgbClr val="16222E"/>
                </a:solidFill>
                <a:latin typeface="Calibri"/>
              </a:rPr>
              <a:t>50 specifications — five targets by ten predictors — in an expanding window, one day ahead. Every comparison is </a:t>
            </a:r>
            <a:r>
              <a:rPr sz="1200" b="1" i="0">
                <a:solidFill>
                  <a:srgbClr val="16222E"/>
                </a:solidFill>
                <a:latin typeface="Calibri"/>
              </a:rPr>
              <a:t>nested</a:t>
            </a:r>
            <a:r>
              <a:rPr sz="1200" b="0" i="0">
                <a:solidFill>
                  <a:srgbClr val="16222E"/>
                </a:solidFill>
                <a:latin typeface="Calibri"/>
              </a:rPr>
              <a:t>, so it is arbitrated by </a:t>
            </a:r>
            <a:r>
              <a:rPr sz="1200" b="1" i="0">
                <a:solidFill>
                  <a:srgbClr val="16222E"/>
                </a:solidFill>
                <a:latin typeface="Calibri"/>
              </a:rPr>
              <a:t>Clark–West, not Diebold–Mariano</a:t>
            </a:r>
            <a:r>
              <a:rPr sz="1200" b="0" i="0">
                <a:solidFill>
                  <a:srgbClr val="16222E"/>
                </a:solidFill>
                <a:latin typeface="Calibri"/>
              </a:rPr>
              <a:t>: under nesting DM has no standard normal limiting distribution and is biased against the larger model even when its extra predictor carries real information.</a:t>
            </a:r>
          </a:p>
          <a:p>
            <a:pPr>
              <a:lnSpc>
                <a:spcPct val="108000"/>
              </a:lnSpc>
              <a:spcAft>
                <a:spcPts val="744"/>
              </a:spcAft>
            </a:pPr>
            <a:r>
              <a:rPr sz="1200" b="0" i="0">
                <a:solidFill>
                  <a:srgbClr val="1F6FB2"/>
                </a:solidFill>
                <a:latin typeface="Calibri"/>
              </a:rPr>
              <a:t>▪  </a:t>
            </a:r>
            <a:r>
              <a:rPr sz="1200" b="1" i="0">
                <a:solidFill>
                  <a:srgbClr val="16222E"/>
                </a:solidFill>
                <a:latin typeface="Calibri"/>
              </a:rPr>
              <a:t>Zero rejections, against 2.5 expected by chance.</a:t>
            </a:r>
            <a:r>
              <a:rPr sz="1200" b="0" i="0">
                <a:solidFill>
                  <a:srgbClr val="16222E"/>
                </a:solidFill>
                <a:latin typeface="Calibri"/>
              </a:rPr>
              <a:t> Best </a:t>
            </a:r>
            <a:r>
              <a:rPr sz="1200" b="0" i="0">
                <a:solidFill>
                  <a:srgbClr val="16222E"/>
                </a:solidFill>
                <a:latin typeface="Calibri"/>
              </a:rPr>
              <a:t>R²_OS</a:t>
            </a:r>
            <a:r>
              <a:rPr sz="1200" b="0" i="0">
                <a:solidFill>
                  <a:srgbClr val="16222E"/>
                </a:solidFill>
                <a:latin typeface="Calibri"/>
              </a:rPr>
              <a:t> observed </a:t>
            </a:r>
            <a:r>
              <a:rPr sz="1200" b="1" i="0">
                <a:solidFill>
                  <a:srgbClr val="16222E"/>
                </a:solidFill>
                <a:latin typeface="Calibri"/>
              </a:rPr>
              <a:t>+0.10%</a:t>
            </a:r>
            <a:r>
              <a:rPr sz="1200" b="0" i="0">
                <a:solidFill>
                  <a:srgbClr val="16222E"/>
                </a:solidFill>
                <a:latin typeface="Calibri"/>
              </a:rPr>
              <a:t>; smallest </a:t>
            </a:r>
            <a:r>
              <a:rPr sz="1200" b="0" i="0">
                <a:solidFill>
                  <a:srgbClr val="16222E"/>
                </a:solidFill>
                <a:latin typeface="Calibri"/>
              </a:rPr>
              <a:t>p</a:t>
            </a:r>
            <a:r>
              <a:rPr sz="1200" b="0" i="0">
                <a:solidFill>
                  <a:srgbClr val="16222E"/>
                </a:solidFill>
                <a:latin typeface="Calibri"/>
              </a:rPr>
              <a:t>-value 0.067, so not one specification reaches even nominal significance.</a:t>
            </a:r>
          </a:p>
          <a:p>
            <a:pPr>
              <a:lnSpc>
                <a:spcPct val="108000"/>
              </a:lnSpc>
              <a:spcAft>
                <a:spcPts val="744"/>
              </a:spcAft>
            </a:pPr>
            <a:r>
              <a:rPr sz="1200" b="0" i="0">
                <a:solidFill>
                  <a:srgbClr val="1F6FB2"/>
                </a:solidFill>
                <a:latin typeface="Calibri"/>
              </a:rPr>
              <a:t>▪  </a:t>
            </a:r>
            <a:r>
              <a:rPr sz="1200" b="1" i="0">
                <a:solidFill>
                  <a:srgbClr val="16222E"/>
                </a:solidFill>
                <a:latin typeface="Calibri"/>
              </a:rPr>
              <a:t>The power simulation is what makes that informative — and it must be read as two numbers, never one.</a:t>
            </a:r>
            <a:r>
              <a:rPr sz="1200" b="0" i="0">
                <a:solidFill>
                  <a:srgbClr val="16222E"/>
                </a:solidFill>
                <a:latin typeface="Calibri"/>
              </a:rPr>
              <a:t> On the three long-sample targets an effect of 0.5% is detected in </a:t>
            </a:r>
            <a:r>
              <a:rPr sz="1200" b="1" i="0">
                <a:solidFill>
                  <a:srgbClr val="16222E"/>
                </a:solidFill>
                <a:latin typeface="Calibri"/>
              </a:rPr>
              <a:t>81%</a:t>
            </a:r>
            <a:r>
              <a:rPr sz="1200" b="0" i="0">
                <a:solidFill>
                  <a:srgbClr val="16222E"/>
                </a:solidFill>
                <a:latin typeface="Calibri"/>
              </a:rPr>
              <a:t> of paths, and one of 1.0% in </a:t>
            </a:r>
            <a:r>
              <a:rPr sz="1200" b="1" i="0">
                <a:solidFill>
                  <a:srgbClr val="16222E"/>
                </a:solidFill>
                <a:latin typeface="Calibri"/>
              </a:rPr>
              <a:t>98%</a:t>
            </a:r>
            <a:r>
              <a:rPr sz="1200" b="0" i="0">
                <a:solidFill>
                  <a:srgbClr val="16222E"/>
                </a:solidFill>
                <a:latin typeface="Calibri"/>
              </a:rPr>
              <a:t>. On the two Bloomberg targets the same effects give </a:t>
            </a:r>
            <a:r>
              <a:rPr sz="1200" b="1" i="0">
                <a:solidFill>
                  <a:srgbClr val="16222E"/>
                </a:solidFill>
                <a:latin typeface="Calibri"/>
              </a:rPr>
              <a:t>44%</a:t>
            </a:r>
            <a:r>
              <a:rPr sz="1200" b="0" i="0">
                <a:solidFill>
                  <a:srgbClr val="16222E"/>
                </a:solidFill>
                <a:latin typeface="Calibri"/>
              </a:rPr>
              <a:t> and </a:t>
            </a:r>
            <a:r>
              <a:rPr sz="1200" b="1" i="0">
                <a:solidFill>
                  <a:srgbClr val="16222E"/>
                </a:solidFill>
                <a:latin typeface="Calibri"/>
              </a:rPr>
              <a:t>76%</a:t>
            </a:r>
            <a:r>
              <a:rPr sz="1200" b="0" i="0">
                <a:solidFill>
                  <a:srgbClr val="16222E"/>
                </a:solidFill>
                <a:latin typeface="Calibri"/>
              </a:rPr>
              <a:t>, so there a meaningful effect would be missed more often than not, and the null is weak evidence rather than a bound.</a:t>
            </a:r>
          </a:p>
          <a:p>
            <a:pPr>
              <a:lnSpc>
                <a:spcPct val="108000"/>
              </a:lnSpc>
              <a:spcAft>
                <a:spcPts val="744"/>
              </a:spcAft>
            </a:pPr>
            <a:r>
              <a:rPr sz="1200" b="0" i="0">
                <a:solidFill>
                  <a:srgbClr val="1F6FB2"/>
                </a:solidFill>
                <a:latin typeface="Calibri"/>
              </a:rPr>
              <a:t>▪  </a:t>
            </a:r>
            <a:r>
              <a:rPr sz="1200" b="1" i="0">
                <a:solidFill>
                  <a:srgbClr val="16222E"/>
                </a:solidFill>
                <a:latin typeface="Calibri"/>
              </a:rPr>
              <a:t>Power is not exclusion.</a:t>
            </a:r>
            <a:r>
              <a:rPr sz="1200" b="0" i="0">
                <a:solidFill>
                  <a:srgbClr val="16222E"/>
                </a:solidFill>
                <a:latin typeface="Calibri"/>
              </a:rPr>
              <a:t> 81% means one sample in five misses a real effect.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FINDINGS</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What this means</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15 / 18</a:t>
            </a:r>
          </a:p>
        </p:txBody>
      </p:sp>
      <p:sp>
        <p:nvSpPr>
          <p:cNvPr id="6" name="TextBox 5"/>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806"/>
              </a:spcAft>
            </a:pPr>
            <a:r>
              <a:rPr sz="1300" b="0" i="0">
                <a:solidFill>
                  <a:srgbClr val="1F6FB2"/>
                </a:solidFill>
                <a:latin typeface="Calibri"/>
              </a:rPr>
              <a:t>▪  </a:t>
            </a:r>
            <a:r>
              <a:rPr sz="1300" b="1" i="0">
                <a:solidFill>
                  <a:srgbClr val="16222E"/>
                </a:solidFill>
                <a:latin typeface="Calibri"/>
              </a:rPr>
              <a:t>Local-language perception adds nothing to defence-equity returns conditional on Western coverage</a:t>
            </a:r>
            <a:r>
              <a:rPr sz="1300" b="0" i="0">
                <a:solidFill>
                  <a:srgbClr val="16222E"/>
                </a:solidFill>
                <a:latin typeface="Calibri"/>
              </a:rPr>
              <a:t> — in coverage volume, in tone, in the anticipated/realised structure, across two asset classes, against one non-market outcome, and out of sample. The null is consistent across all four tests.</a:t>
            </a:r>
          </a:p>
          <a:p>
            <a:pPr>
              <a:lnSpc>
                <a:spcPct val="108000"/>
              </a:lnSpc>
              <a:spcAft>
                <a:spcPts val="806"/>
              </a:spcAft>
            </a:pPr>
            <a:r>
              <a:rPr sz="1300" b="0" i="0">
                <a:solidFill>
                  <a:srgbClr val="1F6FB2"/>
                </a:solidFill>
                <a:latin typeface="Calibri"/>
              </a:rPr>
              <a:t>▪  </a:t>
            </a:r>
            <a:r>
              <a:rPr sz="1300" b="1" i="0">
                <a:solidFill>
                  <a:srgbClr val="16222E"/>
                </a:solidFill>
                <a:latin typeface="Calibri"/>
              </a:rPr>
              <a:t>This is a finding rather than an absence, because the design demonstrably detects media effects.</a:t>
            </a:r>
            <a:r>
              <a:rPr sz="1300" b="0" i="0">
                <a:solidFill>
                  <a:srgbClr val="16222E"/>
                </a:solidFill>
                <a:latin typeface="Calibri"/>
              </a:rPr>
              <a:t> The Western block survives correction in the pre-registered anticipation test and is detected at </a:t>
            </a:r>
            <a:r>
              <a:rPr sz="1300" b="0" i="0">
                <a:solidFill>
                  <a:srgbClr val="16222E"/>
                </a:solidFill>
                <a:latin typeface="Calibri"/>
              </a:rPr>
              <a:t>p = 4×10⁻⁵</a:t>
            </a:r>
            <a:r>
              <a:rPr sz="1300" b="0" i="0">
                <a:solidFill>
                  <a:srgbClr val="16222E"/>
                </a:solidFill>
                <a:latin typeface="Calibri"/>
              </a:rPr>
              <a:t> in gas; the local block itself is detected in 7 of 31 cells before the tradeable lag is imposed. The informative feature is the </a:t>
            </a:r>
            <a:r>
              <a:rPr sz="1300" b="1" i="0">
                <a:solidFill>
                  <a:srgbClr val="16222E"/>
                </a:solidFill>
                <a:latin typeface="Calibri"/>
              </a:rPr>
              <a:t>co-occurrence</a:t>
            </a:r>
            <a:r>
              <a:rPr sz="1300" b="0" i="0">
                <a:solidFill>
                  <a:srgbClr val="16222E"/>
                </a:solidFill>
                <a:latin typeface="Calibri"/>
              </a:rPr>
              <a:t> — a null on the local block in precisely the cells where an effect is found on the Western one.</a:t>
            </a:r>
          </a:p>
          <a:p>
            <a:pPr>
              <a:lnSpc>
                <a:spcPct val="108000"/>
              </a:lnSpc>
              <a:spcAft>
                <a:spcPts val="806"/>
              </a:spcAft>
            </a:pPr>
            <a:r>
              <a:rPr sz="1300" b="0" i="0">
                <a:solidFill>
                  <a:srgbClr val="1F6FB2"/>
                </a:solidFill>
                <a:latin typeface="Calibri"/>
              </a:rPr>
              <a:t>▪  </a:t>
            </a:r>
            <a:r>
              <a:rPr sz="1300" b="1" i="0">
                <a:solidFill>
                  <a:srgbClr val="16222E"/>
                </a:solidFill>
                <a:latin typeface="Calibri"/>
              </a:rPr>
              <a:t>The descriptive asymmetry points the same way.</a:t>
            </a:r>
            <a:r>
              <a:rPr sz="1300" b="0" i="0">
                <a:solidFill>
                  <a:srgbClr val="16222E"/>
                </a:solidFill>
                <a:latin typeface="Calibri"/>
              </a:rPr>
              <a:t> Russian state tone did not move at the invasion and local attention was already at saturation, while Western attention doubled in a day. If the marginal buyers of Western defence equities form their views from Western coverage, they responded to the one series that registered the event.</a:t>
            </a:r>
          </a:p>
          <a:p>
            <a:pPr>
              <a:lnSpc>
                <a:spcPct val="108000"/>
              </a:lnSpc>
              <a:spcAft>
                <a:spcPts val="806"/>
              </a:spcAft>
            </a:pPr>
            <a:r>
              <a:rPr sz="1300" b="0" i="0">
                <a:solidFill>
                  <a:srgbClr val="1F6FB2"/>
                </a:solidFill>
                <a:latin typeface="Calibri"/>
              </a:rPr>
              <a:t>▪  </a:t>
            </a:r>
            <a:r>
              <a:rPr sz="1300" b="1" i="0">
                <a:solidFill>
                  <a:srgbClr val="16222E"/>
                </a:solidFill>
                <a:latin typeface="Calibri"/>
              </a:rPr>
              <a:t>The mirror of Bondarenko et al. (2024) comes back reversed — but the symmetric positive claim is not made.</a:t>
            </a:r>
            <a:r>
              <a:rPr sz="1300" b="0" i="0">
                <a:solidFill>
                  <a:srgbClr val="16222E"/>
                </a:solidFill>
                <a:latin typeface="Calibri"/>
              </a:rPr>
              <a:t> This design identifies the local block's incremental contribution, not the Western block's own effect. What the two studies jointly support is narrower and more useful: </a:t>
            </a:r>
            <a:r>
              <a:rPr sz="1300" b="1" i="0">
                <a:solidFill>
                  <a:srgbClr val="16222E"/>
                </a:solidFill>
                <a:latin typeface="Calibri"/>
              </a:rPr>
              <a:t>the informative ecosystem is the one inhabited by the agents whose decisions are being measured.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ROBUSTNESS</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Robustness: the tests that could have overturned this</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16 / 18</a:t>
            </a:r>
          </a:p>
        </p:txBody>
      </p:sp>
      <p:sp>
        <p:nvSpPr>
          <p:cNvPr id="6" name="TextBox 5"/>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744"/>
              </a:spcAft>
            </a:pPr>
            <a:r>
              <a:rPr sz="1200" b="0" i="0">
                <a:solidFill>
                  <a:srgbClr val="1F6FB2"/>
                </a:solidFill>
                <a:latin typeface="Calibri"/>
              </a:rPr>
              <a:t>▪  </a:t>
            </a:r>
            <a:r>
              <a:rPr sz="1200" b="1" i="0">
                <a:solidFill>
                  <a:srgbClr val="16222E"/>
                </a:solidFill>
                <a:latin typeface="Calibri"/>
              </a:rPr>
              <a:t>The classification rule.</a:t>
            </a:r>
            <a:r>
              <a:rPr sz="1200" b="0" i="0">
                <a:solidFill>
                  <a:srgbClr val="16222E"/>
                </a:solidFill>
                <a:latin typeface="Calibri"/>
              </a:rPr>
              <a:t> Five rules run through the full grid — baseline, register-only, no language tier, language-first, and aggregators retained. The verdict is unchanged under all five: one or two survivors of 31. Language-first is the informative failure: it </a:t>
            </a:r>
            <a:r>
              <a:rPr sz="1200" b="1" i="0">
                <a:solidFill>
                  <a:srgbClr val="16222E"/>
                </a:solidFill>
                <a:latin typeface="Calibri"/>
              </a:rPr>
              <a:t>cannot represent a Russian independent block at all</a:t>
            </a:r>
            <a:r>
              <a:rPr sz="1200" b="0" i="0">
                <a:solidFill>
                  <a:srgbClr val="16222E"/>
                </a:solidFill>
                <a:latin typeface="Calibri"/>
              </a:rPr>
              <a:t>, because the language tier claims those articles before ownership is consulted.</a:t>
            </a:r>
          </a:p>
          <a:p>
            <a:pPr>
              <a:lnSpc>
                <a:spcPct val="108000"/>
              </a:lnSpc>
              <a:spcAft>
                <a:spcPts val="744"/>
              </a:spcAft>
            </a:pPr>
            <a:r>
              <a:rPr sz="1200" b="0" i="0">
                <a:solidFill>
                  <a:srgbClr val="1F6FB2"/>
                </a:solidFill>
                <a:latin typeface="Calibri"/>
              </a:rPr>
              <a:t>▪  </a:t>
            </a:r>
            <a:r>
              <a:rPr sz="1200" b="1" i="0">
                <a:solidFill>
                  <a:srgbClr val="16222E"/>
                </a:solidFill>
                <a:latin typeface="Calibri"/>
              </a:rPr>
              <a:t>Aggregation.</a:t>
            </a:r>
            <a:r>
              <a:rPr sz="1200" b="0" i="0">
                <a:solidFill>
                  <a:srgbClr val="16222E"/>
                </a:solidFill>
                <a:latin typeface="Calibri"/>
              </a:rPr>
              <a:t> An index-level null could mask cross-sectional variation. A firm-level panel of </a:t>
            </a:r>
            <a:r>
              <a:rPr sz="1200" b="1" i="0">
                <a:solidFill>
                  <a:srgbClr val="16222E"/>
                </a:solidFill>
                <a:latin typeface="Calibri"/>
              </a:rPr>
              <a:t>31 defence names and 85,065 firm-days</a:t>
            </a:r>
            <a:r>
              <a:rPr sz="1200" b="0" i="0">
                <a:solidFill>
                  <a:srgbClr val="16222E"/>
                </a:solidFill>
                <a:latin typeface="Calibri"/>
              </a:rPr>
              <a:t>, with exposure from published SIPRI arms revenue, produces no exposure gradient in any war window — nominal significance appears only in the years </a:t>
            </a:r>
            <a:r>
              <a:rPr sz="1200" b="0" i="1">
                <a:solidFill>
                  <a:srgbClr val="16222E"/>
                </a:solidFill>
                <a:latin typeface="Calibri"/>
              </a:rPr>
              <a:t>before</a:t>
            </a:r>
            <a:r>
              <a:rPr sz="1200" b="0" i="0">
                <a:solidFill>
                  <a:srgbClr val="16222E"/>
                </a:solidFill>
                <a:latin typeface="Calibri"/>
              </a:rPr>
              <a:t> the full-scale invasion, and </a:t>
            </a:r>
            <a:r>
              <a:rPr sz="1200" b="1" i="0">
                <a:solidFill>
                  <a:srgbClr val="16222E"/>
                </a:solidFill>
                <a:latin typeface="Calibri"/>
              </a:rPr>
              <a:t>0 of 10 cells survive correction</a:t>
            </a:r>
            <a:r>
              <a:rPr sz="1200" b="0" i="0">
                <a:solidFill>
                  <a:srgbClr val="16222E"/>
                </a:solidFill>
                <a:latin typeface="Calibri"/>
              </a:rPr>
              <a:t>.</a:t>
            </a:r>
          </a:p>
          <a:p>
            <a:pPr>
              <a:lnSpc>
                <a:spcPct val="108000"/>
              </a:lnSpc>
              <a:spcAft>
                <a:spcPts val="744"/>
              </a:spcAft>
            </a:pPr>
            <a:r>
              <a:rPr sz="1200" b="0" i="0">
                <a:solidFill>
                  <a:srgbClr val="1F6FB2"/>
                </a:solidFill>
                <a:latin typeface="Calibri"/>
              </a:rPr>
              <a:t>▪  </a:t>
            </a:r>
            <a:r>
              <a:rPr sz="1200" b="1" i="0">
                <a:solidFill>
                  <a:srgbClr val="16222E"/>
                </a:solidFill>
                <a:latin typeface="Calibri"/>
              </a:rPr>
              <a:t>The physical war itself</a:t>
            </a:r>
            <a:r>
              <a:rPr sz="1200" b="0" i="0">
                <a:solidFill>
                  <a:srgbClr val="16222E"/>
                </a:solidFill>
                <a:latin typeface="Calibri"/>
              </a:rPr>
              <a:t>, in case the news measures are simply a poor proxy for it. A forecasting race over </a:t>
            </a:r>
            <a:r>
              <a:rPr sz="1200" b="1" i="0">
                <a:solidFill>
                  <a:srgbClr val="16222E"/>
                </a:solidFill>
                <a:latin typeface="Calibri"/>
              </a:rPr>
              <a:t>144 specifications</a:t>
            </a:r>
            <a:r>
              <a:rPr sz="1200" b="0" i="0">
                <a:solidFill>
                  <a:srgbClr val="16222E"/>
                </a:solidFill>
                <a:latin typeface="Calibri"/>
              </a:rPr>
              <a:t> and five information sets: 16 achieve a positive </a:t>
            </a:r>
            <a:r>
              <a:rPr sz="1200" b="0" i="0">
                <a:solidFill>
                  <a:srgbClr val="16222E"/>
                </a:solidFill>
                <a:latin typeface="Calibri"/>
              </a:rPr>
              <a:t>R²_OS</a:t>
            </a:r>
            <a:r>
              <a:rPr sz="1200" b="0" i="0">
                <a:solidFill>
                  <a:srgbClr val="16222E"/>
                </a:solidFill>
                <a:latin typeface="Calibri"/>
              </a:rPr>
              <a:t> and </a:t>
            </a:r>
            <a:r>
              <a:rPr sz="1200" b="1" i="0">
                <a:solidFill>
                  <a:srgbClr val="16222E"/>
                </a:solidFill>
                <a:latin typeface="Calibri"/>
              </a:rPr>
              <a:t>none survives correction</a:t>
            </a:r>
            <a:r>
              <a:rPr sz="1200" b="0" i="0">
                <a:solidFill>
                  <a:srgbClr val="16222E"/>
                </a:solidFill>
                <a:latin typeface="Calibri"/>
              </a:rPr>
              <a:t>. Realised attack intensity is no more informative about subsequent defence returns than perceived intensity.</a:t>
            </a:r>
          </a:p>
          <a:p>
            <a:pPr>
              <a:lnSpc>
                <a:spcPct val="108000"/>
              </a:lnSpc>
              <a:spcAft>
                <a:spcPts val="744"/>
              </a:spcAft>
            </a:pPr>
            <a:r>
              <a:rPr sz="1200" b="0" i="0">
                <a:solidFill>
                  <a:srgbClr val="1F6FB2"/>
                </a:solidFill>
                <a:latin typeface="Calibri"/>
              </a:rPr>
              <a:t>▪  </a:t>
            </a:r>
            <a:r>
              <a:rPr sz="1200" b="1" i="0">
                <a:solidFill>
                  <a:srgbClr val="16222E"/>
                </a:solidFill>
                <a:latin typeface="Calibri"/>
              </a:rPr>
              <a:t>Volatility</a:t>
            </a:r>
            <a:r>
              <a:rPr sz="1200" b="0" i="0">
                <a:solidFill>
                  <a:srgbClr val="16222E"/>
                </a:solidFill>
                <a:latin typeface="Calibri"/>
              </a:rPr>
              <a:t>, where a positive result was most plausible, since volatility is persistent where returns are not. Forty-eight augmented HAR-RV-X specifications: </a:t>
            </a:r>
            <a:r>
              <a:rPr sz="1200" b="1" i="0">
                <a:solidFill>
                  <a:srgbClr val="16222E"/>
                </a:solidFill>
                <a:latin typeface="Calibri"/>
              </a:rPr>
              <a:t>none improves significantly</a:t>
            </a:r>
            <a:r>
              <a:rPr sz="1200" b="0" i="0">
                <a:solidFill>
                  <a:srgbClr val="16222E"/>
                </a:solidFill>
                <a:latin typeface="Calibri"/>
              </a:rPr>
              <a:t>, eight are significantly worse, and all six correction survivors are deteriorations. Reported with its limit — on a squared-daily-return proxy the HAR family is roughly twice as inaccurate as GARCH, so the test has limited power.</a:t>
            </a:r>
          </a:p>
          <a:p>
            <a:pPr>
              <a:lnSpc>
                <a:spcPct val="108000"/>
              </a:lnSpc>
              <a:spcAft>
                <a:spcPts val="744"/>
              </a:spcAft>
            </a:pPr>
            <a:r>
              <a:rPr sz="1200" b="0" i="0">
                <a:solidFill>
                  <a:srgbClr val="1F6FB2"/>
                </a:solidFill>
                <a:latin typeface="Calibri"/>
              </a:rPr>
              <a:t>▪  </a:t>
            </a:r>
            <a:r>
              <a:rPr sz="1200" b="0" i="0">
                <a:solidFill>
                  <a:srgbClr val="16222E"/>
                </a:solidFill>
                <a:latin typeface="Calibri"/>
              </a:rPr>
              <a:t>Both forecasting exercises are </a:t>
            </a:r>
            <a:r>
              <a:rPr sz="1200" b="1" i="0">
                <a:solidFill>
                  <a:srgbClr val="16222E"/>
                </a:solidFill>
                <a:latin typeface="Calibri"/>
              </a:rPr>
              <a:t>exploratory, not pre-registered</a:t>
            </a:r>
            <a:r>
              <a:rPr sz="1200" b="0" i="0">
                <a:solidFill>
                  <a:srgbClr val="16222E"/>
                </a:solidFill>
                <a:latin typeface="Calibri"/>
              </a:rPr>
              <a:t>, and are labelled that way.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ROBUSTNESS</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Six results that dissolved — and why that matters</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17 / 18</a:t>
            </a:r>
          </a:p>
        </p:txBody>
      </p:sp>
      <p:graphicFrame>
        <p:nvGraphicFramePr>
          <p:cNvPr id="6" name="Table 5"/>
          <p:cNvGraphicFramePr>
            <a:graphicFrameLocks noGrp="1"/>
          </p:cNvGraphicFramePr>
          <p:nvPr/>
        </p:nvGraphicFramePr>
        <p:xfrm>
          <a:off x="566928" y="1426464"/>
          <a:ext cx="11057838" cy="2176272"/>
        </p:xfrm>
        <a:graphic>
          <a:graphicData uri="http://schemas.openxmlformats.org/drawingml/2006/table">
            <a:tbl>
              <a:tblPr>
                <a:tableStyleId>{5C22544A-7EE6-4342-B048-85BDC9FD1C3A}</a:tableStyleId>
              </a:tblPr>
              <a:tblGrid>
                <a:gridCol w="5528919"/>
                <a:gridCol w="5528919"/>
              </a:tblGrid>
              <a:tr h="310896">
                <a:tc>
                  <a:txBody>
                    <a:bodyPr wrap="square"/>
                    <a:lstStyle/>
                    <a:p>
                      <a:pPr algn="l"/>
                      <a:r>
                        <a:rPr sz="1200" b="1" i="0">
                          <a:solidFill>
                            <a:srgbClr val="1F6FB2"/>
                          </a:solidFill>
                          <a:latin typeface="Calibri"/>
                        </a:rPr>
                        <a:t>The result, when it was significant</a:t>
                      </a:r>
                    </a:p>
                  </a:txBody>
                  <a:tcPr marL="54864" marR="54864" marT="18288" marB="18288" anchor="ctr">
                    <a:solidFill>
                      <a:srgbClr val="F2F6F9"/>
                    </a:solidFill>
                  </a:tcPr>
                </a:tc>
                <a:tc>
                  <a:txBody>
                    <a:bodyPr wrap="square"/>
                    <a:lstStyle/>
                    <a:p>
                      <a:pPr algn="l"/>
                      <a:r>
                        <a:rPr sz="1200" b="1" i="0">
                          <a:solidFill>
                            <a:srgbClr val="1F6FB2"/>
                          </a:solidFill>
                          <a:latin typeface="Calibri"/>
                        </a:rPr>
                        <a:t>What eliminated it</a:t>
                      </a:r>
                    </a:p>
                  </a:txBody>
                  <a:tcPr marL="54864" marR="54864" marT="18288" marB="18288" anchor="ctr">
                    <a:solidFill>
                      <a:srgbClr val="F2F6F9"/>
                    </a:solidFill>
                  </a:tcPr>
                </a:tc>
              </a:tr>
              <a:tr h="310896">
                <a:tc>
                  <a:txBody>
                    <a:bodyPr wrap="square"/>
                    <a:lstStyle/>
                    <a:p>
                      <a:pPr algn="l"/>
                      <a:r>
                        <a:rPr sz="1200" b="0" i="0">
                          <a:solidFill>
                            <a:srgbClr val="16222E"/>
                          </a:solidFill>
                          <a:latin typeface="Calibri"/>
                        </a:rPr>
                        <a:t>Defence volatility responds to threat</a:t>
                      </a:r>
                    </a:p>
                  </a:txBody>
                  <a:tcPr marL="54864" marR="54864" marT="18288" marB="18288" anchor="ctr">
                    <a:solidFill>
                      <a:srgbClr val="FFFFFF"/>
                    </a:solidFill>
                  </a:tcPr>
                </a:tc>
                <a:tc>
                  <a:txBody>
                    <a:bodyPr wrap="square"/>
                    <a:lstStyle/>
                    <a:p>
                      <a:pPr algn="l"/>
                      <a:r>
                        <a:rPr sz="1200" b="0" i="0">
                          <a:solidFill>
                            <a:srgbClr val="16222E"/>
                          </a:solidFill>
                          <a:latin typeface="Calibri"/>
                        </a:rPr>
                        <a:t>The regional market control (S&amp;P 500 to STOXX 600)</a:t>
                      </a:r>
                    </a:p>
                  </a:txBody>
                  <a:tcPr marL="54864" marR="54864" marT="18288" marB="18288" anchor="ctr">
                    <a:solidFill>
                      <a:srgbClr val="FFFFFF"/>
                    </a:solidFill>
                  </a:tcPr>
                </a:tc>
              </a:tr>
              <a:tr h="310896">
                <a:tc>
                  <a:txBody>
                    <a:bodyPr wrap="square"/>
                    <a:lstStyle/>
                    <a:p>
                      <a:pPr algn="l"/>
                      <a:r>
                        <a:rPr sz="1200" b="0" i="0">
                          <a:solidFill>
                            <a:srgbClr val="16222E"/>
                          </a:solidFill>
                          <a:latin typeface="Calibri"/>
                        </a:rPr>
                        <a:t>Threat moves returns in the build-up, </a:t>
                      </a:r>
                      <a:r>
                        <a:rPr sz="1200" b="0" i="0">
                          <a:solidFill>
                            <a:srgbClr val="16222E"/>
                          </a:solidFill>
                          <a:latin typeface="Calibri"/>
                        </a:rPr>
                        <a:t>p = 0.0001</a:t>
                      </a:r>
                    </a:p>
                  </a:txBody>
                  <a:tcPr marL="54864" marR="54864" marT="18288" marB="18288" anchor="ctr">
                    <a:solidFill>
                      <a:srgbClr val="FFFFFF"/>
                    </a:solidFill>
                  </a:tcPr>
                </a:tc>
                <a:tc>
                  <a:txBody>
                    <a:bodyPr wrap="square"/>
                    <a:lstStyle/>
                    <a:p>
                      <a:pPr algn="l"/>
                      <a:r>
                        <a:rPr sz="1200" b="0" i="0">
                          <a:solidFill>
                            <a:srgbClr val="16222E"/>
                          </a:solidFill>
                          <a:latin typeface="Calibri"/>
                        </a:rPr>
                        <a:t>The same control: </a:t>
                      </a:r>
                      <a:r>
                        <a:rPr sz="1200" b="0" i="0">
                          <a:solidFill>
                            <a:srgbClr val="16222E"/>
                          </a:solidFill>
                          <a:latin typeface="Calibri"/>
                        </a:rPr>
                        <a:t>p</a:t>
                      </a:r>
                      <a:r>
                        <a:rPr sz="1200" b="0" i="0">
                          <a:solidFill>
                            <a:srgbClr val="16222E"/>
                          </a:solidFill>
                          <a:latin typeface="Calibri"/>
                        </a:rPr>
                        <a:t> becomes 0.84</a:t>
                      </a:r>
                    </a:p>
                  </a:txBody>
                  <a:tcPr marL="54864" marR="54864" marT="18288" marB="18288" anchor="ctr">
                    <a:solidFill>
                      <a:srgbClr val="FFFFFF"/>
                    </a:solidFill>
                  </a:tcPr>
                </a:tc>
              </a:tr>
              <a:tr h="310896">
                <a:tc>
                  <a:txBody>
                    <a:bodyPr wrap="square"/>
                    <a:lstStyle/>
                    <a:p>
                      <a:pPr algn="l"/>
                      <a:r>
                        <a:rPr sz="1200" b="0" i="0">
                          <a:solidFill>
                            <a:srgbClr val="16222E"/>
                          </a:solidFill>
                          <a:latin typeface="Calibri"/>
                        </a:rPr>
                        <a:t>Gate 3 clears its pre-registered rule, 7 survivors</a:t>
                      </a:r>
                    </a:p>
                  </a:txBody>
                  <a:tcPr marL="54864" marR="54864" marT="18288" marB="18288" anchor="ctr">
                    <a:solidFill>
                      <a:srgbClr val="FFFFFF"/>
                    </a:solidFill>
                  </a:tcPr>
                </a:tc>
                <a:tc>
                  <a:txBody>
                    <a:bodyPr wrap="square"/>
                    <a:lstStyle/>
                    <a:p>
                      <a:pPr algn="l"/>
                      <a:r>
                        <a:rPr sz="1200" b="0" i="0">
                          <a:solidFill>
                            <a:srgbClr val="16222E"/>
                          </a:solidFill>
                          <a:latin typeface="Calibri"/>
                        </a:rPr>
                        <a:t>Adding the held-out window: 7 becomes 2, verdict FAIL</a:t>
                      </a:r>
                    </a:p>
                  </a:txBody>
                  <a:tcPr marL="54864" marR="54864" marT="18288" marB="18288" anchor="ctr">
                    <a:solidFill>
                      <a:srgbClr val="FFFFFF"/>
                    </a:solidFill>
                  </a:tcPr>
                </a:tc>
              </a:tr>
              <a:tr h="310896">
                <a:tc>
                  <a:txBody>
                    <a:bodyPr wrap="square"/>
                    <a:lstStyle/>
                    <a:p>
                      <a:pPr algn="l"/>
                      <a:r>
                        <a:rPr sz="1200" b="0" i="0">
                          <a:solidFill>
                            <a:srgbClr val="16222E"/>
                          </a:solidFill>
                          <a:latin typeface="Calibri"/>
                        </a:rPr>
                        <a:t>Local perception priced in gas, </a:t>
                      </a:r>
                      <a:r>
                        <a:rPr sz="1200" b="0" i="0">
                          <a:solidFill>
                            <a:srgbClr val="16222E"/>
                          </a:solidFill>
                          <a:latin typeface="Calibri"/>
                        </a:rPr>
                        <a:t>p = 0.0028</a:t>
                      </a:r>
                      <a:r>
                        <a:rPr sz="1200" b="0" i="0">
                          <a:solidFill>
                            <a:srgbClr val="16222E"/>
                          </a:solidFill>
                          <a:latin typeface="Calibri"/>
                        </a:rPr>
                        <a:t> on 81 days</a:t>
                      </a:r>
                    </a:p>
                  </a:txBody>
                  <a:tcPr marL="54864" marR="54864" marT="18288" marB="18288" anchor="ctr">
                    <a:solidFill>
                      <a:srgbClr val="FFFFFF"/>
                    </a:solidFill>
                  </a:tcPr>
                </a:tc>
                <a:tc>
                  <a:txBody>
                    <a:bodyPr wrap="square"/>
                    <a:lstStyle/>
                    <a:p>
                      <a:pPr algn="l"/>
                      <a:r>
                        <a:rPr sz="1200" b="0" i="0">
                          <a:solidFill>
                            <a:srgbClr val="16222E"/>
                          </a:solidFill>
                          <a:latin typeface="Calibri"/>
                        </a:rPr>
                        <a:t>Replication on 222 days of the same period: </a:t>
                      </a:r>
                      <a:r>
                        <a:rPr sz="1200" b="0" i="0">
                          <a:solidFill>
                            <a:srgbClr val="16222E"/>
                          </a:solidFill>
                          <a:latin typeface="Calibri"/>
                        </a:rPr>
                        <a:t>p</a:t>
                      </a:r>
                      <a:r>
                        <a:rPr sz="1200" b="0" i="0">
                          <a:solidFill>
                            <a:srgbClr val="16222E"/>
                          </a:solidFill>
                          <a:latin typeface="Calibri"/>
                        </a:rPr>
                        <a:t> becomes 0.399</a:t>
                      </a:r>
                    </a:p>
                  </a:txBody>
                  <a:tcPr marL="54864" marR="54864" marT="18288" marB="18288" anchor="ctr">
                    <a:solidFill>
                      <a:srgbClr val="FFFFFF"/>
                    </a:solidFill>
                  </a:tcPr>
                </a:tc>
              </a:tr>
              <a:tr h="310896">
                <a:tc>
                  <a:txBody>
                    <a:bodyPr wrap="square"/>
                    <a:lstStyle/>
                    <a:p>
                      <a:pPr algn="l"/>
                      <a:r>
                        <a:rPr sz="1200" b="0" i="0">
                          <a:solidFill>
                            <a:srgbClr val="16222E"/>
                          </a:solidFill>
                          <a:latin typeface="Calibri"/>
                        </a:rPr>
                        <a:t>Local media anticipate escalation, both halves</a:t>
                      </a:r>
                    </a:p>
                  </a:txBody>
                  <a:tcPr marL="54864" marR="54864" marT="18288" marB="18288" anchor="ctr">
                    <a:solidFill>
                      <a:srgbClr val="FFFFFF"/>
                    </a:solidFill>
                  </a:tcPr>
                </a:tc>
                <a:tc>
                  <a:txBody>
                    <a:bodyPr wrap="square"/>
                    <a:lstStyle/>
                    <a:p>
                      <a:pPr algn="l"/>
                      <a:r>
                        <a:rPr sz="1200" b="0" i="0">
                          <a:solidFill>
                            <a:srgbClr val="16222E"/>
                          </a:solidFill>
                          <a:latin typeface="Calibri"/>
                        </a:rPr>
                        <a:t>The pre-registered held-out sample: </a:t>
                      </a:r>
                      <a:r>
                        <a:rPr sz="1200" b="0" i="0">
                          <a:solidFill>
                            <a:srgbClr val="16222E"/>
                          </a:solidFill>
                          <a:latin typeface="Calibri"/>
                        </a:rPr>
                        <a:t>p</a:t>
                      </a:r>
                      <a:r>
                        <a:rPr sz="1200" b="0" i="0">
                          <a:solidFill>
                            <a:srgbClr val="16222E"/>
                          </a:solidFill>
                          <a:latin typeface="Calibri"/>
                        </a:rPr>
                        <a:t> becomes 0.21</a:t>
                      </a:r>
                    </a:p>
                  </a:txBody>
                  <a:tcPr marL="54864" marR="54864" marT="18288" marB="18288" anchor="ctr">
                    <a:solidFill>
                      <a:srgbClr val="FFFFFF"/>
                    </a:solidFill>
                  </a:tcPr>
                </a:tc>
              </a:tr>
              <a:tr h="310896">
                <a:tc>
                  <a:txBody>
                    <a:bodyPr wrap="square"/>
                    <a:lstStyle/>
                    <a:p>
                      <a:pPr algn="l"/>
                      <a:r>
                        <a:rPr sz="1200" b="0" i="0">
                          <a:solidFill>
                            <a:srgbClr val="16222E"/>
                          </a:solidFill>
                          <a:latin typeface="Calibri"/>
                        </a:rPr>
                        <a:t>A state-versus-independent censorship wedge</a:t>
                      </a:r>
                    </a:p>
                  </a:txBody>
                  <a:tcPr marL="54864" marR="54864" marT="18288" marB="18288" anchor="ctr">
                    <a:solidFill>
                      <a:srgbClr val="FFFFFF"/>
                    </a:solidFill>
                  </a:tcPr>
                </a:tc>
                <a:tc>
                  <a:txBody>
                    <a:bodyPr wrap="square"/>
                    <a:lstStyle/>
                    <a:p>
                      <a:pPr algn="l"/>
                      <a:r>
                        <a:rPr sz="1200" b="0" i="0">
                          <a:solidFill>
                            <a:srgbClr val="16222E"/>
                          </a:solidFill>
                          <a:latin typeface="Calibri"/>
                        </a:rPr>
                        <a:t>Correcting the outlet register: </a:t>
                      </a:r>
                      <a:r>
                        <a:rPr sz="1200" b="0" i="0">
                          <a:solidFill>
                            <a:srgbClr val="16222E"/>
                          </a:solidFill>
                          <a:latin typeface="Calibri"/>
                        </a:rPr>
                        <a:t>p = 0.561</a:t>
                      </a:r>
                    </a:p>
                  </a:txBody>
                  <a:tcPr marL="54864" marR="54864" marT="18288" marB="18288" anchor="ctr">
                    <a:solidFill>
                      <a:srgbClr val="FFFFFF"/>
                    </a:solidFill>
                  </a:tcPr>
                </a:tc>
              </a:tr>
            </a:tbl>
          </a:graphicData>
        </a:graphic>
      </p:graphicFrame>
      <p:sp>
        <p:nvSpPr>
          <p:cNvPr id="7" name="TextBox 6"/>
          <p:cNvSpPr txBox="1"/>
          <p:nvPr/>
        </p:nvSpPr>
        <p:spPr>
          <a:xfrm>
            <a:off x="566928" y="3675888"/>
            <a:ext cx="11057839" cy="475488"/>
          </a:xfrm>
          <a:prstGeom prst="rect">
            <a:avLst/>
          </a:prstGeom>
          <a:noFill/>
        </p:spPr>
        <p:txBody>
          <a:bodyPr wrap="square" lIns="0" rIns="0" tIns="0" bIns="0">
            <a:spAutoFit/>
          </a:bodyPr>
          <a:lstStyle/>
          <a:p>
            <a:pPr>
              <a:lnSpc>
                <a:spcPct val="100000"/>
              </a:lnSpc>
            </a:pPr>
            <a:r>
              <a:rPr sz="900" b="0" i="1">
                <a:solidFill>
                  <a:srgbClr val="5A6B7A"/>
                </a:solidFill>
                <a:latin typeface="Calibri"/>
              </a:rPr>
              <a:t>Notes: Each correction to the register moved the last one </a:t>
            </a:r>
            <a:r>
              <a:rPr sz="900" b="0" i="1">
                <a:solidFill>
                  <a:srgbClr val="5A6B7A"/>
                </a:solidFill>
                <a:latin typeface="Calibri"/>
              </a:rPr>
              <a:t>further</a:t>
            </a:r>
            <a:r>
              <a:rPr sz="900" b="0" i="1">
                <a:solidFill>
                  <a:srgbClr val="5A6B7A"/>
                </a:solidFill>
                <a:latin typeface="Calibri"/>
              </a:rPr>
              <a:t> from significance. None of the six is claimed as a result anywhere in the thesis.</a:t>
            </a:r>
          </a:p>
        </p:txBody>
      </p:sp>
      <p:sp>
        <p:nvSpPr>
          <p:cNvPr id="8" name="TextBox 7"/>
          <p:cNvSpPr txBox="1"/>
          <p:nvPr/>
        </p:nvSpPr>
        <p:spPr>
          <a:xfrm>
            <a:off x="566928" y="4224528"/>
            <a:ext cx="11057839" cy="2176272"/>
          </a:xfrm>
          <a:prstGeom prst="rect">
            <a:avLst/>
          </a:prstGeom>
          <a:noFill/>
        </p:spPr>
        <p:txBody>
          <a:bodyPr wrap="square" lIns="0" rIns="0" tIns="0" bIns="0">
            <a:spAutoFit/>
          </a:bodyPr>
          <a:lstStyle/>
          <a:p>
            <a:pPr>
              <a:lnSpc>
                <a:spcPct val="108000"/>
              </a:lnSpc>
              <a:spcAft>
                <a:spcPts val="744"/>
              </a:spcAft>
            </a:pPr>
            <a:r>
              <a:rPr sz="1200" b="0" i="0">
                <a:solidFill>
                  <a:srgbClr val="1F6FB2"/>
                </a:solidFill>
                <a:latin typeface="Calibri"/>
              </a:rPr>
              <a:t>▪  </a:t>
            </a:r>
            <a:r>
              <a:rPr sz="1200" b="0" i="0">
                <a:solidFill>
                  <a:srgbClr val="16222E"/>
                </a:solidFill>
                <a:latin typeface="Calibri"/>
              </a:rPr>
              <a:t>Each was significant at conventional levels, each admitted a plausible economic mechanism, and each survived at least one robustness check before failing another. </a:t>
            </a:r>
            <a:r>
              <a:rPr sz="1200" b="1" i="0">
                <a:solidFill>
                  <a:srgbClr val="16222E"/>
                </a:solidFill>
                <a:latin typeface="Calibri"/>
              </a:rPr>
              <a:t>The six failure modes are all different</a:t>
            </a:r>
            <a:r>
              <a:rPr sz="1200" b="0" i="0">
                <a:solidFill>
                  <a:srgbClr val="16222E"/>
                </a:solidFill>
                <a:latin typeface="Calibri"/>
              </a:rPr>
              <a:t> — two omitted variables, one truncated sample, one small sample, one in-sample split that did not generalise, one composition change.</a:t>
            </a:r>
          </a:p>
          <a:p>
            <a:pPr>
              <a:lnSpc>
                <a:spcPct val="108000"/>
              </a:lnSpc>
              <a:spcAft>
                <a:spcPts val="744"/>
              </a:spcAft>
            </a:pPr>
            <a:r>
              <a:rPr sz="1200" b="0" i="0">
                <a:solidFill>
                  <a:srgbClr val="1F6FB2"/>
                </a:solidFill>
                <a:latin typeface="Calibri"/>
              </a:rPr>
              <a:t>▪  </a:t>
            </a:r>
            <a:r>
              <a:rPr sz="1200" b="1" i="0">
                <a:solidFill>
                  <a:srgbClr val="16222E"/>
                </a:solidFill>
                <a:latin typeface="Calibri"/>
              </a:rPr>
              <a:t>In every case the eliminating test is one that a study reporting the positive would have had no particular reason to run.</a:t>
            </a:r>
            <a:r>
              <a:rPr sz="1200" b="0" i="0">
                <a:solidFill>
                  <a:srgbClr val="16222E"/>
                </a:solidFill>
                <a:latin typeface="Calibri"/>
              </a:rPr>
              <a:t> That is what bounds how much confidence a single significant specification warrants in this literature.</a:t>
            </a:r>
          </a:p>
          <a:p>
            <a:pPr>
              <a:lnSpc>
                <a:spcPct val="108000"/>
              </a:lnSpc>
              <a:spcAft>
                <a:spcPts val="744"/>
              </a:spcAft>
            </a:pPr>
            <a:r>
              <a:rPr sz="1200" b="0" i="0">
                <a:solidFill>
                  <a:srgbClr val="1F6FB2"/>
                </a:solidFill>
                <a:latin typeface="Calibri"/>
              </a:rPr>
              <a:t>▪  </a:t>
            </a:r>
            <a:r>
              <a:rPr sz="1200" b="0" i="0">
                <a:solidFill>
                  <a:srgbClr val="16222E"/>
                </a:solidFill>
                <a:latin typeface="Calibri"/>
              </a:rPr>
              <a:t>They are reported rather than suppressed because </a:t>
            </a:r>
            <a:r>
              <a:rPr sz="1200" b="1" i="0">
                <a:solidFill>
                  <a:srgbClr val="16222E"/>
                </a:solidFill>
                <a:latin typeface="Calibri"/>
              </a:rPr>
              <a:t>in a literature whose regressors are constructed from text, the set of choices under which a result survives is part of the result</a:t>
            </a:r>
            <a:r>
              <a:rPr sz="1200" b="0" i="0">
                <a:solidFill>
                  <a:srgbClr val="16222E"/>
                </a:solidFill>
                <a:latin typeface="Calibri"/>
              </a:rPr>
              <a:t> — and a null established against this background is considerably more informative than one obtained without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CONCLUSIONS</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Conclusions</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18 / 18</a:t>
            </a:r>
          </a:p>
        </p:txBody>
      </p:sp>
      <p:sp>
        <p:nvSpPr>
          <p:cNvPr id="6" name="TextBox 5"/>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744"/>
              </a:spcAft>
            </a:pPr>
            <a:r>
              <a:rPr sz="1200" b="0" i="0">
                <a:solidFill>
                  <a:srgbClr val="1F6FB2"/>
                </a:solidFill>
                <a:latin typeface="Calibri"/>
              </a:rPr>
              <a:t>▪  </a:t>
            </a:r>
            <a:r>
              <a:rPr sz="1200" b="1" i="0">
                <a:solidFill>
                  <a:srgbClr val="16222E"/>
                </a:solidFill>
                <a:latin typeface="Calibri"/>
              </a:rPr>
              <a:t>The answer.</a:t>
            </a:r>
            <a:r>
              <a:rPr sz="1200" b="0" i="0">
                <a:solidFill>
                  <a:srgbClr val="16222E"/>
                </a:solidFill>
                <a:latin typeface="Calibri"/>
              </a:rPr>
              <a:t> Local coverage provides no robust incremental information about defence-equity returns beyond what Western coverage already carries. It is a null, not a reversal — and it is not attributable to a design unable to detect media effects.</a:t>
            </a:r>
          </a:p>
          <a:p>
            <a:pPr>
              <a:lnSpc>
                <a:spcPct val="108000"/>
              </a:lnSpc>
              <a:spcAft>
                <a:spcPts val="744"/>
              </a:spcAft>
            </a:pPr>
            <a:r>
              <a:rPr sz="1200" b="0" i="0">
                <a:solidFill>
                  <a:srgbClr val="1F6FB2"/>
                </a:solidFill>
                <a:latin typeface="Calibri"/>
              </a:rPr>
              <a:t>▪  </a:t>
            </a:r>
            <a:r>
              <a:rPr sz="1200" b="1" i="0">
                <a:solidFill>
                  <a:srgbClr val="16222E"/>
                </a:solidFill>
                <a:latin typeface="Calibri"/>
              </a:rPr>
              <a:t>The implication beyond this conflict.</a:t>
            </a:r>
            <a:r>
              <a:rPr sz="1200" b="0" i="0">
                <a:solidFill>
                  <a:srgbClr val="16222E"/>
                </a:solidFill>
                <a:latin typeface="Calibri"/>
              </a:rPr>
              <a:t> Multilingual geopolitical-risk indicators are built on the premise that sources closer to an event carry information Anglophone coverage omits. Tested in close to the most favourable setting available — eleven years, the most intensively covered conflict in modern media history, an asset class whose valuation rests on it, local media at near-saturation coverage — </a:t>
            </a:r>
            <a:r>
              <a:rPr sz="1200" b="1" i="0">
                <a:solidFill>
                  <a:srgbClr val="16222E"/>
                </a:solidFill>
                <a:latin typeface="Calibri"/>
              </a:rPr>
              <a:t>the premise does not hold at either horizon at which the information could have been traded.</a:t>
            </a:r>
            <a:r>
              <a:rPr sz="1200" b="0" i="0">
                <a:solidFill>
                  <a:srgbClr val="16222E"/>
                </a:solidFill>
                <a:latin typeface="Calibri"/>
              </a:rPr>
              <a:t> It is not refuted in general. It cannot be assumed.</a:t>
            </a:r>
          </a:p>
          <a:p>
            <a:pPr>
              <a:lnSpc>
                <a:spcPct val="108000"/>
              </a:lnSpc>
              <a:spcAft>
                <a:spcPts val="744"/>
              </a:spcAft>
            </a:pPr>
            <a:r>
              <a:rPr sz="1200" b="0" i="0">
                <a:solidFill>
                  <a:srgbClr val="1F6FB2"/>
                </a:solidFill>
                <a:latin typeface="Calibri"/>
              </a:rPr>
              <a:t>▪  </a:t>
            </a:r>
            <a:r>
              <a:rPr sz="1200" b="1" i="0">
                <a:solidFill>
                  <a:srgbClr val="16222E"/>
                </a:solidFill>
                <a:latin typeface="Calibri"/>
              </a:rPr>
              <a:t>Limitations, stated as bounds.</a:t>
            </a:r>
            <a:r>
              <a:rPr sz="1200" b="0" i="0">
                <a:solidFill>
                  <a:srgbClr val="16222E"/>
                </a:solidFill>
                <a:latin typeface="Calibri"/>
              </a:rPr>
              <a:t> The coverage-share measure is close to a domestic-news filter for local outlets, so part of the null may be a ceiling — bounded by Gate 3, which is theme-based and returns the same null, and by local daily changes being two to four times as variable as Western ones. The design is associational, not causal. GDELT tone is dictionary-based. And daily aggregates cannot resolve intraday timing; only timestamped data could settle what the Gate 2 contrast means.</a:t>
            </a:r>
          </a:p>
          <a:p>
            <a:pPr>
              <a:lnSpc>
                <a:spcPct val="108000"/>
              </a:lnSpc>
              <a:spcAft>
                <a:spcPts val="744"/>
              </a:spcAft>
            </a:pPr>
            <a:r>
              <a:rPr sz="1200" b="0" i="0">
                <a:solidFill>
                  <a:srgbClr val="1F6FB2"/>
                </a:solidFill>
                <a:latin typeface="Calibri"/>
              </a:rPr>
              <a:t>▪  </a:t>
            </a:r>
            <a:r>
              <a:rPr sz="1200" b="1" i="0">
                <a:solidFill>
                  <a:srgbClr val="16222E"/>
                </a:solidFill>
                <a:latin typeface="Calibri"/>
              </a:rPr>
              <a:t>Extensions.</a:t>
            </a:r>
            <a:r>
              <a:rPr sz="1200" b="0" i="0">
                <a:solidFill>
                  <a:srgbClr val="16222E"/>
                </a:solidFill>
                <a:latin typeface="Calibri"/>
              </a:rPr>
              <a:t> Other conflicts — Israel–Hamas, the Taiwan Strait — to separate a general property of defence-equity pricing from a feature of this war. Intraday prices, at which the anticipated-versus-realised distinction becomes observable. And assets whose marginal investors are </a:t>
            </a:r>
            <a:r>
              <a:rPr sz="1200" b="1" i="0">
                <a:solidFill>
                  <a:srgbClr val="16222E"/>
                </a:solidFill>
                <a:latin typeface="Calibri"/>
              </a:rPr>
              <a:t>not</a:t>
            </a:r>
            <a:r>
              <a:rPr sz="1200" b="0" i="0">
                <a:solidFill>
                  <a:srgbClr val="16222E"/>
                </a:solidFill>
                <a:latin typeface="Calibri"/>
              </a:rPr>
              <a:t> Western, which is the sharpest available test of the proposition that each market prices the information ecosystem its own participants inhabit.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BACKUP</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The main specification, estimated</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19 / 18</a:t>
            </a:r>
          </a:p>
        </p:txBody>
      </p:sp>
      <p:graphicFrame>
        <p:nvGraphicFramePr>
          <p:cNvPr id="6" name="Table 5"/>
          <p:cNvGraphicFramePr>
            <a:graphicFrameLocks noGrp="1"/>
          </p:cNvGraphicFramePr>
          <p:nvPr/>
        </p:nvGraphicFramePr>
        <p:xfrm>
          <a:off x="566928" y="1426464"/>
          <a:ext cx="11057837" cy="3931920"/>
        </p:xfrm>
        <a:graphic>
          <a:graphicData uri="http://schemas.openxmlformats.org/drawingml/2006/table">
            <a:tbl>
              <a:tblPr>
                <a:tableStyleId>{5C22544A-7EE6-4342-B048-85BDC9FD1C3A}</a:tableStyleId>
              </a:tblPr>
              <a:tblGrid>
                <a:gridCol w="3923749"/>
                <a:gridCol w="1783522"/>
                <a:gridCol w="1783522"/>
                <a:gridCol w="1783522"/>
                <a:gridCol w="1783522"/>
              </a:tblGrid>
              <a:tr h="302455">
                <a:tc>
                  <a:txBody>
                    <a:bodyPr wrap="square"/>
                    <a:lstStyle/>
                    <a:p>
                      <a:pPr algn="l"/>
                    </a:p>
                  </a:txBody>
                  <a:tcPr marL="54864" marR="54864" marT="18288" marB="18288" anchor="ctr">
                    <a:solidFill>
                      <a:srgbClr val="F2F6F9"/>
                    </a:solidFill>
                  </a:tcPr>
                </a:tc>
                <a:tc>
                  <a:txBody>
                    <a:bodyPr wrap="square"/>
                    <a:lstStyle/>
                    <a:p>
                      <a:pPr algn="ctr"/>
                      <a:r>
                        <a:rPr sz="1000" b="1" i="0">
                          <a:solidFill>
                            <a:srgbClr val="1F6FB2"/>
                          </a:solidFill>
                          <a:latin typeface="Calibri"/>
                        </a:rPr>
                        <a:t>(1) Controls</a:t>
                      </a:r>
                    </a:p>
                  </a:txBody>
                  <a:tcPr marL="54864" marR="54864" marT="18288" marB="18288" anchor="ctr">
                    <a:solidFill>
                      <a:srgbClr val="F2F6F9"/>
                    </a:solidFill>
                  </a:tcPr>
                </a:tc>
                <a:tc>
                  <a:txBody>
                    <a:bodyPr wrap="square"/>
                    <a:lstStyle/>
                    <a:p>
                      <a:pPr algn="ctr"/>
                      <a:r>
                        <a:rPr sz="1000" b="1" i="0">
                          <a:solidFill>
                            <a:srgbClr val="1F6FB2"/>
                          </a:solidFill>
                          <a:latin typeface="Calibri"/>
                        </a:rPr>
                        <a:t>(2) +Western</a:t>
                      </a:r>
                    </a:p>
                  </a:txBody>
                  <a:tcPr marL="54864" marR="54864" marT="18288" marB="18288" anchor="ctr">
                    <a:solidFill>
                      <a:srgbClr val="F2F6F9"/>
                    </a:solidFill>
                  </a:tcPr>
                </a:tc>
                <a:tc>
                  <a:txBody>
                    <a:bodyPr wrap="square"/>
                    <a:lstStyle/>
                    <a:p>
                      <a:pPr algn="ctr"/>
                      <a:r>
                        <a:rPr sz="1000" b="1" i="0">
                          <a:solidFill>
                            <a:srgbClr val="1F6FB2"/>
                          </a:solidFill>
                          <a:latin typeface="Calibri"/>
                        </a:rPr>
                        <a:t>(3) +local, same-day</a:t>
                      </a:r>
                    </a:p>
                  </a:txBody>
                  <a:tcPr marL="54864" marR="54864" marT="18288" marB="18288" anchor="ctr">
                    <a:solidFill>
                      <a:srgbClr val="F2F6F9"/>
                    </a:solidFill>
                  </a:tcPr>
                </a:tc>
                <a:tc>
                  <a:txBody>
                    <a:bodyPr wrap="square"/>
                    <a:lstStyle/>
                    <a:p>
                      <a:pPr algn="ctr"/>
                      <a:r>
                        <a:rPr sz="1000" b="1" i="0">
                          <a:solidFill>
                            <a:srgbClr val="1F6FB2"/>
                          </a:solidFill>
                          <a:latin typeface="Calibri"/>
                        </a:rPr>
                        <a:t>(4) +local, lagged</a:t>
                      </a:r>
                    </a:p>
                  </a:txBody>
                  <a:tcPr marL="54864" marR="54864" marT="18288" marB="18288" anchor="ctr">
                    <a:solidFill>
                      <a:srgbClr val="F2F6F9"/>
                    </a:solidFill>
                  </a:tcPr>
                </a:tc>
              </a:tr>
              <a:tr h="302455">
                <a:tc>
                  <a:txBody>
                    <a:bodyPr wrap="square"/>
                    <a:lstStyle/>
                    <a:p>
                      <a:pPr algn="l"/>
                      <a:r>
                        <a:rPr sz="1000" b="0" i="0">
                          <a:solidFill>
                            <a:srgbClr val="16222E"/>
                          </a:solidFill>
                          <a:latin typeface="Calibri"/>
                        </a:rPr>
                        <a:t>Δ</a:t>
                      </a:r>
                      <a:r>
                        <a:rPr sz="1000" b="0" i="0">
                          <a:solidFill>
                            <a:srgbClr val="16222E"/>
                          </a:solidFill>
                          <a:latin typeface="Calibri"/>
                        </a:rPr>
                        <a:t> Ukrainian attention</a:t>
                      </a:r>
                    </a:p>
                  </a:txBody>
                  <a:tcPr marL="54864" marR="54864" marT="18288" marB="18288" anchor="ctr">
                    <a:solidFill>
                      <a:srgbClr val="FFFFFF"/>
                    </a:solidFill>
                  </a:tcPr>
                </a:tc>
                <a:tc>
                  <a:txBody>
                    <a:bodyPr wrap="square"/>
                    <a:lstStyle/>
                    <a:p>
                      <a:pPr algn="ctr"/>
                    </a:p>
                  </a:txBody>
                  <a:tcPr marL="54864" marR="54864" marT="18288" marB="18288" anchor="ctr">
                    <a:solidFill>
                      <a:srgbClr val="FFFFFF"/>
                    </a:solidFill>
                  </a:tcPr>
                </a:tc>
                <a:tc>
                  <a:txBody>
                    <a:bodyPr wrap="square"/>
                    <a:lstStyle/>
                    <a:p>
                      <a:pPr algn="ctr"/>
                    </a:p>
                  </a:txBody>
                  <a:tcPr marL="54864" marR="54864" marT="18288" marB="18288" anchor="ctr">
                    <a:solidFill>
                      <a:srgbClr val="FFFFFF"/>
                    </a:solidFill>
                  </a:tcPr>
                </a:tc>
                <a:tc>
                  <a:txBody>
                    <a:bodyPr wrap="square"/>
                    <a:lstStyle/>
                    <a:p>
                      <a:pPr algn="ctr"/>
                      <a:r>
                        <a:rPr sz="1000" b="0" i="0">
                          <a:solidFill>
                            <a:srgbClr val="16222E"/>
                          </a:solidFill>
                          <a:latin typeface="Calibri"/>
                        </a:rPr>
                        <a:t>0.009</a:t>
                      </a:r>
                    </a:p>
                  </a:txBody>
                  <a:tcPr marL="54864" marR="54864" marT="18288" marB="18288" anchor="ctr">
                    <a:solidFill>
                      <a:srgbClr val="FFFFFF"/>
                    </a:solidFill>
                  </a:tcPr>
                </a:tc>
                <a:tc>
                  <a:txBody>
                    <a:bodyPr wrap="square"/>
                    <a:lstStyle/>
                    <a:p>
                      <a:pPr algn="ctr"/>
                      <a:r>
                        <a:rPr sz="1000" b="0" i="0">
                          <a:solidFill>
                            <a:srgbClr val="16222E"/>
                          </a:solidFill>
                          <a:latin typeface="Calibri"/>
                        </a:rPr>
                        <a:t>−0.011</a:t>
                      </a:r>
                    </a:p>
                  </a:txBody>
                  <a:tcPr marL="54864" marR="54864" marT="18288" marB="18288" anchor="ctr">
                    <a:solidFill>
                      <a:srgbClr val="FFFFFF"/>
                    </a:solidFill>
                  </a:tcPr>
                </a:tc>
              </a:tr>
              <a:tr h="302455">
                <a:tc>
                  <a:txBody>
                    <a:bodyPr wrap="square"/>
                    <a:lstStyle/>
                    <a:p>
                      <a:pPr algn="l"/>
                      <a:r>
                        <a:rPr sz="1000" b="0" i="0">
                          <a:solidFill>
                            <a:srgbClr val="16222E"/>
                          </a:solidFill>
                          <a:latin typeface="Calibri"/>
                        </a:rPr>
                        <a:t>Δ</a:t>
                      </a:r>
                      <a:r>
                        <a:rPr sz="1000" b="0" i="0">
                          <a:solidFill>
                            <a:srgbClr val="16222E"/>
                          </a:solidFill>
                          <a:latin typeface="Calibri"/>
                        </a:rPr>
                        <a:t> Russian state attention</a:t>
                      </a:r>
                    </a:p>
                  </a:txBody>
                  <a:tcPr marL="54864" marR="54864" marT="18288" marB="18288" anchor="ctr">
                    <a:solidFill>
                      <a:srgbClr val="FFFFFF"/>
                    </a:solidFill>
                  </a:tcPr>
                </a:tc>
                <a:tc>
                  <a:txBody>
                    <a:bodyPr wrap="square"/>
                    <a:lstStyle/>
                    <a:p>
                      <a:pPr algn="ctr"/>
                    </a:p>
                  </a:txBody>
                  <a:tcPr marL="54864" marR="54864" marT="18288" marB="18288" anchor="ctr">
                    <a:solidFill>
                      <a:srgbClr val="FFFFFF"/>
                    </a:solidFill>
                  </a:tcPr>
                </a:tc>
                <a:tc>
                  <a:txBody>
                    <a:bodyPr wrap="square"/>
                    <a:lstStyle/>
                    <a:p>
                      <a:pPr algn="ctr"/>
                    </a:p>
                  </a:txBody>
                  <a:tcPr marL="54864" marR="54864" marT="18288" marB="18288" anchor="ctr">
                    <a:solidFill>
                      <a:srgbClr val="FFFFFF"/>
                    </a:solidFill>
                  </a:tcPr>
                </a:tc>
                <a:tc>
                  <a:txBody>
                    <a:bodyPr wrap="square"/>
                    <a:lstStyle/>
                    <a:p>
                      <a:pPr algn="ctr"/>
                      <a:r>
                        <a:rPr sz="1000" b="0" i="0">
                          <a:solidFill>
                            <a:srgbClr val="16222E"/>
                          </a:solidFill>
                          <a:latin typeface="Calibri"/>
                        </a:rPr>
                        <a:t>−0.001</a:t>
                      </a:r>
                    </a:p>
                  </a:txBody>
                  <a:tcPr marL="54864" marR="54864" marT="18288" marB="18288" anchor="ctr">
                    <a:solidFill>
                      <a:srgbClr val="FFFFFF"/>
                    </a:solidFill>
                  </a:tcPr>
                </a:tc>
                <a:tc>
                  <a:txBody>
                    <a:bodyPr wrap="square"/>
                    <a:lstStyle/>
                    <a:p>
                      <a:pPr algn="ctr"/>
                      <a:r>
                        <a:rPr sz="1000" b="0" i="0">
                          <a:solidFill>
                            <a:srgbClr val="16222E"/>
                          </a:solidFill>
                          <a:latin typeface="Calibri"/>
                        </a:rPr>
                        <a:t>−0.001</a:t>
                      </a:r>
                    </a:p>
                  </a:txBody>
                  <a:tcPr marL="54864" marR="54864" marT="18288" marB="18288" anchor="ctr">
                    <a:solidFill>
                      <a:srgbClr val="FFFFFF"/>
                    </a:solidFill>
                  </a:tcPr>
                </a:tc>
              </a:tr>
              <a:tr h="302455">
                <a:tc>
                  <a:txBody>
                    <a:bodyPr wrap="square"/>
                    <a:lstStyle/>
                    <a:p>
                      <a:pPr algn="l"/>
                      <a:r>
                        <a:rPr sz="1000" b="0" i="0">
                          <a:solidFill>
                            <a:srgbClr val="16222E"/>
                          </a:solidFill>
                          <a:latin typeface="Calibri"/>
                        </a:rPr>
                        <a:t>Δ</a:t>
                      </a:r>
                      <a:r>
                        <a:rPr sz="1000" b="0" i="0">
                          <a:solidFill>
                            <a:srgbClr val="16222E"/>
                          </a:solidFill>
                          <a:latin typeface="Calibri"/>
                        </a:rPr>
                        <a:t> Russian indep. attention</a:t>
                      </a:r>
                    </a:p>
                  </a:txBody>
                  <a:tcPr marL="54864" marR="54864" marT="18288" marB="18288" anchor="ctr">
                    <a:solidFill>
                      <a:srgbClr val="FFFFFF"/>
                    </a:solidFill>
                  </a:tcPr>
                </a:tc>
                <a:tc>
                  <a:txBody>
                    <a:bodyPr wrap="square"/>
                    <a:lstStyle/>
                    <a:p>
                      <a:pPr algn="ctr"/>
                    </a:p>
                  </a:txBody>
                  <a:tcPr marL="54864" marR="54864" marT="18288" marB="18288" anchor="ctr">
                    <a:solidFill>
                      <a:srgbClr val="FFFFFF"/>
                    </a:solidFill>
                  </a:tcPr>
                </a:tc>
                <a:tc>
                  <a:txBody>
                    <a:bodyPr wrap="square"/>
                    <a:lstStyle/>
                    <a:p>
                      <a:pPr algn="ctr"/>
                    </a:p>
                  </a:txBody>
                  <a:tcPr marL="54864" marR="54864" marT="18288" marB="18288" anchor="ctr">
                    <a:solidFill>
                      <a:srgbClr val="FFFFFF"/>
                    </a:solidFill>
                  </a:tcPr>
                </a:tc>
                <a:tc>
                  <a:txBody>
                    <a:bodyPr wrap="square"/>
                    <a:lstStyle/>
                    <a:p>
                      <a:pPr algn="ctr"/>
                      <a:r>
                        <a:rPr sz="1000" b="0" i="0">
                          <a:solidFill>
                            <a:srgbClr val="16222E"/>
                          </a:solidFill>
                          <a:latin typeface="Calibri"/>
                        </a:rPr>
                        <a:t>−0.125***</a:t>
                      </a:r>
                    </a:p>
                  </a:txBody>
                  <a:tcPr marL="54864" marR="54864" marT="18288" marB="18288" anchor="ctr">
                    <a:solidFill>
                      <a:srgbClr val="FFFFFF"/>
                    </a:solidFill>
                  </a:tcPr>
                </a:tc>
                <a:tc>
                  <a:txBody>
                    <a:bodyPr wrap="square"/>
                    <a:lstStyle/>
                    <a:p>
                      <a:pPr algn="ctr"/>
                      <a:r>
                        <a:rPr sz="1000" b="0" i="0">
                          <a:solidFill>
                            <a:srgbClr val="16222E"/>
                          </a:solidFill>
                          <a:latin typeface="Calibri"/>
                        </a:rPr>
                        <a:t>0.010</a:t>
                      </a:r>
                    </a:p>
                  </a:txBody>
                  <a:tcPr marL="54864" marR="54864" marT="18288" marB="18288" anchor="ctr">
                    <a:solidFill>
                      <a:srgbClr val="FFFFFF"/>
                    </a:solidFill>
                  </a:tcPr>
                </a:tc>
              </a:tr>
              <a:tr h="302455">
                <a:tc>
                  <a:txBody>
                    <a:bodyPr wrap="square"/>
                    <a:lstStyle/>
                    <a:p>
                      <a:pPr algn="l"/>
                      <a:r>
                        <a:rPr sz="1000" b="0" i="0">
                          <a:solidFill>
                            <a:srgbClr val="16222E"/>
                          </a:solidFill>
                          <a:latin typeface="Calibri"/>
                        </a:rPr>
                        <a:t>Δ</a:t>
                      </a:r>
                      <a:r>
                        <a:rPr sz="1000" b="0" i="0">
                          <a:solidFill>
                            <a:srgbClr val="16222E"/>
                          </a:solidFill>
                          <a:latin typeface="Calibri"/>
                        </a:rPr>
                        <a:t> Ukrainian tone</a:t>
                      </a:r>
                    </a:p>
                  </a:txBody>
                  <a:tcPr marL="54864" marR="54864" marT="18288" marB="18288" anchor="ctr">
                    <a:solidFill>
                      <a:srgbClr val="FFFFFF"/>
                    </a:solidFill>
                  </a:tcPr>
                </a:tc>
                <a:tc>
                  <a:txBody>
                    <a:bodyPr wrap="square"/>
                    <a:lstStyle/>
                    <a:p>
                      <a:pPr algn="ctr"/>
                    </a:p>
                  </a:txBody>
                  <a:tcPr marL="54864" marR="54864" marT="18288" marB="18288" anchor="ctr">
                    <a:solidFill>
                      <a:srgbClr val="FFFFFF"/>
                    </a:solidFill>
                  </a:tcPr>
                </a:tc>
                <a:tc>
                  <a:txBody>
                    <a:bodyPr wrap="square"/>
                    <a:lstStyle/>
                    <a:p>
                      <a:pPr algn="ctr"/>
                    </a:p>
                  </a:txBody>
                  <a:tcPr marL="54864" marR="54864" marT="18288" marB="18288" anchor="ctr">
                    <a:solidFill>
                      <a:srgbClr val="FFFFFF"/>
                    </a:solidFill>
                  </a:tcPr>
                </a:tc>
                <a:tc>
                  <a:txBody>
                    <a:bodyPr wrap="square"/>
                    <a:lstStyle/>
                    <a:p>
                      <a:pPr algn="ctr"/>
                      <a:r>
                        <a:rPr sz="1000" b="0" i="0">
                          <a:solidFill>
                            <a:srgbClr val="16222E"/>
                          </a:solidFill>
                          <a:latin typeface="Calibri"/>
                        </a:rPr>
                        <a:t>−0.073*</a:t>
                      </a:r>
                    </a:p>
                  </a:txBody>
                  <a:tcPr marL="54864" marR="54864" marT="18288" marB="18288" anchor="ctr">
                    <a:solidFill>
                      <a:srgbClr val="FFFFFF"/>
                    </a:solidFill>
                  </a:tcPr>
                </a:tc>
                <a:tc>
                  <a:txBody>
                    <a:bodyPr wrap="square"/>
                    <a:lstStyle/>
                    <a:p>
                      <a:pPr algn="ctr"/>
                      <a:r>
                        <a:rPr sz="1000" b="0" i="0">
                          <a:solidFill>
                            <a:srgbClr val="16222E"/>
                          </a:solidFill>
                          <a:latin typeface="Calibri"/>
                        </a:rPr>
                        <a:t>−0.038</a:t>
                      </a:r>
                    </a:p>
                  </a:txBody>
                  <a:tcPr marL="54864" marR="54864" marT="18288" marB="18288" anchor="ctr">
                    <a:solidFill>
                      <a:srgbClr val="FFFFFF"/>
                    </a:solidFill>
                  </a:tcPr>
                </a:tc>
              </a:tr>
              <a:tr h="302455">
                <a:tc>
                  <a:txBody>
                    <a:bodyPr wrap="square"/>
                    <a:lstStyle/>
                    <a:p>
                      <a:pPr algn="l"/>
                      <a:r>
                        <a:rPr sz="1000" b="0" i="0">
                          <a:solidFill>
                            <a:srgbClr val="16222E"/>
                          </a:solidFill>
                          <a:latin typeface="Calibri"/>
                        </a:rPr>
                        <a:t>Δ</a:t>
                      </a:r>
                      <a:r>
                        <a:rPr sz="1000" b="0" i="0">
                          <a:solidFill>
                            <a:srgbClr val="16222E"/>
                          </a:solidFill>
                          <a:latin typeface="Calibri"/>
                        </a:rPr>
                        <a:t> Russian state tone</a:t>
                      </a:r>
                    </a:p>
                  </a:txBody>
                  <a:tcPr marL="54864" marR="54864" marT="18288" marB="18288" anchor="ctr">
                    <a:solidFill>
                      <a:srgbClr val="FFFFFF"/>
                    </a:solidFill>
                  </a:tcPr>
                </a:tc>
                <a:tc>
                  <a:txBody>
                    <a:bodyPr wrap="square"/>
                    <a:lstStyle/>
                    <a:p>
                      <a:pPr algn="ctr"/>
                    </a:p>
                  </a:txBody>
                  <a:tcPr marL="54864" marR="54864" marT="18288" marB="18288" anchor="ctr">
                    <a:solidFill>
                      <a:srgbClr val="FFFFFF"/>
                    </a:solidFill>
                  </a:tcPr>
                </a:tc>
                <a:tc>
                  <a:txBody>
                    <a:bodyPr wrap="square"/>
                    <a:lstStyle/>
                    <a:p>
                      <a:pPr algn="ctr"/>
                    </a:p>
                  </a:txBody>
                  <a:tcPr marL="54864" marR="54864" marT="18288" marB="18288" anchor="ctr">
                    <a:solidFill>
                      <a:srgbClr val="FFFFFF"/>
                    </a:solidFill>
                  </a:tcPr>
                </a:tc>
                <a:tc>
                  <a:txBody>
                    <a:bodyPr wrap="square"/>
                    <a:lstStyle/>
                    <a:p>
                      <a:pPr algn="ctr"/>
                      <a:r>
                        <a:rPr sz="1000" b="0" i="0">
                          <a:solidFill>
                            <a:srgbClr val="16222E"/>
                          </a:solidFill>
                          <a:latin typeface="Calibri"/>
                        </a:rPr>
                        <a:t>0.127**</a:t>
                      </a:r>
                    </a:p>
                  </a:txBody>
                  <a:tcPr marL="54864" marR="54864" marT="18288" marB="18288" anchor="ctr">
                    <a:solidFill>
                      <a:srgbClr val="FFFFFF"/>
                    </a:solidFill>
                  </a:tcPr>
                </a:tc>
                <a:tc>
                  <a:txBody>
                    <a:bodyPr wrap="square"/>
                    <a:lstStyle/>
                    <a:p>
                      <a:pPr algn="ctr"/>
                      <a:r>
                        <a:rPr sz="1000" b="0" i="0">
                          <a:solidFill>
                            <a:srgbClr val="16222E"/>
                          </a:solidFill>
                          <a:latin typeface="Calibri"/>
                        </a:rPr>
                        <a:t>−0.055</a:t>
                      </a:r>
                    </a:p>
                  </a:txBody>
                  <a:tcPr marL="54864" marR="54864" marT="18288" marB="18288" anchor="ctr">
                    <a:solidFill>
                      <a:srgbClr val="FFFFFF"/>
                    </a:solidFill>
                  </a:tcPr>
                </a:tc>
              </a:tr>
              <a:tr h="302455">
                <a:tc>
                  <a:txBody>
                    <a:bodyPr wrap="square"/>
                    <a:lstStyle/>
                    <a:p>
                      <a:pPr algn="l"/>
                      <a:r>
                        <a:rPr sz="1000" b="0" i="0">
                          <a:solidFill>
                            <a:srgbClr val="16222E"/>
                          </a:solidFill>
                          <a:latin typeface="Calibri"/>
                        </a:rPr>
                        <a:t>Δ</a:t>
                      </a:r>
                      <a:r>
                        <a:rPr sz="1000" b="0" i="0">
                          <a:solidFill>
                            <a:srgbClr val="16222E"/>
                          </a:solidFill>
                          <a:latin typeface="Calibri"/>
                        </a:rPr>
                        <a:t> Russian indep. tone</a:t>
                      </a:r>
                    </a:p>
                  </a:txBody>
                  <a:tcPr marL="54864" marR="54864" marT="18288" marB="18288" anchor="ctr">
                    <a:solidFill>
                      <a:srgbClr val="FFFFFF"/>
                    </a:solidFill>
                  </a:tcPr>
                </a:tc>
                <a:tc>
                  <a:txBody>
                    <a:bodyPr wrap="square"/>
                    <a:lstStyle/>
                    <a:p>
                      <a:pPr algn="ctr"/>
                    </a:p>
                  </a:txBody>
                  <a:tcPr marL="54864" marR="54864" marT="18288" marB="18288" anchor="ctr">
                    <a:solidFill>
                      <a:srgbClr val="FFFFFF"/>
                    </a:solidFill>
                  </a:tcPr>
                </a:tc>
                <a:tc>
                  <a:txBody>
                    <a:bodyPr wrap="square"/>
                    <a:lstStyle/>
                    <a:p>
                      <a:pPr algn="ctr"/>
                    </a:p>
                  </a:txBody>
                  <a:tcPr marL="54864" marR="54864" marT="18288" marB="18288" anchor="ctr">
                    <a:solidFill>
                      <a:srgbClr val="FFFFFF"/>
                    </a:solidFill>
                  </a:tcPr>
                </a:tc>
                <a:tc>
                  <a:txBody>
                    <a:bodyPr wrap="square"/>
                    <a:lstStyle/>
                    <a:p>
                      <a:pPr algn="ctr"/>
                      <a:r>
                        <a:rPr sz="1000" b="0" i="0">
                          <a:solidFill>
                            <a:srgbClr val="16222E"/>
                          </a:solidFill>
                          <a:latin typeface="Calibri"/>
                        </a:rPr>
                        <a:t>0.033</a:t>
                      </a:r>
                    </a:p>
                  </a:txBody>
                  <a:tcPr marL="54864" marR="54864" marT="18288" marB="18288" anchor="ctr">
                    <a:solidFill>
                      <a:srgbClr val="FFFFFF"/>
                    </a:solidFill>
                  </a:tcPr>
                </a:tc>
                <a:tc>
                  <a:txBody>
                    <a:bodyPr wrap="square"/>
                    <a:lstStyle/>
                    <a:p>
                      <a:pPr algn="ctr"/>
                      <a:r>
                        <a:rPr sz="1000" b="0" i="0">
                          <a:solidFill>
                            <a:srgbClr val="16222E"/>
                          </a:solidFill>
                          <a:latin typeface="Calibri"/>
                        </a:rPr>
                        <a:t>−0.017</a:t>
                      </a:r>
                    </a:p>
                  </a:txBody>
                  <a:tcPr marL="54864" marR="54864" marT="18288" marB="18288" anchor="ctr">
                    <a:solidFill>
                      <a:srgbClr val="FFFFFF"/>
                    </a:solidFill>
                  </a:tcPr>
                </a:tc>
              </a:tr>
              <a:tr h="302455">
                <a:tc>
                  <a:txBody>
                    <a:bodyPr wrap="square"/>
                    <a:lstStyle/>
                    <a:p>
                      <a:pPr algn="l"/>
                      <a:r>
                        <a:rPr sz="1000" b="0" i="0">
                          <a:solidFill>
                            <a:srgbClr val="16222E"/>
                          </a:solidFill>
                          <a:latin typeface="Calibri"/>
                        </a:rPr>
                        <a:t>STOXX 600 return</a:t>
                      </a:r>
                    </a:p>
                  </a:txBody>
                  <a:tcPr marL="54864" marR="54864" marT="18288" marB="18288" anchor="ctr">
                    <a:solidFill>
                      <a:srgbClr val="FFFFFF"/>
                    </a:solidFill>
                  </a:tcPr>
                </a:tc>
                <a:tc>
                  <a:txBody>
                    <a:bodyPr wrap="square"/>
                    <a:lstStyle/>
                    <a:p>
                      <a:pPr algn="ctr"/>
                      <a:r>
                        <a:rPr sz="1000" b="0" i="0">
                          <a:solidFill>
                            <a:srgbClr val="16222E"/>
                          </a:solidFill>
                          <a:latin typeface="Calibri"/>
                        </a:rPr>
                        <a:t>0.925***</a:t>
                      </a:r>
                    </a:p>
                  </a:txBody>
                  <a:tcPr marL="54864" marR="54864" marT="18288" marB="18288" anchor="ctr">
                    <a:solidFill>
                      <a:srgbClr val="FFFFFF"/>
                    </a:solidFill>
                  </a:tcPr>
                </a:tc>
                <a:tc>
                  <a:txBody>
                    <a:bodyPr wrap="square"/>
                    <a:lstStyle/>
                    <a:p>
                      <a:pPr algn="ctr"/>
                      <a:r>
                        <a:rPr sz="1000" b="0" i="0">
                          <a:solidFill>
                            <a:srgbClr val="16222E"/>
                          </a:solidFill>
                          <a:latin typeface="Calibri"/>
                        </a:rPr>
                        <a:t>0.923***</a:t>
                      </a:r>
                    </a:p>
                  </a:txBody>
                  <a:tcPr marL="54864" marR="54864" marT="18288" marB="18288" anchor="ctr">
                    <a:solidFill>
                      <a:srgbClr val="FFFFFF"/>
                    </a:solidFill>
                  </a:tcPr>
                </a:tc>
                <a:tc>
                  <a:txBody>
                    <a:bodyPr wrap="square"/>
                    <a:lstStyle/>
                    <a:p>
                      <a:pPr algn="ctr"/>
                      <a:r>
                        <a:rPr sz="1000" b="0" i="0">
                          <a:solidFill>
                            <a:srgbClr val="16222E"/>
                          </a:solidFill>
                          <a:latin typeface="Calibri"/>
                        </a:rPr>
                        <a:t>0.927***</a:t>
                      </a:r>
                    </a:p>
                  </a:txBody>
                  <a:tcPr marL="54864" marR="54864" marT="18288" marB="18288" anchor="ctr">
                    <a:solidFill>
                      <a:srgbClr val="FFFFFF"/>
                    </a:solidFill>
                  </a:tcPr>
                </a:tc>
                <a:tc>
                  <a:txBody>
                    <a:bodyPr wrap="square"/>
                    <a:lstStyle/>
                    <a:p>
                      <a:pPr algn="ctr"/>
                      <a:r>
                        <a:rPr sz="1000" b="0" i="0">
                          <a:solidFill>
                            <a:srgbClr val="16222E"/>
                          </a:solidFill>
                          <a:latin typeface="Calibri"/>
                        </a:rPr>
                        <a:t>0.921***</a:t>
                      </a:r>
                    </a:p>
                  </a:txBody>
                  <a:tcPr marL="54864" marR="54864" marT="18288" marB="18288" anchor="ctr">
                    <a:solidFill>
                      <a:srgbClr val="FFFFFF"/>
                    </a:solidFill>
                  </a:tcPr>
                </a:tc>
              </a:tr>
              <a:tr h="302455">
                <a:tc>
                  <a:txBody>
                    <a:bodyPr wrap="square"/>
                    <a:lstStyle/>
                    <a:p>
                      <a:pPr algn="l"/>
                      <a:r>
                        <a:rPr sz="1000" b="0" i="0">
                          <a:solidFill>
                            <a:srgbClr val="16222E"/>
                          </a:solidFill>
                          <a:latin typeface="Calibri"/>
                        </a:rPr>
                        <a:t>Log VIX (lagged)</a:t>
                      </a:r>
                    </a:p>
                  </a:txBody>
                  <a:tcPr marL="54864" marR="54864" marT="18288" marB="18288" anchor="ctr">
                    <a:solidFill>
                      <a:srgbClr val="FFFFFF"/>
                    </a:solidFill>
                  </a:tcPr>
                </a:tc>
                <a:tc>
                  <a:txBody>
                    <a:bodyPr wrap="square"/>
                    <a:lstStyle/>
                    <a:p>
                      <a:pPr algn="ctr"/>
                      <a:r>
                        <a:rPr sz="1000" b="0" i="0">
                          <a:solidFill>
                            <a:srgbClr val="16222E"/>
                          </a:solidFill>
                          <a:latin typeface="Calibri"/>
                        </a:rPr>
                        <a:t>0.068</a:t>
                      </a:r>
                    </a:p>
                  </a:txBody>
                  <a:tcPr marL="54864" marR="54864" marT="18288" marB="18288" anchor="ctr">
                    <a:solidFill>
                      <a:srgbClr val="FFFFFF"/>
                    </a:solidFill>
                  </a:tcPr>
                </a:tc>
                <a:tc>
                  <a:txBody>
                    <a:bodyPr wrap="square"/>
                    <a:lstStyle/>
                    <a:p>
                      <a:pPr algn="ctr"/>
                      <a:r>
                        <a:rPr sz="1000" b="0" i="0">
                          <a:solidFill>
                            <a:srgbClr val="16222E"/>
                          </a:solidFill>
                          <a:latin typeface="Calibri"/>
                        </a:rPr>
                        <a:t>0.066</a:t>
                      </a:r>
                    </a:p>
                  </a:txBody>
                  <a:tcPr marL="54864" marR="54864" marT="18288" marB="18288" anchor="ctr">
                    <a:solidFill>
                      <a:srgbClr val="FFFFFF"/>
                    </a:solidFill>
                  </a:tcPr>
                </a:tc>
                <a:tc>
                  <a:txBody>
                    <a:bodyPr wrap="square"/>
                    <a:lstStyle/>
                    <a:p>
                      <a:pPr algn="ctr"/>
                      <a:r>
                        <a:rPr sz="1000" b="0" i="0">
                          <a:solidFill>
                            <a:srgbClr val="16222E"/>
                          </a:solidFill>
                          <a:latin typeface="Calibri"/>
                        </a:rPr>
                        <a:t>0.075</a:t>
                      </a:r>
                    </a:p>
                  </a:txBody>
                  <a:tcPr marL="54864" marR="54864" marT="18288" marB="18288" anchor="ctr">
                    <a:solidFill>
                      <a:srgbClr val="FFFFFF"/>
                    </a:solidFill>
                  </a:tcPr>
                </a:tc>
                <a:tc>
                  <a:txBody>
                    <a:bodyPr wrap="square"/>
                    <a:lstStyle/>
                    <a:p>
                      <a:pPr algn="ctr"/>
                      <a:r>
                        <a:rPr sz="1000" b="0" i="0">
                          <a:solidFill>
                            <a:srgbClr val="16222E"/>
                          </a:solidFill>
                          <a:latin typeface="Calibri"/>
                        </a:rPr>
                        <a:t>0.066</a:t>
                      </a:r>
                    </a:p>
                  </a:txBody>
                  <a:tcPr marL="54864" marR="54864" marT="18288" marB="18288" anchor="ctr">
                    <a:solidFill>
                      <a:srgbClr val="FFFFFF"/>
                    </a:solidFill>
                  </a:tcPr>
                </a:tc>
              </a:tr>
              <a:tr h="302455">
                <a:tc>
                  <a:txBody>
                    <a:bodyPr wrap="square"/>
                    <a:lstStyle/>
                    <a:p>
                      <a:pPr algn="l"/>
                      <a:r>
                        <a:rPr sz="1000" b="0" i="0">
                          <a:solidFill>
                            <a:srgbClr val="16222E"/>
                          </a:solidFill>
                          <a:latin typeface="Calibri"/>
                        </a:rPr>
                        <a:t>Observations</a:t>
                      </a:r>
                    </a:p>
                  </a:txBody>
                  <a:tcPr marL="54864" marR="54864" marT="18288" marB="18288" anchor="ctr">
                    <a:solidFill>
                      <a:srgbClr val="FFFFFF"/>
                    </a:solidFill>
                  </a:tcPr>
                </a:tc>
                <a:tc>
                  <a:txBody>
                    <a:bodyPr wrap="square"/>
                    <a:lstStyle/>
                    <a:p>
                      <a:pPr algn="ctr"/>
                      <a:r>
                        <a:rPr sz="1000" b="0" i="0">
                          <a:solidFill>
                            <a:srgbClr val="16222E"/>
                          </a:solidFill>
                          <a:latin typeface="Calibri"/>
                        </a:rPr>
                        <a:t>921</a:t>
                      </a:r>
                    </a:p>
                  </a:txBody>
                  <a:tcPr marL="54864" marR="54864" marT="18288" marB="18288" anchor="ctr">
                    <a:solidFill>
                      <a:srgbClr val="FFFFFF"/>
                    </a:solidFill>
                  </a:tcPr>
                </a:tc>
                <a:tc>
                  <a:txBody>
                    <a:bodyPr wrap="square"/>
                    <a:lstStyle/>
                    <a:p>
                      <a:pPr algn="ctr"/>
                      <a:r>
                        <a:rPr sz="1000" b="0" i="0">
                          <a:solidFill>
                            <a:srgbClr val="16222E"/>
                          </a:solidFill>
                          <a:latin typeface="Calibri"/>
                        </a:rPr>
                        <a:t>921</a:t>
                      </a:r>
                    </a:p>
                  </a:txBody>
                  <a:tcPr marL="54864" marR="54864" marT="18288" marB="18288" anchor="ctr">
                    <a:solidFill>
                      <a:srgbClr val="FFFFFF"/>
                    </a:solidFill>
                  </a:tcPr>
                </a:tc>
                <a:tc>
                  <a:txBody>
                    <a:bodyPr wrap="square"/>
                    <a:lstStyle/>
                    <a:p>
                      <a:pPr algn="ctr"/>
                      <a:r>
                        <a:rPr sz="1000" b="0" i="0">
                          <a:solidFill>
                            <a:srgbClr val="16222E"/>
                          </a:solidFill>
                          <a:latin typeface="Calibri"/>
                        </a:rPr>
                        <a:t>921</a:t>
                      </a:r>
                    </a:p>
                  </a:txBody>
                  <a:tcPr marL="54864" marR="54864" marT="18288" marB="18288" anchor="ctr">
                    <a:solidFill>
                      <a:srgbClr val="FFFFFF"/>
                    </a:solidFill>
                  </a:tcPr>
                </a:tc>
                <a:tc>
                  <a:txBody>
                    <a:bodyPr wrap="square"/>
                    <a:lstStyle/>
                    <a:p>
                      <a:pPr algn="ctr"/>
                      <a:r>
                        <a:rPr sz="1000" b="0" i="0">
                          <a:solidFill>
                            <a:srgbClr val="16222E"/>
                          </a:solidFill>
                          <a:latin typeface="Calibri"/>
                        </a:rPr>
                        <a:t>921</a:t>
                      </a:r>
                    </a:p>
                  </a:txBody>
                  <a:tcPr marL="54864" marR="54864" marT="18288" marB="18288" anchor="ctr">
                    <a:solidFill>
                      <a:srgbClr val="FFFFFF"/>
                    </a:solidFill>
                  </a:tcPr>
                </a:tc>
              </a:tr>
              <a:tr h="302455">
                <a:tc>
                  <a:txBody>
                    <a:bodyPr wrap="square"/>
                    <a:lstStyle/>
                    <a:p>
                      <a:pPr algn="l"/>
                      <a:r>
                        <a:rPr sz="1000" b="0" i="0">
                          <a:solidFill>
                            <a:srgbClr val="16222E"/>
                          </a:solidFill>
                          <a:latin typeface="Calibri"/>
                        </a:rPr>
                        <a:t>R²</a:t>
                      </a:r>
                    </a:p>
                  </a:txBody>
                  <a:tcPr marL="54864" marR="54864" marT="18288" marB="18288" anchor="ctr">
                    <a:solidFill>
                      <a:srgbClr val="FFFFFF"/>
                    </a:solidFill>
                  </a:tcPr>
                </a:tc>
                <a:tc>
                  <a:txBody>
                    <a:bodyPr wrap="square"/>
                    <a:lstStyle/>
                    <a:p>
                      <a:pPr algn="ctr"/>
                      <a:r>
                        <a:rPr sz="1000" b="0" i="0">
                          <a:solidFill>
                            <a:srgbClr val="16222E"/>
                          </a:solidFill>
                          <a:latin typeface="Calibri"/>
                        </a:rPr>
                        <a:t>0.348</a:t>
                      </a:r>
                    </a:p>
                  </a:txBody>
                  <a:tcPr marL="54864" marR="54864" marT="18288" marB="18288" anchor="ctr">
                    <a:solidFill>
                      <a:srgbClr val="FFFFFF"/>
                    </a:solidFill>
                  </a:tcPr>
                </a:tc>
                <a:tc>
                  <a:txBody>
                    <a:bodyPr wrap="square"/>
                    <a:lstStyle/>
                    <a:p>
                      <a:pPr algn="ctr"/>
                      <a:r>
                        <a:rPr sz="1000" b="0" i="0">
                          <a:solidFill>
                            <a:srgbClr val="16222E"/>
                          </a:solidFill>
                          <a:latin typeface="Calibri"/>
                        </a:rPr>
                        <a:t>0.351</a:t>
                      </a:r>
                    </a:p>
                  </a:txBody>
                  <a:tcPr marL="54864" marR="54864" marT="18288" marB="18288" anchor="ctr">
                    <a:solidFill>
                      <a:srgbClr val="FFFFFF"/>
                    </a:solidFill>
                  </a:tcPr>
                </a:tc>
                <a:tc>
                  <a:txBody>
                    <a:bodyPr wrap="square"/>
                    <a:lstStyle/>
                    <a:p>
                      <a:pPr algn="ctr"/>
                      <a:r>
                        <a:rPr sz="1000" b="0" i="0">
                          <a:solidFill>
                            <a:srgbClr val="16222E"/>
                          </a:solidFill>
                          <a:latin typeface="Calibri"/>
                        </a:rPr>
                        <a:t>0.365</a:t>
                      </a:r>
                    </a:p>
                  </a:txBody>
                  <a:tcPr marL="54864" marR="54864" marT="18288" marB="18288" anchor="ctr">
                    <a:solidFill>
                      <a:srgbClr val="FFFFFF"/>
                    </a:solidFill>
                  </a:tcPr>
                </a:tc>
                <a:tc>
                  <a:txBody>
                    <a:bodyPr wrap="square"/>
                    <a:lstStyle/>
                    <a:p>
                      <a:pPr algn="ctr"/>
                      <a:r>
                        <a:rPr sz="1000" b="0" i="0">
                          <a:solidFill>
                            <a:srgbClr val="16222E"/>
                          </a:solidFill>
                          <a:latin typeface="Calibri"/>
                        </a:rPr>
                        <a:t>0.354</a:t>
                      </a:r>
                    </a:p>
                  </a:txBody>
                  <a:tcPr marL="54864" marR="54864" marT="18288" marB="18288" anchor="ctr">
                    <a:solidFill>
                      <a:srgbClr val="FFFFFF"/>
                    </a:solidFill>
                  </a:tcPr>
                </a:tc>
              </a:tr>
              <a:tr h="302455">
                <a:tc>
                  <a:txBody>
                    <a:bodyPr wrap="square"/>
                    <a:lstStyle/>
                    <a:p>
                      <a:pPr algn="l"/>
                      <a:r>
                        <a:rPr sz="1000" b="0" i="0">
                          <a:solidFill>
                            <a:srgbClr val="16222E"/>
                          </a:solidFill>
                          <a:latin typeface="Calibri"/>
                        </a:rPr>
                        <a:t>p</a:t>
                      </a:r>
                      <a:r>
                        <a:rPr sz="1000" b="0" i="0">
                          <a:solidFill>
                            <a:srgbClr val="16222E"/>
                          </a:solidFill>
                          <a:latin typeface="Calibri"/>
                        </a:rPr>
                        <a:t>, local block jointly zero</a:t>
                      </a:r>
                    </a:p>
                  </a:txBody>
                  <a:tcPr marL="54864" marR="54864" marT="18288" marB="18288" anchor="ctr">
                    <a:solidFill>
                      <a:srgbClr val="FFFFFF"/>
                    </a:solidFill>
                  </a:tcPr>
                </a:tc>
                <a:tc>
                  <a:txBody>
                    <a:bodyPr wrap="square"/>
                    <a:lstStyle/>
                    <a:p>
                      <a:pPr algn="ctr"/>
                      <a:r>
                        <a:rPr sz="1000" b="0" i="0">
                          <a:solidFill>
                            <a:srgbClr val="16222E"/>
                          </a:solidFill>
                          <a:latin typeface="Calibri"/>
                        </a:rPr>
                        <a:t>—</a:t>
                      </a:r>
                    </a:p>
                  </a:txBody>
                  <a:tcPr marL="54864" marR="54864" marT="18288" marB="18288" anchor="ctr">
                    <a:solidFill>
                      <a:srgbClr val="FFFFFF"/>
                    </a:solidFill>
                  </a:tcPr>
                </a:tc>
                <a:tc>
                  <a:txBody>
                    <a:bodyPr wrap="square"/>
                    <a:lstStyle/>
                    <a:p>
                      <a:pPr algn="ctr"/>
                      <a:r>
                        <a:rPr sz="1000" b="0" i="0">
                          <a:solidFill>
                            <a:srgbClr val="16222E"/>
                          </a:solidFill>
                          <a:latin typeface="Calibri"/>
                        </a:rPr>
                        <a:t>—</a:t>
                      </a:r>
                    </a:p>
                  </a:txBody>
                  <a:tcPr marL="54864" marR="54864" marT="18288" marB="18288" anchor="ctr">
                    <a:solidFill>
                      <a:srgbClr val="FFFFFF"/>
                    </a:solidFill>
                  </a:tcPr>
                </a:tc>
                <a:tc>
                  <a:txBody>
                    <a:bodyPr wrap="square"/>
                    <a:lstStyle/>
                    <a:p>
                      <a:pPr algn="ctr"/>
                      <a:r>
                        <a:rPr sz="1000" b="1" i="0">
                          <a:solidFill>
                            <a:srgbClr val="16222E"/>
                          </a:solidFill>
                          <a:latin typeface="Calibri"/>
                        </a:rPr>
                        <a:t>0.003</a:t>
                      </a:r>
                    </a:p>
                  </a:txBody>
                  <a:tcPr marL="54864" marR="54864" marT="18288" marB="18288" anchor="ctr">
                    <a:solidFill>
                      <a:srgbClr val="FFFFFF"/>
                    </a:solidFill>
                  </a:tcPr>
                </a:tc>
                <a:tc>
                  <a:txBody>
                    <a:bodyPr wrap="square"/>
                    <a:lstStyle/>
                    <a:p>
                      <a:pPr algn="ctr"/>
                      <a:r>
                        <a:rPr sz="1000" b="0" i="0">
                          <a:solidFill>
                            <a:srgbClr val="16222E"/>
                          </a:solidFill>
                          <a:latin typeface="Calibri"/>
                        </a:rPr>
                        <a:t>0.734</a:t>
                      </a:r>
                    </a:p>
                  </a:txBody>
                  <a:tcPr marL="54864" marR="54864" marT="18288" marB="18288" anchor="ctr">
                    <a:solidFill>
                      <a:srgbClr val="FFFFFF"/>
                    </a:solidFill>
                  </a:tcPr>
                </a:tc>
              </a:tr>
              <a:tr h="302460">
                <a:tc>
                  <a:txBody>
                    <a:bodyPr wrap="square"/>
                    <a:lstStyle/>
                    <a:p>
                      <a:pPr algn="l"/>
                      <a:r>
                        <a:rPr sz="1000" b="0" i="0">
                          <a:solidFill>
                            <a:srgbClr val="16222E"/>
                          </a:solidFill>
                          <a:latin typeface="Calibri"/>
                        </a:rPr>
                        <a:t>p</a:t>
                      </a:r>
                      <a:r>
                        <a:rPr sz="1000" b="0" i="0">
                          <a:solidFill>
                            <a:srgbClr val="16222E"/>
                          </a:solidFill>
                          <a:latin typeface="Calibri"/>
                        </a:rPr>
                        <a:t>, Western block jointly zero</a:t>
                      </a:r>
                    </a:p>
                  </a:txBody>
                  <a:tcPr marL="54864" marR="54864" marT="18288" marB="18288" anchor="ctr">
                    <a:solidFill>
                      <a:srgbClr val="FFFFFF"/>
                    </a:solidFill>
                  </a:tcPr>
                </a:tc>
                <a:tc>
                  <a:txBody>
                    <a:bodyPr wrap="square"/>
                    <a:lstStyle/>
                    <a:p>
                      <a:pPr algn="ctr"/>
                      <a:r>
                        <a:rPr sz="1000" b="0" i="0">
                          <a:solidFill>
                            <a:srgbClr val="16222E"/>
                          </a:solidFill>
                          <a:latin typeface="Calibri"/>
                        </a:rPr>
                        <a:t>—</a:t>
                      </a:r>
                    </a:p>
                  </a:txBody>
                  <a:tcPr marL="54864" marR="54864" marT="18288" marB="18288" anchor="ctr">
                    <a:solidFill>
                      <a:srgbClr val="FFFFFF"/>
                    </a:solidFill>
                  </a:tcPr>
                </a:tc>
                <a:tc>
                  <a:txBody>
                    <a:bodyPr wrap="square"/>
                    <a:lstStyle/>
                    <a:p>
                      <a:pPr algn="ctr"/>
                      <a:r>
                        <a:rPr sz="1000" b="0" i="0">
                          <a:solidFill>
                            <a:srgbClr val="16222E"/>
                          </a:solidFill>
                          <a:latin typeface="Calibri"/>
                        </a:rPr>
                        <a:t>0.333</a:t>
                      </a:r>
                    </a:p>
                  </a:txBody>
                  <a:tcPr marL="54864" marR="54864" marT="18288" marB="18288" anchor="ctr">
                    <a:solidFill>
                      <a:srgbClr val="FFFFFF"/>
                    </a:solidFill>
                  </a:tcPr>
                </a:tc>
                <a:tc>
                  <a:txBody>
                    <a:bodyPr wrap="square"/>
                    <a:lstStyle/>
                    <a:p>
                      <a:pPr algn="ctr"/>
                      <a:r>
                        <a:rPr sz="1000" b="0" i="0">
                          <a:solidFill>
                            <a:srgbClr val="16222E"/>
                          </a:solidFill>
                          <a:latin typeface="Calibri"/>
                        </a:rPr>
                        <a:t>0.688</a:t>
                      </a:r>
                    </a:p>
                  </a:txBody>
                  <a:tcPr marL="54864" marR="54864" marT="18288" marB="18288" anchor="ctr">
                    <a:solidFill>
                      <a:srgbClr val="FFFFFF"/>
                    </a:solidFill>
                  </a:tcPr>
                </a:tc>
                <a:tc>
                  <a:txBody>
                    <a:bodyPr wrap="square"/>
                    <a:lstStyle/>
                    <a:p>
                      <a:pPr algn="ctr"/>
                      <a:r>
                        <a:rPr sz="1000" b="0" i="0">
                          <a:solidFill>
                            <a:srgbClr val="16222E"/>
                          </a:solidFill>
                          <a:latin typeface="Calibri"/>
                        </a:rPr>
                        <a:t>0.177</a:t>
                      </a:r>
                    </a:p>
                  </a:txBody>
                  <a:tcPr marL="54864" marR="54864" marT="18288" marB="18288" anchor="ctr">
                    <a:solidFill>
                      <a:srgbClr val="FFFFFF"/>
                    </a:solidFill>
                  </a:tcPr>
                </a:tc>
              </a:tr>
            </a:tbl>
          </a:graphicData>
        </a:graphic>
      </p:graphicFrame>
      <p:sp>
        <p:nvSpPr>
          <p:cNvPr id="7" name="TextBox 6"/>
          <p:cNvSpPr txBox="1"/>
          <p:nvPr/>
        </p:nvSpPr>
        <p:spPr>
          <a:xfrm>
            <a:off x="566928" y="5431536"/>
            <a:ext cx="11057839" cy="475488"/>
          </a:xfrm>
          <a:prstGeom prst="rect">
            <a:avLst/>
          </a:prstGeom>
          <a:noFill/>
        </p:spPr>
        <p:txBody>
          <a:bodyPr wrap="square" lIns="0" rIns="0" tIns="0" bIns="0">
            <a:spAutoFit/>
          </a:bodyPr>
          <a:lstStyle/>
          <a:p>
            <a:pPr>
              <a:lnSpc>
                <a:spcPct val="100000"/>
              </a:lnSpc>
            </a:pPr>
            <a:r>
              <a:rPr sz="900" b="0" i="1">
                <a:solidFill>
                  <a:srgbClr val="5A6B7A"/>
                </a:solidFill>
                <a:latin typeface="Calibri"/>
              </a:rPr>
              <a:t>Notes: Dependent variable: daily percentage return on BSHIELDT, over the 921 days on which it trades and all five news series exist. News regressors are standardised first differences, so a coefficient is the return change per one-standard-deviation move. Western-block coefficients omitted for space; none is significant. Newey–West HAC(5). Stars: 1%, 5%, 10%.</a:t>
            </a:r>
          </a:p>
        </p:txBody>
      </p:sp>
      <p:sp>
        <p:nvSpPr>
          <p:cNvPr id="8" name="TextBox 7"/>
          <p:cNvSpPr txBox="1"/>
          <p:nvPr/>
        </p:nvSpPr>
        <p:spPr>
          <a:xfrm>
            <a:off x="566928" y="5980176"/>
            <a:ext cx="11057839" cy="420624"/>
          </a:xfrm>
          <a:prstGeom prst="rect">
            <a:avLst/>
          </a:prstGeom>
          <a:noFill/>
        </p:spPr>
        <p:txBody>
          <a:bodyPr wrap="square" lIns="0" rIns="0" tIns="0" bIns="0">
            <a:spAutoFit/>
          </a:bodyPr>
          <a:lstStyle/>
          <a:p>
            <a:pPr>
              <a:lnSpc>
                <a:spcPct val="108000"/>
              </a:lnSpc>
              <a:spcAft>
                <a:spcPts val="806"/>
              </a:spcAft>
            </a:pPr>
            <a:r>
              <a:rPr sz="1300" b="0" i="0">
                <a:solidFill>
                  <a:srgbClr val="1F6FB2"/>
                </a:solidFill>
                <a:latin typeface="Calibri"/>
              </a:rPr>
              <a:t>▪  </a:t>
            </a:r>
            <a:r>
              <a:rPr sz="1300" b="0" i="0">
                <a:solidFill>
                  <a:srgbClr val="16222E"/>
                </a:solidFill>
                <a:latin typeface="Calibri"/>
              </a:rPr>
              <a:t>Column (3) against column (4) is the whole story in one cell: the local block is jointly significant same-day at </a:t>
            </a:r>
            <a:r>
              <a:rPr sz="1300" b="1" i="0">
                <a:solidFill>
                  <a:srgbClr val="16222E"/>
                </a:solidFill>
                <a:latin typeface="Calibri"/>
              </a:rPr>
              <a:t>p = 0.003</a:t>
            </a:r>
            <a:r>
              <a:rPr sz="1300" b="0" i="0">
                <a:solidFill>
                  <a:srgbClr val="16222E"/>
                </a:solidFill>
                <a:latin typeface="Calibri"/>
              </a:rPr>
              <a:t>, and jointly indistinguishable from zero at </a:t>
            </a:r>
            <a:r>
              <a:rPr sz="1300" b="1" i="0">
                <a:solidFill>
                  <a:srgbClr val="16222E"/>
                </a:solidFill>
                <a:latin typeface="Calibri"/>
              </a:rPr>
              <a:t>p = 0.734</a:t>
            </a:r>
            <a:r>
              <a:rPr sz="1300" b="0" i="0">
                <a:solidFill>
                  <a:srgbClr val="16222E"/>
                </a:solidFill>
                <a:latin typeface="Calibri"/>
              </a:rPr>
              <a:t> once lagged by one trading day.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BACKUP</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Does the classification rule drive the result?</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20 / 18</a:t>
            </a:r>
          </a:p>
        </p:txBody>
      </p:sp>
      <p:sp>
        <p:nvSpPr>
          <p:cNvPr id="6" name="TextBox 5"/>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868"/>
              </a:spcAft>
            </a:pPr>
            <a:r>
              <a:rPr sz="1400" b="0" i="0">
                <a:solidFill>
                  <a:srgbClr val="1F6FB2"/>
                </a:solidFill>
                <a:latin typeface="Calibri"/>
              </a:rPr>
              <a:t>▪  </a:t>
            </a:r>
            <a:r>
              <a:rPr sz="1400" b="0" i="0">
                <a:solidFill>
                  <a:srgbClr val="16222E"/>
                </a:solidFill>
                <a:latin typeface="Calibri"/>
              </a:rPr>
              <a:t>Five rules are run through the full 31-cell grid: the </a:t>
            </a:r>
            <a:r>
              <a:rPr sz="1400" b="1" i="0">
                <a:solidFill>
                  <a:srgbClr val="16222E"/>
                </a:solidFill>
                <a:latin typeface="Calibri"/>
              </a:rPr>
              <a:t>baseline</a:t>
            </a:r>
            <a:r>
              <a:rPr sz="1400" b="0" i="0">
                <a:solidFill>
                  <a:srgbClr val="16222E"/>
                </a:solidFill>
                <a:latin typeface="Calibri"/>
              </a:rPr>
              <a:t>; </a:t>
            </a:r>
            <a:r>
              <a:rPr sz="1400" b="1" i="0">
                <a:solidFill>
                  <a:srgbClr val="16222E"/>
                </a:solidFill>
                <a:latin typeface="Calibri"/>
              </a:rPr>
              <a:t>register-only</a:t>
            </a:r>
            <a:r>
              <a:rPr sz="1400" b="0" i="0">
                <a:solidFill>
                  <a:srgbClr val="16222E"/>
                </a:solidFill>
                <a:latin typeface="Calibri"/>
              </a:rPr>
              <a:t>, dropping the ccTLD and language tiers; </a:t>
            </a:r>
            <a:r>
              <a:rPr sz="1400" b="1" i="0">
                <a:solidFill>
                  <a:srgbClr val="16222E"/>
                </a:solidFill>
                <a:latin typeface="Calibri"/>
              </a:rPr>
              <a:t>no language tier</a:t>
            </a:r>
            <a:r>
              <a:rPr sz="1400" b="0" i="0">
                <a:solidFill>
                  <a:srgbClr val="16222E"/>
                </a:solidFill>
                <a:latin typeface="Calibri"/>
              </a:rPr>
              <a:t>; </a:t>
            </a:r>
            <a:r>
              <a:rPr sz="1400" b="1" i="0">
                <a:solidFill>
                  <a:srgbClr val="16222E"/>
                </a:solidFill>
                <a:latin typeface="Calibri"/>
              </a:rPr>
              <a:t>language-first</a:t>
            </a:r>
            <a:r>
              <a:rPr sz="1400" b="0" i="0">
                <a:solidFill>
                  <a:srgbClr val="16222E"/>
                </a:solidFill>
                <a:latin typeface="Calibri"/>
              </a:rPr>
              <a:t>; and one </a:t>
            </a:r>
            <a:r>
              <a:rPr sz="1400" b="1" i="0">
                <a:solidFill>
                  <a:srgbClr val="16222E"/>
                </a:solidFill>
                <a:latin typeface="Calibri"/>
              </a:rPr>
              <a:t>retaining news aggregators</a:t>
            </a:r>
            <a:r>
              <a:rPr sz="1400" b="0" i="0">
                <a:solidFill>
                  <a:srgbClr val="16222E"/>
                </a:solidFill>
                <a:latin typeface="Calibri"/>
              </a:rPr>
              <a:t>.</a:t>
            </a:r>
          </a:p>
          <a:p>
            <a:pPr>
              <a:lnSpc>
                <a:spcPct val="108000"/>
              </a:lnSpc>
              <a:spcAft>
                <a:spcPts val="868"/>
              </a:spcAft>
            </a:pPr>
            <a:r>
              <a:rPr sz="1400" b="0" i="0">
                <a:solidFill>
                  <a:srgbClr val="1F6FB2"/>
                </a:solidFill>
                <a:latin typeface="Calibri"/>
              </a:rPr>
              <a:t>▪  </a:t>
            </a:r>
            <a:r>
              <a:rPr sz="1400" b="1" i="0">
                <a:solidFill>
                  <a:srgbClr val="16222E"/>
                </a:solidFill>
                <a:latin typeface="Calibri"/>
              </a:rPr>
              <a:t>The local-block verdict is unchanged under all five</a:t>
            </a:r>
            <a:r>
              <a:rPr sz="1400" b="0" i="0">
                <a:solidFill>
                  <a:srgbClr val="16222E"/>
                </a:solidFill>
                <a:latin typeface="Calibri"/>
              </a:rPr>
              <a:t> — one or two survivors of 31 under the primary alignment in every variant.</a:t>
            </a:r>
          </a:p>
          <a:p>
            <a:pPr>
              <a:lnSpc>
                <a:spcPct val="108000"/>
              </a:lnSpc>
              <a:spcAft>
                <a:spcPts val="868"/>
              </a:spcAft>
            </a:pPr>
            <a:r>
              <a:rPr sz="1400" b="0" i="0">
                <a:solidFill>
                  <a:srgbClr val="1F6FB2"/>
                </a:solidFill>
                <a:latin typeface="Calibri"/>
              </a:rPr>
              <a:t>▪  </a:t>
            </a:r>
            <a:r>
              <a:rPr sz="1400" b="1" i="0">
                <a:solidFill>
                  <a:srgbClr val="16222E"/>
                </a:solidFill>
                <a:latin typeface="Calibri"/>
              </a:rPr>
              <a:t>Language-first is the informative failure.</a:t>
            </a:r>
            <a:r>
              <a:rPr sz="1400" b="0" i="0">
                <a:solidFill>
                  <a:srgbClr val="16222E"/>
                </a:solidFill>
                <a:latin typeface="Calibri"/>
              </a:rPr>
              <a:t> Because the language tier claims Russian-language articles before ownership is consulted, it produces </a:t>
            </a:r>
            <a:r>
              <a:rPr sz="1400" b="1" i="0">
                <a:solidFill>
                  <a:srgbClr val="16222E"/>
                </a:solidFill>
                <a:latin typeface="Calibri"/>
              </a:rPr>
              <a:t>no Russian independent block at all</a:t>
            </a:r>
            <a:r>
              <a:rPr sz="1400" b="0" i="0">
                <a:solidFill>
                  <a:srgbClr val="16222E"/>
                </a:solidFill>
                <a:latin typeface="Calibri"/>
              </a:rPr>
              <a:t>. That is the concrete cost of getting the country-before-language rule wrong, and it is why the rule is stated as a rule rather than applied case by case.</a:t>
            </a:r>
          </a:p>
          <a:p>
            <a:pPr>
              <a:lnSpc>
                <a:spcPct val="108000"/>
              </a:lnSpc>
              <a:spcAft>
                <a:spcPts val="868"/>
              </a:spcAft>
            </a:pPr>
            <a:r>
              <a:rPr sz="1400" b="0" i="0">
                <a:solidFill>
                  <a:srgbClr val="1F6FB2"/>
                </a:solidFill>
                <a:latin typeface="Calibri"/>
              </a:rPr>
              <a:t>▪  </a:t>
            </a:r>
            <a:r>
              <a:rPr sz="1400" b="0" i="0">
                <a:solidFill>
                  <a:srgbClr val="16222E"/>
                </a:solidFill>
                <a:latin typeface="Calibri"/>
              </a:rPr>
              <a:t>Three outlets were in fact misfiled under the state-broadcaster rule before it was written down — which is why that rule is stated in both directions.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BACKUP</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Why the regional market control is decisive</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21 / 18</a:t>
            </a:r>
          </a:p>
        </p:txBody>
      </p:sp>
      <p:sp>
        <p:nvSpPr>
          <p:cNvPr id="6" name="TextBox 5"/>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868"/>
              </a:spcAft>
            </a:pPr>
            <a:r>
              <a:rPr sz="1400" b="0" i="0">
                <a:solidFill>
                  <a:srgbClr val="1F6FB2"/>
                </a:solidFill>
                <a:latin typeface="Calibri"/>
              </a:rPr>
              <a:t>▪  </a:t>
            </a:r>
            <a:r>
              <a:rPr sz="1400" b="0" i="0">
                <a:solidFill>
                  <a:srgbClr val="16222E"/>
                </a:solidFill>
                <a:latin typeface="Calibri"/>
              </a:rPr>
              <a:t>Controlling European defence returns with the S&amp;P 500 is superficially reasonable — the two markets are highly correlated over long horizons.</a:t>
            </a:r>
          </a:p>
          <a:p>
            <a:pPr>
              <a:lnSpc>
                <a:spcPct val="108000"/>
              </a:lnSpc>
              <a:spcAft>
                <a:spcPts val="868"/>
              </a:spcAft>
            </a:pPr>
            <a:r>
              <a:rPr sz="1400" b="0" i="0">
                <a:solidFill>
                  <a:srgbClr val="1F6FB2"/>
                </a:solidFill>
                <a:latin typeface="Calibri"/>
              </a:rPr>
              <a:t>▪  </a:t>
            </a:r>
            <a:r>
              <a:rPr sz="1400" b="1" i="0">
                <a:solidFill>
                  <a:srgbClr val="16222E"/>
                </a:solidFill>
                <a:latin typeface="Calibri"/>
              </a:rPr>
              <a:t>Over the build-up window their correlation is only 0.409.</a:t>
            </a:r>
            <a:r>
              <a:rPr sz="1400" b="0" i="0">
                <a:solidFill>
                  <a:srgbClr val="16222E"/>
                </a:solidFill>
                <a:latin typeface="Calibri"/>
              </a:rPr>
              <a:t> A US control therefore leaves a substantial component of ordinary European market variation in the residual.</a:t>
            </a:r>
          </a:p>
          <a:p>
            <a:pPr>
              <a:lnSpc>
                <a:spcPct val="108000"/>
              </a:lnSpc>
              <a:spcAft>
                <a:spcPts val="868"/>
              </a:spcAft>
            </a:pPr>
            <a:r>
              <a:rPr sz="1400" b="0" i="0">
                <a:solidFill>
                  <a:srgbClr val="1F6FB2"/>
                </a:solidFill>
                <a:latin typeface="Calibri"/>
              </a:rPr>
              <a:t>▪  </a:t>
            </a:r>
            <a:r>
              <a:rPr sz="1400" b="1" i="0">
                <a:solidFill>
                  <a:srgbClr val="16222E"/>
                </a:solidFill>
                <a:latin typeface="Calibri"/>
              </a:rPr>
              <a:t>That residual correlates 0.26 with the threat measure being tested</a:t>
            </a:r>
            <a:r>
              <a:rPr sz="1400" b="0" i="0">
                <a:solidFill>
                  <a:srgbClr val="16222E"/>
                </a:solidFill>
                <a:latin typeface="Calibri"/>
              </a:rPr>
              <a:t>, so the omitted regional factor loads onto the variable of interest.</a:t>
            </a:r>
          </a:p>
          <a:p>
            <a:pPr>
              <a:lnSpc>
                <a:spcPct val="108000"/>
              </a:lnSpc>
              <a:spcAft>
                <a:spcPts val="868"/>
              </a:spcAft>
            </a:pPr>
            <a:r>
              <a:rPr sz="1400" b="0" i="0">
                <a:solidFill>
                  <a:srgbClr val="1F6FB2"/>
                </a:solidFill>
                <a:latin typeface="Calibri"/>
              </a:rPr>
              <a:t>▪  </a:t>
            </a:r>
            <a:r>
              <a:rPr sz="1400" b="0" i="0">
                <a:solidFill>
                  <a:srgbClr val="16222E"/>
                </a:solidFill>
                <a:latin typeface="Calibri"/>
              </a:rPr>
              <a:t>The consequence: a build-up threat effect significant at </a:t>
            </a:r>
            <a:r>
              <a:rPr sz="1400" b="1" i="0">
                <a:solidFill>
                  <a:srgbClr val="16222E"/>
                </a:solidFill>
                <a:latin typeface="Calibri"/>
              </a:rPr>
              <a:t>p = 0.0001</a:t>
            </a:r>
            <a:r>
              <a:rPr sz="1400" b="0" i="0">
                <a:solidFill>
                  <a:srgbClr val="16222E"/>
                </a:solidFill>
                <a:latin typeface="Calibri"/>
              </a:rPr>
              <a:t> under the S&amp;P 500 control becomes </a:t>
            </a:r>
            <a:r>
              <a:rPr sz="1400" b="1" i="0">
                <a:solidFill>
                  <a:srgbClr val="16222E"/>
                </a:solidFill>
                <a:latin typeface="Calibri"/>
              </a:rPr>
              <a:t>p = 0.84</a:t>
            </a:r>
            <a:r>
              <a:rPr sz="1400" b="0" i="0">
                <a:solidFill>
                  <a:srgbClr val="16222E"/>
                </a:solidFill>
                <a:latin typeface="Calibri"/>
              </a:rPr>
              <a:t> under the STOXX 600. Two of the six dissolved results share this single cause.</a:t>
            </a:r>
          </a:p>
          <a:p>
            <a:pPr>
              <a:lnSpc>
                <a:spcPct val="108000"/>
              </a:lnSpc>
              <a:spcAft>
                <a:spcPts val="868"/>
              </a:spcAft>
            </a:pPr>
            <a:r>
              <a:rPr sz="1400" b="0" i="0">
                <a:solidFill>
                  <a:srgbClr val="1F6FB2"/>
                </a:solidFill>
                <a:latin typeface="Calibri"/>
              </a:rPr>
              <a:t>▪  </a:t>
            </a:r>
            <a:r>
              <a:rPr sz="1400" b="0" i="0">
                <a:solidFill>
                  <a:srgbClr val="16222E"/>
                </a:solidFill>
                <a:latin typeface="Calibri"/>
              </a:rPr>
              <a:t>Every regression in the thesis therefore uses the regional market return appropriate to its target: STOXX 600 for European targets, S&amp;P 500 for global and US ones.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BACKUP</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Why Clark–West and not Diebold–Mariano</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22 / 18</a:t>
            </a:r>
          </a:p>
        </p:txBody>
      </p:sp>
      <p:sp>
        <p:nvSpPr>
          <p:cNvPr id="6" name="TextBox 5"/>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868"/>
              </a:spcAft>
            </a:pPr>
            <a:r>
              <a:rPr sz="1400" b="0" i="0">
                <a:solidFill>
                  <a:srgbClr val="1F6FB2"/>
                </a:solidFill>
                <a:latin typeface="Calibri"/>
              </a:rPr>
              <a:t>▪  </a:t>
            </a:r>
            <a:r>
              <a:rPr sz="1400" b="0" i="0">
                <a:solidFill>
                  <a:srgbClr val="16222E"/>
                </a:solidFill>
                <a:latin typeface="Calibri"/>
              </a:rPr>
              <a:t>Forecast-accuracy comparisons in this literature are most often reported with the </a:t>
            </a:r>
            <a:r>
              <a:rPr sz="1400" b="1" i="0">
                <a:solidFill>
                  <a:srgbClr val="16222E"/>
                </a:solidFill>
                <a:latin typeface="Calibri"/>
              </a:rPr>
              <a:t>Diebold–Mariano</a:t>
            </a:r>
            <a:r>
              <a:rPr sz="1400" b="0" i="0">
                <a:solidFill>
                  <a:srgbClr val="16222E"/>
                </a:solidFill>
                <a:latin typeface="Calibri"/>
              </a:rPr>
              <a:t> statistic (1995). It is not valid here.</a:t>
            </a:r>
          </a:p>
          <a:p>
            <a:pPr>
              <a:lnSpc>
                <a:spcPct val="108000"/>
              </a:lnSpc>
              <a:spcAft>
                <a:spcPts val="868"/>
              </a:spcAft>
            </a:pPr>
            <a:r>
              <a:rPr sz="1400" b="0" i="0">
                <a:solidFill>
                  <a:srgbClr val="1F6FB2"/>
                </a:solidFill>
                <a:latin typeface="Calibri"/>
              </a:rPr>
              <a:t>▪  </a:t>
            </a:r>
            <a:r>
              <a:rPr sz="1400" b="0" i="0">
                <a:solidFill>
                  <a:srgbClr val="16222E"/>
                </a:solidFill>
                <a:latin typeface="Calibri"/>
              </a:rPr>
              <a:t>Each of the 50 specifications compares the historical mean </a:t>
            </a:r>
            <a:r>
              <a:rPr sz="1400" b="1" i="0">
                <a:solidFill>
                  <a:srgbClr val="16222E"/>
                </a:solidFill>
                <a:latin typeface="Calibri"/>
              </a:rPr>
              <a:t>augmented with one perception predictor</a:t>
            </a:r>
            <a:r>
              <a:rPr sz="1400" b="0" i="0">
                <a:solidFill>
                  <a:srgbClr val="16222E"/>
                </a:solidFill>
                <a:latin typeface="Calibri"/>
              </a:rPr>
              <a:t> against the historical mean alone. Setting that predictor's coefficient to zero recovers the benchmark exactly, so </a:t>
            </a:r>
            <a:r>
              <a:rPr sz="1400" b="1" i="0">
                <a:solidFill>
                  <a:srgbClr val="16222E"/>
                </a:solidFill>
                <a:latin typeface="Calibri"/>
              </a:rPr>
              <a:t>the benchmark is nested within the model</a:t>
            </a:r>
            <a:r>
              <a:rPr sz="1400" b="0" i="0">
                <a:solidFill>
                  <a:srgbClr val="16222E"/>
                </a:solidFill>
                <a:latin typeface="Calibri"/>
              </a:rPr>
              <a:t>.</a:t>
            </a:r>
          </a:p>
          <a:p>
            <a:pPr>
              <a:lnSpc>
                <a:spcPct val="108000"/>
              </a:lnSpc>
              <a:spcAft>
                <a:spcPts val="868"/>
              </a:spcAft>
            </a:pPr>
            <a:r>
              <a:rPr sz="1400" b="0" i="0">
                <a:solidFill>
                  <a:srgbClr val="1F6FB2"/>
                </a:solidFill>
                <a:latin typeface="Calibri"/>
              </a:rPr>
              <a:t>▪  </a:t>
            </a:r>
            <a:r>
              <a:rPr sz="1400" b="0" i="0">
                <a:solidFill>
                  <a:srgbClr val="16222E"/>
                </a:solidFill>
                <a:latin typeface="Calibri"/>
              </a:rPr>
              <a:t>Under nesting, DM has </a:t>
            </a:r>
            <a:r>
              <a:rPr sz="1400" b="1" i="0">
                <a:solidFill>
                  <a:srgbClr val="16222E"/>
                </a:solidFill>
                <a:latin typeface="Calibri"/>
              </a:rPr>
              <a:t>no standard normal limiting distribution</a:t>
            </a:r>
            <a:r>
              <a:rPr sz="1400" b="0" i="0">
                <a:solidFill>
                  <a:srgbClr val="16222E"/>
                </a:solidFill>
                <a:latin typeface="Calibri"/>
              </a:rPr>
              <a:t> and is </a:t>
            </a:r>
            <a:r>
              <a:rPr sz="1400" b="1" i="0">
                <a:solidFill>
                  <a:srgbClr val="16222E"/>
                </a:solidFill>
                <a:latin typeface="Calibri"/>
              </a:rPr>
              <a:t>biased against the larger model</a:t>
            </a:r>
            <a:r>
              <a:rPr sz="1400" b="0" i="0">
                <a:solidFill>
                  <a:srgbClr val="16222E"/>
                </a:solidFill>
                <a:latin typeface="Calibri"/>
              </a:rPr>
              <a:t> even when its additional predictor carries genuine information — so a DM-based null here would be partly an artefact of the statistic.</a:t>
            </a:r>
          </a:p>
          <a:p>
            <a:pPr>
              <a:lnSpc>
                <a:spcPct val="108000"/>
              </a:lnSpc>
              <a:spcAft>
                <a:spcPts val="868"/>
              </a:spcAft>
            </a:pPr>
            <a:r>
              <a:rPr sz="1400" b="0" i="0">
                <a:solidFill>
                  <a:srgbClr val="1F6FB2"/>
                </a:solidFill>
                <a:latin typeface="Calibri"/>
              </a:rPr>
              <a:t>▪  </a:t>
            </a:r>
            <a:r>
              <a:rPr sz="1400" b="1" i="0">
                <a:solidFill>
                  <a:srgbClr val="16222E"/>
                </a:solidFill>
                <a:latin typeface="Calibri"/>
              </a:rPr>
              <a:t>Clark and West (2007)</a:t>
            </a:r>
            <a:r>
              <a:rPr sz="1400" b="0" i="0">
                <a:solidFill>
                  <a:srgbClr val="16222E"/>
                </a:solidFill>
                <a:latin typeface="Calibri"/>
              </a:rPr>
              <a:t> correct for the estimation noise that nesting introduces, giving a statistic that is valid in this setting and one-sided in the direction of improvement.</a:t>
            </a:r>
          </a:p>
          <a:p>
            <a:pPr>
              <a:lnSpc>
                <a:spcPct val="108000"/>
              </a:lnSpc>
              <a:spcAft>
                <a:spcPts val="868"/>
              </a:spcAft>
            </a:pPr>
            <a:r>
              <a:rPr sz="1400" b="0" i="0">
                <a:solidFill>
                  <a:srgbClr val="1F6FB2"/>
                </a:solidFill>
                <a:latin typeface="Calibri"/>
              </a:rPr>
              <a:t>▪  </a:t>
            </a:r>
            <a:r>
              <a:rPr sz="1400" b="0" i="0">
                <a:solidFill>
                  <a:srgbClr val="16222E"/>
                </a:solidFill>
                <a:latin typeface="Calibri"/>
              </a:rPr>
              <a:t>Diebold–Mariano with the Harvey et al. (1997) small-sample correction is retained for genuinely non-nested comparisons. In the code the two are separate functions, so the distinction cannot be flagged away.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BACKUP</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Return forecasting race, by information set</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23 / 18</a:t>
            </a:r>
          </a:p>
        </p:txBody>
      </p:sp>
      <p:graphicFrame>
        <p:nvGraphicFramePr>
          <p:cNvPr id="6" name="Table 5"/>
          <p:cNvGraphicFramePr>
            <a:graphicFrameLocks noGrp="1"/>
          </p:cNvGraphicFramePr>
          <p:nvPr/>
        </p:nvGraphicFramePr>
        <p:xfrm>
          <a:off x="566928" y="1426464"/>
          <a:ext cx="11057836" cy="2487168"/>
        </p:xfrm>
        <a:graphic>
          <a:graphicData uri="http://schemas.openxmlformats.org/drawingml/2006/table">
            <a:tbl>
              <a:tblPr>
                <a:tableStyleId>{5C22544A-7EE6-4342-B048-85BDC9FD1C3A}</a:tableStyleId>
              </a:tblPr>
              <a:tblGrid>
                <a:gridCol w="2896100"/>
                <a:gridCol w="2896100"/>
                <a:gridCol w="1316409"/>
                <a:gridCol w="1316409"/>
                <a:gridCol w="1316409"/>
                <a:gridCol w="1316409"/>
              </a:tblGrid>
              <a:tr h="310896">
                <a:tc>
                  <a:txBody>
                    <a:bodyPr wrap="square"/>
                    <a:lstStyle/>
                    <a:p>
                      <a:pPr algn="l"/>
                      <a:r>
                        <a:rPr sz="1000" b="1" i="0">
                          <a:solidFill>
                            <a:srgbClr val="1F6FB2"/>
                          </a:solidFill>
                          <a:latin typeface="Calibri"/>
                        </a:rPr>
                        <a:t>Set</a:t>
                      </a:r>
                    </a:p>
                  </a:txBody>
                  <a:tcPr marL="54864" marR="54864" marT="18288" marB="18288" anchor="ctr">
                    <a:solidFill>
                      <a:srgbClr val="F2F6F9"/>
                    </a:solidFill>
                  </a:tcPr>
                </a:tc>
                <a:tc>
                  <a:txBody>
                    <a:bodyPr wrap="square"/>
                    <a:lstStyle/>
                    <a:p>
                      <a:pPr algn="l"/>
                      <a:r>
                        <a:rPr sz="1000" b="1" i="0">
                          <a:solidFill>
                            <a:srgbClr val="1F6FB2"/>
                          </a:solidFill>
                          <a:latin typeface="Calibri"/>
                        </a:rPr>
                        <a:t>Contents</a:t>
                      </a:r>
                    </a:p>
                  </a:txBody>
                  <a:tcPr marL="54864" marR="54864" marT="18288" marB="18288" anchor="ctr">
                    <a:solidFill>
                      <a:srgbClr val="F2F6F9"/>
                    </a:solidFill>
                  </a:tcPr>
                </a:tc>
                <a:tc>
                  <a:txBody>
                    <a:bodyPr wrap="square"/>
                    <a:lstStyle/>
                    <a:p>
                      <a:pPr algn="ctr"/>
                      <a:r>
                        <a:rPr sz="1000" b="1" i="0">
                          <a:solidFill>
                            <a:srgbClr val="1F6FB2"/>
                          </a:solidFill>
                          <a:latin typeface="Calibri"/>
                        </a:rPr>
                        <a:t>Specs</a:t>
                      </a:r>
                    </a:p>
                  </a:txBody>
                  <a:tcPr marL="54864" marR="54864" marT="18288" marB="18288" anchor="ctr">
                    <a:solidFill>
                      <a:srgbClr val="F2F6F9"/>
                    </a:solidFill>
                  </a:tcPr>
                </a:tc>
                <a:tc>
                  <a:txBody>
                    <a:bodyPr wrap="square"/>
                    <a:lstStyle/>
                    <a:p>
                      <a:pPr algn="ctr"/>
                      <a:r>
                        <a:rPr sz="1000" b="1" i="0">
                          <a:solidFill>
                            <a:srgbClr val="1F6FB2"/>
                          </a:solidFill>
                          <a:latin typeface="Calibri"/>
                        </a:rPr>
                        <a:t>R²_OS &gt; 0</a:t>
                      </a:r>
                    </a:p>
                  </a:txBody>
                  <a:tcPr marL="54864" marR="54864" marT="18288" marB="18288" anchor="ctr">
                    <a:solidFill>
                      <a:srgbClr val="F2F6F9"/>
                    </a:solidFill>
                  </a:tcPr>
                </a:tc>
                <a:tc>
                  <a:txBody>
                    <a:bodyPr wrap="square"/>
                    <a:lstStyle/>
                    <a:p>
                      <a:pPr algn="ctr"/>
                      <a:r>
                        <a:rPr sz="1000" b="1" i="0">
                          <a:solidFill>
                            <a:srgbClr val="1F6FB2"/>
                          </a:solidFill>
                          <a:latin typeface="Calibri"/>
                        </a:rPr>
                        <a:t>Best </a:t>
                      </a:r>
                      <a:r>
                        <a:rPr sz="1000" b="1" i="0">
                          <a:solidFill>
                            <a:srgbClr val="1F6FB2"/>
                          </a:solidFill>
                          <a:latin typeface="Calibri"/>
                        </a:rPr>
                        <a:t>R²_OS</a:t>
                      </a:r>
                    </a:p>
                  </a:txBody>
                  <a:tcPr marL="54864" marR="54864" marT="18288" marB="18288" anchor="ctr">
                    <a:solidFill>
                      <a:srgbClr val="F2F6F9"/>
                    </a:solidFill>
                  </a:tcPr>
                </a:tc>
                <a:tc>
                  <a:txBody>
                    <a:bodyPr wrap="square"/>
                    <a:lstStyle/>
                    <a:p>
                      <a:pPr algn="ctr"/>
                      <a:r>
                        <a:rPr sz="1000" b="1" i="0">
                          <a:solidFill>
                            <a:srgbClr val="1F6FB2"/>
                          </a:solidFill>
                          <a:latin typeface="Calibri"/>
                        </a:rPr>
                        <a:t>BH surv.</a:t>
                      </a:r>
                    </a:p>
                  </a:txBody>
                  <a:tcPr marL="54864" marR="54864" marT="18288" marB="18288" anchor="ctr">
                    <a:solidFill>
                      <a:srgbClr val="F2F6F9"/>
                    </a:solidFill>
                  </a:tcPr>
                </a:tc>
              </a:tr>
              <a:tr h="310896">
                <a:tc>
                  <a:txBody>
                    <a:bodyPr wrap="square"/>
                    <a:lstStyle/>
                    <a:p>
                      <a:pPr algn="l"/>
                      <a:r>
                        <a:rPr sz="1000" b="0" i="0">
                          <a:solidFill>
                            <a:srgbClr val="16222E"/>
                          </a:solidFill>
                          <a:latin typeface="Calibri"/>
                        </a:rPr>
                        <a:t>F</a:t>
                      </a:r>
                    </a:p>
                  </a:txBody>
                  <a:tcPr marL="54864" marR="54864" marT="18288" marB="18288" anchor="ctr">
                    <a:solidFill>
                      <a:srgbClr val="FFFFFF"/>
                    </a:solidFill>
                  </a:tcPr>
                </a:tc>
                <a:tc>
                  <a:txBody>
                    <a:bodyPr wrap="square"/>
                    <a:lstStyle/>
                    <a:p>
                      <a:pPr algn="l"/>
                      <a:r>
                        <a:rPr sz="1000" b="0" i="0">
                          <a:solidFill>
                            <a:srgbClr val="16222E"/>
                          </a:solidFill>
                          <a:latin typeface="Calibri"/>
                        </a:rPr>
                        <a:t>Financial controls only</a:t>
                      </a:r>
                    </a:p>
                  </a:txBody>
                  <a:tcPr marL="54864" marR="54864" marT="18288" marB="18288" anchor="ctr">
                    <a:solidFill>
                      <a:srgbClr val="FFFFFF"/>
                    </a:solidFill>
                  </a:tcPr>
                </a:tc>
                <a:tc>
                  <a:txBody>
                    <a:bodyPr wrap="square"/>
                    <a:lstStyle/>
                    <a:p>
                      <a:pPr algn="ctr"/>
                      <a:r>
                        <a:rPr sz="1000" b="0" i="0">
                          <a:solidFill>
                            <a:srgbClr val="16222E"/>
                          </a:solidFill>
                          <a:latin typeface="Calibri"/>
                        </a:rPr>
                        <a:t>24</a:t>
                      </a:r>
                    </a:p>
                  </a:txBody>
                  <a:tcPr marL="54864" marR="54864" marT="18288" marB="18288" anchor="ctr">
                    <a:solidFill>
                      <a:srgbClr val="FFFFFF"/>
                    </a:solidFill>
                  </a:tcPr>
                </a:tc>
                <a:tc>
                  <a:txBody>
                    <a:bodyPr wrap="square"/>
                    <a:lstStyle/>
                    <a:p>
                      <a:pPr algn="ctr"/>
                      <a:r>
                        <a:rPr sz="1000" b="0" i="0">
                          <a:solidFill>
                            <a:srgbClr val="16222E"/>
                          </a:solidFill>
                          <a:latin typeface="Calibri"/>
                        </a:rPr>
                        <a:t>1</a:t>
                      </a:r>
                    </a:p>
                  </a:txBody>
                  <a:tcPr marL="54864" marR="54864" marT="18288" marB="18288" anchor="ctr">
                    <a:solidFill>
                      <a:srgbClr val="FFFFFF"/>
                    </a:solidFill>
                  </a:tcPr>
                </a:tc>
                <a:tc>
                  <a:txBody>
                    <a:bodyPr wrap="square"/>
                    <a:lstStyle/>
                    <a:p>
                      <a:pPr algn="ctr"/>
                      <a:r>
                        <a:rPr sz="1000" b="0" i="0">
                          <a:solidFill>
                            <a:srgbClr val="16222E"/>
                          </a:solidFill>
                          <a:latin typeface="Calibri"/>
                        </a:rPr>
                        <a:t>0.019</a:t>
                      </a:r>
                    </a:p>
                  </a:txBody>
                  <a:tcPr marL="54864" marR="54864" marT="18288" marB="18288" anchor="ctr">
                    <a:solidFill>
                      <a:srgbClr val="FFFFFF"/>
                    </a:solidFill>
                  </a:tcPr>
                </a:tc>
                <a:tc>
                  <a:txBody>
                    <a:bodyPr wrap="square"/>
                    <a:lstStyle/>
                    <a:p>
                      <a:pPr algn="ctr"/>
                      <a:r>
                        <a:rPr sz="1000" b="0" i="0">
                          <a:solidFill>
                            <a:srgbClr val="16222E"/>
                          </a:solidFill>
                          <a:latin typeface="Calibri"/>
                        </a:rPr>
                        <a:t>0</a:t>
                      </a:r>
                    </a:p>
                  </a:txBody>
                  <a:tcPr marL="54864" marR="54864" marT="18288" marB="18288" anchor="ctr">
                    <a:solidFill>
                      <a:srgbClr val="FFFFFF"/>
                    </a:solidFill>
                  </a:tcPr>
                </a:tc>
              </a:tr>
              <a:tr h="310896">
                <a:tc>
                  <a:txBody>
                    <a:bodyPr wrap="square"/>
                    <a:lstStyle/>
                    <a:p>
                      <a:pPr algn="l"/>
                      <a:r>
                        <a:rPr sz="1000" b="0" i="0">
                          <a:solidFill>
                            <a:srgbClr val="16222E"/>
                          </a:solidFill>
                          <a:latin typeface="Calibri"/>
                        </a:rPr>
                        <a:t>P</a:t>
                      </a:r>
                    </a:p>
                  </a:txBody>
                  <a:tcPr marL="54864" marR="54864" marT="18288" marB="18288" anchor="ctr">
                    <a:solidFill>
                      <a:srgbClr val="FFFFFF"/>
                    </a:solidFill>
                  </a:tcPr>
                </a:tc>
                <a:tc>
                  <a:txBody>
                    <a:bodyPr wrap="square"/>
                    <a:lstStyle/>
                    <a:p>
                      <a:pPr algn="l"/>
                      <a:r>
                        <a:rPr sz="1000" b="0" i="0">
                          <a:solidFill>
                            <a:srgbClr val="16222E"/>
                          </a:solidFill>
                          <a:latin typeface="Calibri"/>
                        </a:rPr>
                        <a:t>F + physical attack variables</a:t>
                      </a:r>
                    </a:p>
                  </a:txBody>
                  <a:tcPr marL="54864" marR="54864" marT="18288" marB="18288" anchor="ctr">
                    <a:solidFill>
                      <a:srgbClr val="FFFFFF"/>
                    </a:solidFill>
                  </a:tcPr>
                </a:tc>
                <a:tc>
                  <a:txBody>
                    <a:bodyPr wrap="square"/>
                    <a:lstStyle/>
                    <a:p>
                      <a:pPr algn="ctr"/>
                      <a:r>
                        <a:rPr sz="1000" b="0" i="0">
                          <a:solidFill>
                            <a:srgbClr val="16222E"/>
                          </a:solidFill>
                          <a:latin typeface="Calibri"/>
                        </a:rPr>
                        <a:t>24</a:t>
                      </a:r>
                    </a:p>
                  </a:txBody>
                  <a:tcPr marL="54864" marR="54864" marT="18288" marB="18288" anchor="ctr">
                    <a:solidFill>
                      <a:srgbClr val="FFFFFF"/>
                    </a:solidFill>
                  </a:tcPr>
                </a:tc>
                <a:tc>
                  <a:txBody>
                    <a:bodyPr wrap="square"/>
                    <a:lstStyle/>
                    <a:p>
                      <a:pPr algn="ctr"/>
                      <a:r>
                        <a:rPr sz="1000" b="0" i="0">
                          <a:solidFill>
                            <a:srgbClr val="16222E"/>
                          </a:solidFill>
                          <a:latin typeface="Calibri"/>
                        </a:rPr>
                        <a:t>4</a:t>
                      </a:r>
                    </a:p>
                  </a:txBody>
                  <a:tcPr marL="54864" marR="54864" marT="18288" marB="18288" anchor="ctr">
                    <a:solidFill>
                      <a:srgbClr val="FFFFFF"/>
                    </a:solidFill>
                  </a:tcPr>
                </a:tc>
                <a:tc>
                  <a:txBody>
                    <a:bodyPr wrap="square"/>
                    <a:lstStyle/>
                    <a:p>
                      <a:pPr algn="ctr"/>
                      <a:r>
                        <a:rPr sz="1000" b="0" i="0">
                          <a:solidFill>
                            <a:srgbClr val="16222E"/>
                          </a:solidFill>
                          <a:latin typeface="Calibri"/>
                        </a:rPr>
                        <a:t>0.073</a:t>
                      </a:r>
                    </a:p>
                  </a:txBody>
                  <a:tcPr marL="54864" marR="54864" marT="18288" marB="18288" anchor="ctr">
                    <a:solidFill>
                      <a:srgbClr val="FFFFFF"/>
                    </a:solidFill>
                  </a:tcPr>
                </a:tc>
                <a:tc>
                  <a:txBody>
                    <a:bodyPr wrap="square"/>
                    <a:lstStyle/>
                    <a:p>
                      <a:pPr algn="ctr"/>
                      <a:r>
                        <a:rPr sz="1000" b="0" i="0">
                          <a:solidFill>
                            <a:srgbClr val="16222E"/>
                          </a:solidFill>
                          <a:latin typeface="Calibri"/>
                        </a:rPr>
                        <a:t>0</a:t>
                      </a:r>
                    </a:p>
                  </a:txBody>
                  <a:tcPr marL="54864" marR="54864" marT="18288" marB="18288" anchor="ctr">
                    <a:solidFill>
                      <a:srgbClr val="FFFFFF"/>
                    </a:solidFill>
                  </a:tcPr>
                </a:tc>
              </a:tr>
              <a:tr h="310896">
                <a:tc>
                  <a:txBody>
                    <a:bodyPr wrap="square"/>
                    <a:lstStyle/>
                    <a:p>
                      <a:pPr algn="l"/>
                      <a:r>
                        <a:rPr sz="1000" b="0" i="0">
                          <a:solidFill>
                            <a:srgbClr val="16222E"/>
                          </a:solidFill>
                          <a:latin typeface="Calibri"/>
                        </a:rPr>
                        <a:t>N</a:t>
                      </a:r>
                    </a:p>
                  </a:txBody>
                  <a:tcPr marL="54864" marR="54864" marT="18288" marB="18288" anchor="ctr">
                    <a:solidFill>
                      <a:srgbClr val="FFFFFF"/>
                    </a:solidFill>
                  </a:tcPr>
                </a:tc>
                <a:tc>
                  <a:txBody>
                    <a:bodyPr wrap="square"/>
                    <a:lstStyle/>
                    <a:p>
                      <a:pPr algn="l"/>
                      <a:r>
                        <a:rPr sz="1000" b="0" i="0">
                          <a:solidFill>
                            <a:srgbClr val="16222E"/>
                          </a:solidFill>
                          <a:latin typeface="Calibri"/>
                        </a:rPr>
                        <a:t>F + news variables</a:t>
                      </a:r>
                    </a:p>
                  </a:txBody>
                  <a:tcPr marL="54864" marR="54864" marT="18288" marB="18288" anchor="ctr">
                    <a:solidFill>
                      <a:srgbClr val="FFFFFF"/>
                    </a:solidFill>
                  </a:tcPr>
                </a:tc>
                <a:tc>
                  <a:txBody>
                    <a:bodyPr wrap="square"/>
                    <a:lstStyle/>
                    <a:p>
                      <a:pPr algn="ctr"/>
                      <a:r>
                        <a:rPr sz="1000" b="0" i="0">
                          <a:solidFill>
                            <a:srgbClr val="16222E"/>
                          </a:solidFill>
                          <a:latin typeface="Calibri"/>
                        </a:rPr>
                        <a:t>24</a:t>
                      </a:r>
                    </a:p>
                  </a:txBody>
                  <a:tcPr marL="54864" marR="54864" marT="18288" marB="18288" anchor="ctr">
                    <a:solidFill>
                      <a:srgbClr val="FFFFFF"/>
                    </a:solidFill>
                  </a:tcPr>
                </a:tc>
                <a:tc>
                  <a:txBody>
                    <a:bodyPr wrap="square"/>
                    <a:lstStyle/>
                    <a:p>
                      <a:pPr algn="ctr"/>
                      <a:r>
                        <a:rPr sz="1000" b="0" i="0">
                          <a:solidFill>
                            <a:srgbClr val="16222E"/>
                          </a:solidFill>
                          <a:latin typeface="Calibri"/>
                        </a:rPr>
                        <a:t>1</a:t>
                      </a:r>
                    </a:p>
                  </a:txBody>
                  <a:tcPr marL="54864" marR="54864" marT="18288" marB="18288" anchor="ctr">
                    <a:solidFill>
                      <a:srgbClr val="FFFFFF"/>
                    </a:solidFill>
                  </a:tcPr>
                </a:tc>
                <a:tc>
                  <a:txBody>
                    <a:bodyPr wrap="square"/>
                    <a:lstStyle/>
                    <a:p>
                      <a:pPr algn="ctr"/>
                      <a:r>
                        <a:rPr sz="1000" b="0" i="0">
                          <a:solidFill>
                            <a:srgbClr val="16222E"/>
                          </a:solidFill>
                          <a:latin typeface="Calibri"/>
                        </a:rPr>
                        <a:t>0.033</a:t>
                      </a:r>
                    </a:p>
                  </a:txBody>
                  <a:tcPr marL="54864" marR="54864" marT="18288" marB="18288" anchor="ctr">
                    <a:solidFill>
                      <a:srgbClr val="FFFFFF"/>
                    </a:solidFill>
                  </a:tcPr>
                </a:tc>
                <a:tc>
                  <a:txBody>
                    <a:bodyPr wrap="square"/>
                    <a:lstStyle/>
                    <a:p>
                      <a:pPr algn="ctr"/>
                      <a:r>
                        <a:rPr sz="1000" b="0" i="0">
                          <a:solidFill>
                            <a:srgbClr val="16222E"/>
                          </a:solidFill>
                          <a:latin typeface="Calibri"/>
                        </a:rPr>
                        <a:t>0</a:t>
                      </a:r>
                    </a:p>
                  </a:txBody>
                  <a:tcPr marL="54864" marR="54864" marT="18288" marB="18288" anchor="ctr">
                    <a:solidFill>
                      <a:srgbClr val="FFFFFF"/>
                    </a:solidFill>
                  </a:tcPr>
                </a:tc>
              </a:tr>
              <a:tr h="310896">
                <a:tc>
                  <a:txBody>
                    <a:bodyPr wrap="square"/>
                    <a:lstStyle/>
                    <a:p>
                      <a:pPr algn="l"/>
                      <a:r>
                        <a:rPr sz="1000" b="0" i="0">
                          <a:solidFill>
                            <a:srgbClr val="16222E"/>
                          </a:solidFill>
                          <a:latin typeface="Calibri"/>
                        </a:rPr>
                        <a:t>PN</a:t>
                      </a:r>
                    </a:p>
                  </a:txBody>
                  <a:tcPr marL="54864" marR="54864" marT="18288" marB="18288" anchor="ctr">
                    <a:solidFill>
                      <a:srgbClr val="FFFFFF"/>
                    </a:solidFill>
                  </a:tcPr>
                </a:tc>
                <a:tc>
                  <a:txBody>
                    <a:bodyPr wrap="square"/>
                    <a:lstStyle/>
                    <a:p>
                      <a:pPr algn="l"/>
                      <a:r>
                        <a:rPr sz="1000" b="0" i="0">
                          <a:solidFill>
                            <a:srgbClr val="16222E"/>
                          </a:solidFill>
                          <a:latin typeface="Calibri"/>
                        </a:rPr>
                        <a:t>F + physical + news</a:t>
                      </a:r>
                    </a:p>
                  </a:txBody>
                  <a:tcPr marL="54864" marR="54864" marT="18288" marB="18288" anchor="ctr">
                    <a:solidFill>
                      <a:srgbClr val="FFFFFF"/>
                    </a:solidFill>
                  </a:tcPr>
                </a:tc>
                <a:tc>
                  <a:txBody>
                    <a:bodyPr wrap="square"/>
                    <a:lstStyle/>
                    <a:p>
                      <a:pPr algn="ctr"/>
                      <a:r>
                        <a:rPr sz="1000" b="0" i="0">
                          <a:solidFill>
                            <a:srgbClr val="16222E"/>
                          </a:solidFill>
                          <a:latin typeface="Calibri"/>
                        </a:rPr>
                        <a:t>24</a:t>
                      </a:r>
                    </a:p>
                  </a:txBody>
                  <a:tcPr marL="54864" marR="54864" marT="18288" marB="18288" anchor="ctr">
                    <a:solidFill>
                      <a:srgbClr val="FFFFFF"/>
                    </a:solidFill>
                  </a:tcPr>
                </a:tc>
                <a:tc>
                  <a:txBody>
                    <a:bodyPr wrap="square"/>
                    <a:lstStyle/>
                    <a:p>
                      <a:pPr algn="ctr"/>
                      <a:r>
                        <a:rPr sz="1000" b="0" i="0">
                          <a:solidFill>
                            <a:srgbClr val="16222E"/>
                          </a:solidFill>
                          <a:latin typeface="Calibri"/>
                        </a:rPr>
                        <a:t>3</a:t>
                      </a:r>
                    </a:p>
                  </a:txBody>
                  <a:tcPr marL="54864" marR="54864" marT="18288" marB="18288" anchor="ctr">
                    <a:solidFill>
                      <a:srgbClr val="FFFFFF"/>
                    </a:solidFill>
                  </a:tcPr>
                </a:tc>
                <a:tc>
                  <a:txBody>
                    <a:bodyPr wrap="square"/>
                    <a:lstStyle/>
                    <a:p>
                      <a:pPr algn="ctr"/>
                      <a:r>
                        <a:rPr sz="1000" b="0" i="0">
                          <a:solidFill>
                            <a:srgbClr val="16222E"/>
                          </a:solidFill>
                          <a:latin typeface="Calibri"/>
                        </a:rPr>
                        <a:t>0.060</a:t>
                      </a:r>
                    </a:p>
                  </a:txBody>
                  <a:tcPr marL="54864" marR="54864" marT="18288" marB="18288" anchor="ctr">
                    <a:solidFill>
                      <a:srgbClr val="FFFFFF"/>
                    </a:solidFill>
                  </a:tcPr>
                </a:tc>
                <a:tc>
                  <a:txBody>
                    <a:bodyPr wrap="square"/>
                    <a:lstStyle/>
                    <a:p>
                      <a:pPr algn="ctr"/>
                      <a:r>
                        <a:rPr sz="1000" b="0" i="0">
                          <a:solidFill>
                            <a:srgbClr val="16222E"/>
                          </a:solidFill>
                          <a:latin typeface="Calibri"/>
                        </a:rPr>
                        <a:t>0</a:t>
                      </a:r>
                    </a:p>
                  </a:txBody>
                  <a:tcPr marL="54864" marR="54864" marT="18288" marB="18288" anchor="ctr">
                    <a:solidFill>
                      <a:srgbClr val="FFFFFF"/>
                    </a:solidFill>
                  </a:tcPr>
                </a:tc>
              </a:tr>
              <a:tr h="310896">
                <a:tc>
                  <a:txBody>
                    <a:bodyPr wrap="square"/>
                    <a:lstStyle/>
                    <a:p>
                      <a:pPr algn="l"/>
                      <a:r>
                        <a:rPr sz="1000" b="0" i="0">
                          <a:solidFill>
                            <a:srgbClr val="16222E"/>
                          </a:solidFill>
                          <a:latin typeface="Calibri"/>
                        </a:rPr>
                        <a:t>PNG</a:t>
                      </a:r>
                    </a:p>
                  </a:txBody>
                  <a:tcPr marL="54864" marR="54864" marT="18288" marB="18288" anchor="ctr">
                    <a:solidFill>
                      <a:srgbClr val="FFFFFF"/>
                    </a:solidFill>
                  </a:tcPr>
                </a:tc>
                <a:tc>
                  <a:txBody>
                    <a:bodyPr wrap="square"/>
                    <a:lstStyle/>
                    <a:p>
                      <a:pPr algn="l"/>
                      <a:r>
                        <a:rPr sz="1000" b="0" i="0">
                          <a:solidFill>
                            <a:srgbClr val="16222E"/>
                          </a:solidFill>
                          <a:latin typeface="Calibri"/>
                        </a:rPr>
                        <a:t>PN + pairwise ecosystem tone gaps</a:t>
                      </a:r>
                    </a:p>
                  </a:txBody>
                  <a:tcPr marL="54864" marR="54864" marT="18288" marB="18288" anchor="ctr">
                    <a:solidFill>
                      <a:srgbClr val="FFFFFF"/>
                    </a:solidFill>
                  </a:tcPr>
                </a:tc>
                <a:tc>
                  <a:txBody>
                    <a:bodyPr wrap="square"/>
                    <a:lstStyle/>
                    <a:p>
                      <a:pPr algn="ctr"/>
                      <a:r>
                        <a:rPr sz="1000" b="0" i="0">
                          <a:solidFill>
                            <a:srgbClr val="16222E"/>
                          </a:solidFill>
                          <a:latin typeface="Calibri"/>
                        </a:rPr>
                        <a:t>24</a:t>
                      </a:r>
                    </a:p>
                  </a:txBody>
                  <a:tcPr marL="54864" marR="54864" marT="18288" marB="18288" anchor="ctr">
                    <a:solidFill>
                      <a:srgbClr val="FFFFFF"/>
                    </a:solidFill>
                  </a:tcPr>
                </a:tc>
                <a:tc>
                  <a:txBody>
                    <a:bodyPr wrap="square"/>
                    <a:lstStyle/>
                    <a:p>
                      <a:pPr algn="ctr"/>
                      <a:r>
                        <a:rPr sz="1000" b="0" i="0">
                          <a:solidFill>
                            <a:srgbClr val="16222E"/>
                          </a:solidFill>
                          <a:latin typeface="Calibri"/>
                        </a:rPr>
                        <a:t>4</a:t>
                      </a:r>
                    </a:p>
                  </a:txBody>
                  <a:tcPr marL="54864" marR="54864" marT="18288" marB="18288" anchor="ctr">
                    <a:solidFill>
                      <a:srgbClr val="FFFFFF"/>
                    </a:solidFill>
                  </a:tcPr>
                </a:tc>
                <a:tc>
                  <a:txBody>
                    <a:bodyPr wrap="square"/>
                    <a:lstStyle/>
                    <a:p>
                      <a:pPr algn="ctr"/>
                      <a:r>
                        <a:rPr sz="1000" b="0" i="0">
                          <a:solidFill>
                            <a:srgbClr val="16222E"/>
                          </a:solidFill>
                          <a:latin typeface="Calibri"/>
                        </a:rPr>
                        <a:t>0.059</a:t>
                      </a:r>
                    </a:p>
                  </a:txBody>
                  <a:tcPr marL="54864" marR="54864" marT="18288" marB="18288" anchor="ctr">
                    <a:solidFill>
                      <a:srgbClr val="FFFFFF"/>
                    </a:solidFill>
                  </a:tcPr>
                </a:tc>
                <a:tc>
                  <a:txBody>
                    <a:bodyPr wrap="square"/>
                    <a:lstStyle/>
                    <a:p>
                      <a:pPr algn="ctr"/>
                      <a:r>
                        <a:rPr sz="1000" b="0" i="0">
                          <a:solidFill>
                            <a:srgbClr val="16222E"/>
                          </a:solidFill>
                          <a:latin typeface="Calibri"/>
                        </a:rPr>
                        <a:t>0</a:t>
                      </a:r>
                    </a:p>
                  </a:txBody>
                  <a:tcPr marL="54864" marR="54864" marT="18288" marB="18288" anchor="ctr">
                    <a:solidFill>
                      <a:srgbClr val="FFFFFF"/>
                    </a:solidFill>
                  </a:tcPr>
                </a:tc>
              </a:tr>
              <a:tr h="310896">
                <a:tc>
                  <a:txBody>
                    <a:bodyPr wrap="square"/>
                    <a:lstStyle/>
                    <a:p>
                      <a:pPr algn="l"/>
                    </a:p>
                  </a:txBody>
                  <a:tcPr marL="54864" marR="54864" marT="18288" marB="18288" anchor="ctr">
                    <a:solidFill>
                      <a:srgbClr val="FFFFFF"/>
                    </a:solidFill>
                  </a:tcPr>
                </a:tc>
                <a:tc>
                  <a:txBody>
                    <a:bodyPr wrap="square"/>
                    <a:lstStyle/>
                    <a:p>
                      <a:pPr algn="l"/>
                      <a:r>
                        <a:rPr sz="1000" b="0" i="0">
                          <a:solidFill>
                            <a:srgbClr val="16222E"/>
                          </a:solidFill>
                          <a:latin typeface="Calibri"/>
                        </a:rPr>
                        <a:t>Historical mean</a:t>
                      </a:r>
                    </a:p>
                  </a:txBody>
                  <a:tcPr marL="54864" marR="54864" marT="18288" marB="18288" anchor="ctr">
                    <a:solidFill>
                      <a:srgbClr val="FFFFFF"/>
                    </a:solidFill>
                  </a:tcPr>
                </a:tc>
                <a:tc>
                  <a:txBody>
                    <a:bodyPr wrap="square"/>
                    <a:lstStyle/>
                    <a:p>
                      <a:pPr algn="ctr"/>
                      <a:r>
                        <a:rPr sz="1000" b="0" i="0">
                          <a:solidFill>
                            <a:srgbClr val="16222E"/>
                          </a:solidFill>
                          <a:latin typeface="Calibri"/>
                        </a:rPr>
                        <a:t>12</a:t>
                      </a:r>
                    </a:p>
                  </a:txBody>
                  <a:tcPr marL="54864" marR="54864" marT="18288" marB="18288" anchor="ctr">
                    <a:solidFill>
                      <a:srgbClr val="FFFFFF"/>
                    </a:solidFill>
                  </a:tcPr>
                </a:tc>
                <a:tc>
                  <a:txBody>
                    <a:bodyPr wrap="square"/>
                    <a:lstStyle/>
                    <a:p>
                      <a:pPr algn="ctr"/>
                      <a:r>
                        <a:rPr sz="1000" b="0" i="0">
                          <a:solidFill>
                            <a:srgbClr val="16222E"/>
                          </a:solidFill>
                          <a:latin typeface="Calibri"/>
                        </a:rPr>
                        <a:t>0</a:t>
                      </a:r>
                    </a:p>
                  </a:txBody>
                  <a:tcPr marL="54864" marR="54864" marT="18288" marB="18288" anchor="ctr">
                    <a:solidFill>
                      <a:srgbClr val="FFFFFF"/>
                    </a:solidFill>
                  </a:tcPr>
                </a:tc>
                <a:tc>
                  <a:txBody>
                    <a:bodyPr wrap="square"/>
                    <a:lstStyle/>
                    <a:p>
                      <a:pPr algn="ctr"/>
                      <a:r>
                        <a:rPr sz="1000" b="0" i="0">
                          <a:solidFill>
                            <a:srgbClr val="16222E"/>
                          </a:solidFill>
                          <a:latin typeface="Calibri"/>
                        </a:rPr>
                        <a:t>0.000</a:t>
                      </a:r>
                    </a:p>
                  </a:txBody>
                  <a:tcPr marL="54864" marR="54864" marT="18288" marB="18288" anchor="ctr">
                    <a:solidFill>
                      <a:srgbClr val="FFFFFF"/>
                    </a:solidFill>
                  </a:tcPr>
                </a:tc>
                <a:tc>
                  <a:txBody>
                    <a:bodyPr wrap="square"/>
                    <a:lstStyle/>
                    <a:p>
                      <a:pPr algn="ctr"/>
                      <a:r>
                        <a:rPr sz="1000" b="0" i="0">
                          <a:solidFill>
                            <a:srgbClr val="16222E"/>
                          </a:solidFill>
                          <a:latin typeface="Calibri"/>
                        </a:rPr>
                        <a:t>—</a:t>
                      </a:r>
                    </a:p>
                  </a:txBody>
                  <a:tcPr marL="54864" marR="54864" marT="18288" marB="18288" anchor="ctr">
                    <a:solidFill>
                      <a:srgbClr val="FFFFFF"/>
                    </a:solidFill>
                  </a:tcPr>
                </a:tc>
              </a:tr>
              <a:tr h="310896">
                <a:tc>
                  <a:txBody>
                    <a:bodyPr wrap="square"/>
                    <a:lstStyle/>
                    <a:p>
                      <a:pPr algn="l"/>
                    </a:p>
                  </a:txBody>
                  <a:tcPr marL="54864" marR="54864" marT="18288" marB="18288" anchor="ctr">
                    <a:solidFill>
                      <a:srgbClr val="FFFFFF"/>
                    </a:solidFill>
                  </a:tcPr>
                </a:tc>
                <a:tc>
                  <a:txBody>
                    <a:bodyPr wrap="square"/>
                    <a:lstStyle/>
                    <a:p>
                      <a:pPr algn="l"/>
                      <a:r>
                        <a:rPr sz="1000" b="0" i="0">
                          <a:solidFill>
                            <a:srgbClr val="16222E"/>
                          </a:solidFill>
                          <a:latin typeface="Calibri"/>
                        </a:rPr>
                        <a:t>AR(1)</a:t>
                      </a:r>
                    </a:p>
                  </a:txBody>
                  <a:tcPr marL="54864" marR="54864" marT="18288" marB="18288" anchor="ctr">
                    <a:solidFill>
                      <a:srgbClr val="FFFFFF"/>
                    </a:solidFill>
                  </a:tcPr>
                </a:tc>
                <a:tc>
                  <a:txBody>
                    <a:bodyPr wrap="square"/>
                    <a:lstStyle/>
                    <a:p>
                      <a:pPr algn="ctr"/>
                      <a:r>
                        <a:rPr sz="1000" b="0" i="0">
                          <a:solidFill>
                            <a:srgbClr val="16222E"/>
                          </a:solidFill>
                          <a:latin typeface="Calibri"/>
                        </a:rPr>
                        <a:t>12</a:t>
                      </a:r>
                    </a:p>
                  </a:txBody>
                  <a:tcPr marL="54864" marR="54864" marT="18288" marB="18288" anchor="ctr">
                    <a:solidFill>
                      <a:srgbClr val="FFFFFF"/>
                    </a:solidFill>
                  </a:tcPr>
                </a:tc>
                <a:tc>
                  <a:txBody>
                    <a:bodyPr wrap="square"/>
                    <a:lstStyle/>
                    <a:p>
                      <a:pPr algn="ctr"/>
                      <a:r>
                        <a:rPr sz="1000" b="0" i="0">
                          <a:solidFill>
                            <a:srgbClr val="16222E"/>
                          </a:solidFill>
                          <a:latin typeface="Calibri"/>
                        </a:rPr>
                        <a:t>1</a:t>
                      </a:r>
                    </a:p>
                  </a:txBody>
                  <a:tcPr marL="54864" marR="54864" marT="18288" marB="18288" anchor="ctr">
                    <a:solidFill>
                      <a:srgbClr val="FFFFFF"/>
                    </a:solidFill>
                  </a:tcPr>
                </a:tc>
                <a:tc>
                  <a:txBody>
                    <a:bodyPr wrap="square"/>
                    <a:lstStyle/>
                    <a:p>
                      <a:pPr algn="ctr"/>
                      <a:r>
                        <a:rPr sz="1000" b="0" i="0">
                          <a:solidFill>
                            <a:srgbClr val="16222E"/>
                          </a:solidFill>
                          <a:latin typeface="Calibri"/>
                        </a:rPr>
                        <a:t>0.009</a:t>
                      </a:r>
                    </a:p>
                  </a:txBody>
                  <a:tcPr marL="54864" marR="54864" marT="18288" marB="18288" anchor="ctr">
                    <a:solidFill>
                      <a:srgbClr val="FFFFFF"/>
                    </a:solidFill>
                  </a:tcPr>
                </a:tc>
                <a:tc>
                  <a:txBody>
                    <a:bodyPr wrap="square"/>
                    <a:lstStyle/>
                    <a:p>
                      <a:pPr algn="ctr"/>
                      <a:r>
                        <a:rPr sz="1000" b="0" i="0">
                          <a:solidFill>
                            <a:srgbClr val="16222E"/>
                          </a:solidFill>
                          <a:latin typeface="Calibri"/>
                        </a:rPr>
                        <a:t>—</a:t>
                      </a:r>
                    </a:p>
                  </a:txBody>
                  <a:tcPr marL="54864" marR="54864" marT="18288" marB="18288" anchor="ctr">
                    <a:solidFill>
                      <a:srgbClr val="FFFFFF"/>
                    </a:solidFill>
                  </a:tcPr>
                </a:tc>
              </a:tr>
            </a:tbl>
          </a:graphicData>
        </a:graphic>
      </p:graphicFrame>
      <p:sp>
        <p:nvSpPr>
          <p:cNvPr id="7" name="TextBox 6"/>
          <p:cNvSpPr txBox="1"/>
          <p:nvPr/>
        </p:nvSpPr>
        <p:spPr>
          <a:xfrm>
            <a:off x="566928" y="3986784"/>
            <a:ext cx="11057839" cy="475488"/>
          </a:xfrm>
          <a:prstGeom prst="rect">
            <a:avLst/>
          </a:prstGeom>
          <a:noFill/>
        </p:spPr>
        <p:txBody>
          <a:bodyPr wrap="square" lIns="0" rIns="0" tIns="0" bIns="0">
            <a:spAutoFit/>
          </a:bodyPr>
          <a:lstStyle/>
          <a:p>
            <a:pPr>
              <a:lnSpc>
                <a:spcPct val="100000"/>
              </a:lnSpc>
            </a:pPr>
            <a:r>
              <a:rPr sz="900" b="0" i="1">
                <a:solidFill>
                  <a:srgbClr val="5A6B7A"/>
                </a:solidFill>
                <a:latin typeface="Calibri"/>
              </a:rPr>
              <a:t>Notes: Expanding-window one-step-ahead forecasts on WAERLST, BSHIELDT and ITA, at horizons of one and five days, on the full sample and on the September 2022 to June 2026 attack subsample. Ridge and gradient boosting, 144 rows in total. Exploratory, not pre-registered.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BACKUP</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Volatility forecasting race, HAR-RV-X against HAR-RV</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24 / 18</a:t>
            </a:r>
          </a:p>
        </p:txBody>
      </p:sp>
      <p:graphicFrame>
        <p:nvGraphicFramePr>
          <p:cNvPr id="6" name="Table 5"/>
          <p:cNvGraphicFramePr>
            <a:graphicFrameLocks noGrp="1"/>
          </p:cNvGraphicFramePr>
          <p:nvPr/>
        </p:nvGraphicFramePr>
        <p:xfrm>
          <a:off x="566928" y="1426464"/>
          <a:ext cx="11057834" cy="1554480"/>
        </p:xfrm>
        <a:graphic>
          <a:graphicData uri="http://schemas.openxmlformats.org/drawingml/2006/table">
            <a:tbl>
              <a:tblPr>
                <a:tableStyleId>{5C22544A-7EE6-4342-B048-85BDC9FD1C3A}</a:tableStyleId>
              </a:tblPr>
              <a:tblGrid>
                <a:gridCol w="3378784"/>
                <a:gridCol w="1535810"/>
                <a:gridCol w="1535810"/>
                <a:gridCol w="1535810"/>
                <a:gridCol w="1535810"/>
                <a:gridCol w="1535810"/>
              </a:tblGrid>
              <a:tr h="310896">
                <a:tc>
                  <a:txBody>
                    <a:bodyPr wrap="square"/>
                    <a:lstStyle/>
                    <a:p>
                      <a:pPr algn="l"/>
                      <a:r>
                        <a:rPr sz="1000" b="1" i="0">
                          <a:solidFill>
                            <a:srgbClr val="1F6FB2"/>
                          </a:solidFill>
                          <a:latin typeface="Calibri"/>
                        </a:rPr>
                        <a:t>Model</a:t>
                      </a:r>
                    </a:p>
                  </a:txBody>
                  <a:tcPr marL="54864" marR="54864" marT="18288" marB="18288" anchor="ctr">
                    <a:solidFill>
                      <a:srgbClr val="F2F6F9"/>
                    </a:solidFill>
                  </a:tcPr>
                </a:tc>
                <a:tc>
                  <a:txBody>
                    <a:bodyPr wrap="square"/>
                    <a:lstStyle/>
                    <a:p>
                      <a:pPr algn="ctr"/>
                      <a:r>
                        <a:rPr sz="1000" b="1" i="0">
                          <a:solidFill>
                            <a:srgbClr val="1F6FB2"/>
                          </a:solidFill>
                          <a:latin typeface="Calibri"/>
                        </a:rPr>
                        <a:t>Specs</a:t>
                      </a:r>
                    </a:p>
                  </a:txBody>
                  <a:tcPr marL="54864" marR="54864" marT="18288" marB="18288" anchor="ctr">
                    <a:solidFill>
                      <a:srgbClr val="F2F6F9"/>
                    </a:solidFill>
                  </a:tcPr>
                </a:tc>
                <a:tc>
                  <a:txBody>
                    <a:bodyPr wrap="square"/>
                    <a:lstStyle/>
                    <a:p>
                      <a:pPr algn="ctr"/>
                      <a:r>
                        <a:rPr sz="1000" b="1" i="0">
                          <a:solidFill>
                            <a:srgbClr val="1F6FB2"/>
                          </a:solidFill>
                          <a:latin typeface="Calibri"/>
                        </a:rPr>
                        <a:t>Mean QLIKE gain (%)</a:t>
                      </a:r>
                    </a:p>
                  </a:txBody>
                  <a:tcPr marL="54864" marR="54864" marT="18288" marB="18288" anchor="ctr">
                    <a:solidFill>
                      <a:srgbClr val="F2F6F9"/>
                    </a:solidFill>
                  </a:tcPr>
                </a:tc>
                <a:tc>
                  <a:txBody>
                    <a:bodyPr wrap="square"/>
                    <a:lstStyle/>
                    <a:p>
                      <a:pPr algn="ctr"/>
                      <a:r>
                        <a:rPr sz="1000" b="1" i="0">
                          <a:solidFill>
                            <a:srgbClr val="1F6FB2"/>
                          </a:solidFill>
                          <a:latin typeface="Calibri"/>
                        </a:rPr>
                        <a:t>Sig. better</a:t>
                      </a:r>
                    </a:p>
                  </a:txBody>
                  <a:tcPr marL="54864" marR="54864" marT="18288" marB="18288" anchor="ctr">
                    <a:solidFill>
                      <a:srgbClr val="F2F6F9"/>
                    </a:solidFill>
                  </a:tcPr>
                </a:tc>
                <a:tc>
                  <a:txBody>
                    <a:bodyPr wrap="square"/>
                    <a:lstStyle/>
                    <a:p>
                      <a:pPr algn="ctr"/>
                      <a:r>
                        <a:rPr sz="1000" b="1" i="0">
                          <a:solidFill>
                            <a:srgbClr val="1F6FB2"/>
                          </a:solidFill>
                          <a:latin typeface="Calibri"/>
                        </a:rPr>
                        <a:t>Sig. worse</a:t>
                      </a:r>
                    </a:p>
                  </a:txBody>
                  <a:tcPr marL="54864" marR="54864" marT="18288" marB="18288" anchor="ctr">
                    <a:solidFill>
                      <a:srgbClr val="F2F6F9"/>
                    </a:solidFill>
                  </a:tcPr>
                </a:tc>
                <a:tc>
                  <a:txBody>
                    <a:bodyPr wrap="square"/>
                    <a:lstStyle/>
                    <a:p>
                      <a:pPr algn="ctr"/>
                      <a:r>
                        <a:rPr sz="1000" b="1" i="0">
                          <a:solidFill>
                            <a:srgbClr val="1F6FB2"/>
                          </a:solidFill>
                          <a:latin typeface="Calibri"/>
                        </a:rPr>
                        <a:t>BH surv.</a:t>
                      </a:r>
                    </a:p>
                  </a:txBody>
                  <a:tcPr marL="54864" marR="54864" marT="18288" marB="18288" anchor="ctr">
                    <a:solidFill>
                      <a:srgbClr val="F2F6F9"/>
                    </a:solidFill>
                  </a:tcPr>
                </a:tc>
              </a:tr>
              <a:tr h="310896">
                <a:tc>
                  <a:txBody>
                    <a:bodyPr wrap="square"/>
                    <a:lstStyle/>
                    <a:p>
                      <a:pPr algn="l"/>
                      <a:r>
                        <a:rPr sz="1000" b="0" i="0">
                          <a:solidFill>
                            <a:srgbClr val="16222E"/>
                          </a:solidFill>
                          <a:latin typeface="Calibri"/>
                        </a:rPr>
                        <a:t>HAR-RV-X (N)</a:t>
                      </a:r>
                    </a:p>
                  </a:txBody>
                  <a:tcPr marL="54864" marR="54864" marT="18288" marB="18288" anchor="ctr">
                    <a:solidFill>
                      <a:srgbClr val="FFFFFF"/>
                    </a:solidFill>
                  </a:tcPr>
                </a:tc>
                <a:tc>
                  <a:txBody>
                    <a:bodyPr wrap="square"/>
                    <a:lstStyle/>
                    <a:p>
                      <a:pPr algn="ctr"/>
                      <a:r>
                        <a:rPr sz="1000" b="0" i="0">
                          <a:solidFill>
                            <a:srgbClr val="16222E"/>
                          </a:solidFill>
                          <a:latin typeface="Calibri"/>
                        </a:rPr>
                        <a:t>12</a:t>
                      </a:r>
                    </a:p>
                  </a:txBody>
                  <a:tcPr marL="54864" marR="54864" marT="18288" marB="18288" anchor="ctr">
                    <a:solidFill>
                      <a:srgbClr val="FFFFFF"/>
                    </a:solidFill>
                  </a:tcPr>
                </a:tc>
                <a:tc>
                  <a:txBody>
                    <a:bodyPr wrap="square"/>
                    <a:lstStyle/>
                    <a:p>
                      <a:pPr algn="ctr"/>
                      <a:r>
                        <a:rPr sz="1000" b="0" i="0">
                          <a:solidFill>
                            <a:srgbClr val="16222E"/>
                          </a:solidFill>
                          <a:latin typeface="Calibri"/>
                        </a:rPr>
                        <a:t>−4.4</a:t>
                      </a:r>
                    </a:p>
                  </a:txBody>
                  <a:tcPr marL="54864" marR="54864" marT="18288" marB="18288" anchor="ctr">
                    <a:solidFill>
                      <a:srgbClr val="FFFFFF"/>
                    </a:solidFill>
                  </a:tcPr>
                </a:tc>
                <a:tc>
                  <a:txBody>
                    <a:bodyPr wrap="square"/>
                    <a:lstStyle/>
                    <a:p>
                      <a:pPr algn="ctr"/>
                      <a:r>
                        <a:rPr sz="1000" b="0" i="0">
                          <a:solidFill>
                            <a:srgbClr val="16222E"/>
                          </a:solidFill>
                          <a:latin typeface="Calibri"/>
                        </a:rPr>
                        <a:t>0</a:t>
                      </a:r>
                    </a:p>
                  </a:txBody>
                  <a:tcPr marL="54864" marR="54864" marT="18288" marB="18288" anchor="ctr">
                    <a:solidFill>
                      <a:srgbClr val="FFFFFF"/>
                    </a:solidFill>
                  </a:tcPr>
                </a:tc>
                <a:tc>
                  <a:txBody>
                    <a:bodyPr wrap="square"/>
                    <a:lstStyle/>
                    <a:p>
                      <a:pPr algn="ctr"/>
                      <a:r>
                        <a:rPr sz="1000" b="0" i="0">
                          <a:solidFill>
                            <a:srgbClr val="16222E"/>
                          </a:solidFill>
                          <a:latin typeface="Calibri"/>
                        </a:rPr>
                        <a:t>1</a:t>
                      </a:r>
                    </a:p>
                  </a:txBody>
                  <a:tcPr marL="54864" marR="54864" marT="18288" marB="18288" anchor="ctr">
                    <a:solidFill>
                      <a:srgbClr val="FFFFFF"/>
                    </a:solidFill>
                  </a:tcPr>
                </a:tc>
                <a:tc>
                  <a:txBody>
                    <a:bodyPr wrap="square"/>
                    <a:lstStyle/>
                    <a:p>
                      <a:pPr algn="ctr"/>
                      <a:r>
                        <a:rPr sz="1000" b="0" i="0">
                          <a:solidFill>
                            <a:srgbClr val="16222E"/>
                          </a:solidFill>
                          <a:latin typeface="Calibri"/>
                        </a:rPr>
                        <a:t>0</a:t>
                      </a:r>
                    </a:p>
                  </a:txBody>
                  <a:tcPr marL="54864" marR="54864" marT="18288" marB="18288" anchor="ctr">
                    <a:solidFill>
                      <a:srgbClr val="FFFFFF"/>
                    </a:solidFill>
                  </a:tcPr>
                </a:tc>
              </a:tr>
              <a:tr h="310896">
                <a:tc>
                  <a:txBody>
                    <a:bodyPr wrap="square"/>
                    <a:lstStyle/>
                    <a:p>
                      <a:pPr algn="l"/>
                      <a:r>
                        <a:rPr sz="1000" b="0" i="0">
                          <a:solidFill>
                            <a:srgbClr val="16222E"/>
                          </a:solidFill>
                          <a:latin typeface="Calibri"/>
                        </a:rPr>
                        <a:t>HAR-RV-X (P)</a:t>
                      </a:r>
                    </a:p>
                  </a:txBody>
                  <a:tcPr marL="54864" marR="54864" marT="18288" marB="18288" anchor="ctr">
                    <a:solidFill>
                      <a:srgbClr val="FFFFFF"/>
                    </a:solidFill>
                  </a:tcPr>
                </a:tc>
                <a:tc>
                  <a:txBody>
                    <a:bodyPr wrap="square"/>
                    <a:lstStyle/>
                    <a:p>
                      <a:pPr algn="ctr"/>
                      <a:r>
                        <a:rPr sz="1000" b="0" i="0">
                          <a:solidFill>
                            <a:srgbClr val="16222E"/>
                          </a:solidFill>
                          <a:latin typeface="Calibri"/>
                        </a:rPr>
                        <a:t>12</a:t>
                      </a:r>
                    </a:p>
                  </a:txBody>
                  <a:tcPr marL="54864" marR="54864" marT="18288" marB="18288" anchor="ctr">
                    <a:solidFill>
                      <a:srgbClr val="FFFFFF"/>
                    </a:solidFill>
                  </a:tcPr>
                </a:tc>
                <a:tc>
                  <a:txBody>
                    <a:bodyPr wrap="square"/>
                    <a:lstStyle/>
                    <a:p>
                      <a:pPr algn="ctr"/>
                      <a:r>
                        <a:rPr sz="1000" b="0" i="0">
                          <a:solidFill>
                            <a:srgbClr val="16222E"/>
                          </a:solidFill>
                          <a:latin typeface="Calibri"/>
                        </a:rPr>
                        <a:t>−65.0</a:t>
                      </a:r>
                    </a:p>
                  </a:txBody>
                  <a:tcPr marL="54864" marR="54864" marT="18288" marB="18288" anchor="ctr">
                    <a:solidFill>
                      <a:srgbClr val="FFFFFF"/>
                    </a:solidFill>
                  </a:tcPr>
                </a:tc>
                <a:tc>
                  <a:txBody>
                    <a:bodyPr wrap="square"/>
                    <a:lstStyle/>
                    <a:p>
                      <a:pPr algn="ctr"/>
                      <a:r>
                        <a:rPr sz="1000" b="0" i="0">
                          <a:solidFill>
                            <a:srgbClr val="16222E"/>
                          </a:solidFill>
                          <a:latin typeface="Calibri"/>
                        </a:rPr>
                        <a:t>0</a:t>
                      </a:r>
                    </a:p>
                  </a:txBody>
                  <a:tcPr marL="54864" marR="54864" marT="18288" marB="18288" anchor="ctr">
                    <a:solidFill>
                      <a:srgbClr val="FFFFFF"/>
                    </a:solidFill>
                  </a:tcPr>
                </a:tc>
                <a:tc>
                  <a:txBody>
                    <a:bodyPr wrap="square"/>
                    <a:lstStyle/>
                    <a:p>
                      <a:pPr algn="ctr"/>
                      <a:r>
                        <a:rPr sz="1000" b="0" i="0">
                          <a:solidFill>
                            <a:srgbClr val="16222E"/>
                          </a:solidFill>
                          <a:latin typeface="Calibri"/>
                        </a:rPr>
                        <a:t>2</a:t>
                      </a:r>
                    </a:p>
                  </a:txBody>
                  <a:tcPr marL="54864" marR="54864" marT="18288" marB="18288" anchor="ctr">
                    <a:solidFill>
                      <a:srgbClr val="FFFFFF"/>
                    </a:solidFill>
                  </a:tcPr>
                </a:tc>
                <a:tc>
                  <a:txBody>
                    <a:bodyPr wrap="square"/>
                    <a:lstStyle/>
                    <a:p>
                      <a:pPr algn="ctr"/>
                      <a:r>
                        <a:rPr sz="1000" b="0" i="0">
                          <a:solidFill>
                            <a:srgbClr val="16222E"/>
                          </a:solidFill>
                          <a:latin typeface="Calibri"/>
                        </a:rPr>
                        <a:t>2</a:t>
                      </a:r>
                    </a:p>
                  </a:txBody>
                  <a:tcPr marL="54864" marR="54864" marT="18288" marB="18288" anchor="ctr">
                    <a:solidFill>
                      <a:srgbClr val="FFFFFF"/>
                    </a:solidFill>
                  </a:tcPr>
                </a:tc>
              </a:tr>
              <a:tr h="310896">
                <a:tc>
                  <a:txBody>
                    <a:bodyPr wrap="square"/>
                    <a:lstStyle/>
                    <a:p>
                      <a:pPr algn="l"/>
                      <a:r>
                        <a:rPr sz="1000" b="0" i="0">
                          <a:solidFill>
                            <a:srgbClr val="16222E"/>
                          </a:solidFill>
                          <a:latin typeface="Calibri"/>
                        </a:rPr>
                        <a:t>HAR-RV-X (PN)</a:t>
                      </a:r>
                    </a:p>
                  </a:txBody>
                  <a:tcPr marL="54864" marR="54864" marT="18288" marB="18288" anchor="ctr">
                    <a:solidFill>
                      <a:srgbClr val="FFFFFF"/>
                    </a:solidFill>
                  </a:tcPr>
                </a:tc>
                <a:tc>
                  <a:txBody>
                    <a:bodyPr wrap="square"/>
                    <a:lstStyle/>
                    <a:p>
                      <a:pPr algn="ctr"/>
                      <a:r>
                        <a:rPr sz="1000" b="0" i="0">
                          <a:solidFill>
                            <a:srgbClr val="16222E"/>
                          </a:solidFill>
                          <a:latin typeface="Calibri"/>
                        </a:rPr>
                        <a:t>12</a:t>
                      </a:r>
                    </a:p>
                  </a:txBody>
                  <a:tcPr marL="54864" marR="54864" marT="18288" marB="18288" anchor="ctr">
                    <a:solidFill>
                      <a:srgbClr val="FFFFFF"/>
                    </a:solidFill>
                  </a:tcPr>
                </a:tc>
                <a:tc>
                  <a:txBody>
                    <a:bodyPr wrap="square"/>
                    <a:lstStyle/>
                    <a:p>
                      <a:pPr algn="ctr"/>
                      <a:r>
                        <a:rPr sz="1000" b="0" i="0">
                          <a:solidFill>
                            <a:srgbClr val="16222E"/>
                          </a:solidFill>
                          <a:latin typeface="Calibri"/>
                        </a:rPr>
                        <a:t>−62.6</a:t>
                      </a:r>
                    </a:p>
                  </a:txBody>
                  <a:tcPr marL="54864" marR="54864" marT="18288" marB="18288" anchor="ctr">
                    <a:solidFill>
                      <a:srgbClr val="FFFFFF"/>
                    </a:solidFill>
                  </a:tcPr>
                </a:tc>
                <a:tc>
                  <a:txBody>
                    <a:bodyPr wrap="square"/>
                    <a:lstStyle/>
                    <a:p>
                      <a:pPr algn="ctr"/>
                      <a:r>
                        <a:rPr sz="1000" b="0" i="0">
                          <a:solidFill>
                            <a:srgbClr val="16222E"/>
                          </a:solidFill>
                          <a:latin typeface="Calibri"/>
                        </a:rPr>
                        <a:t>0</a:t>
                      </a:r>
                    </a:p>
                  </a:txBody>
                  <a:tcPr marL="54864" marR="54864" marT="18288" marB="18288" anchor="ctr">
                    <a:solidFill>
                      <a:srgbClr val="FFFFFF"/>
                    </a:solidFill>
                  </a:tcPr>
                </a:tc>
                <a:tc>
                  <a:txBody>
                    <a:bodyPr wrap="square"/>
                    <a:lstStyle/>
                    <a:p>
                      <a:pPr algn="ctr"/>
                      <a:r>
                        <a:rPr sz="1000" b="0" i="0">
                          <a:solidFill>
                            <a:srgbClr val="16222E"/>
                          </a:solidFill>
                          <a:latin typeface="Calibri"/>
                        </a:rPr>
                        <a:t>2</a:t>
                      </a:r>
                    </a:p>
                  </a:txBody>
                  <a:tcPr marL="54864" marR="54864" marT="18288" marB="18288" anchor="ctr">
                    <a:solidFill>
                      <a:srgbClr val="FFFFFF"/>
                    </a:solidFill>
                  </a:tcPr>
                </a:tc>
                <a:tc>
                  <a:txBody>
                    <a:bodyPr wrap="square"/>
                    <a:lstStyle/>
                    <a:p>
                      <a:pPr algn="ctr"/>
                      <a:r>
                        <a:rPr sz="1000" b="0" i="0">
                          <a:solidFill>
                            <a:srgbClr val="16222E"/>
                          </a:solidFill>
                          <a:latin typeface="Calibri"/>
                        </a:rPr>
                        <a:t>2</a:t>
                      </a:r>
                    </a:p>
                  </a:txBody>
                  <a:tcPr marL="54864" marR="54864" marT="18288" marB="18288" anchor="ctr">
                    <a:solidFill>
                      <a:srgbClr val="FFFFFF"/>
                    </a:solidFill>
                  </a:tcPr>
                </a:tc>
              </a:tr>
              <a:tr h="310896">
                <a:tc>
                  <a:txBody>
                    <a:bodyPr wrap="square"/>
                    <a:lstStyle/>
                    <a:p>
                      <a:pPr algn="l"/>
                      <a:r>
                        <a:rPr sz="1000" b="0" i="0">
                          <a:solidFill>
                            <a:srgbClr val="16222E"/>
                          </a:solidFill>
                          <a:latin typeface="Calibri"/>
                        </a:rPr>
                        <a:t>HAR-RV-X (PNG)</a:t>
                      </a:r>
                    </a:p>
                  </a:txBody>
                  <a:tcPr marL="54864" marR="54864" marT="18288" marB="18288" anchor="ctr">
                    <a:solidFill>
                      <a:srgbClr val="FFFFFF"/>
                    </a:solidFill>
                  </a:tcPr>
                </a:tc>
                <a:tc>
                  <a:txBody>
                    <a:bodyPr wrap="square"/>
                    <a:lstStyle/>
                    <a:p>
                      <a:pPr algn="ctr"/>
                      <a:r>
                        <a:rPr sz="1000" b="0" i="0">
                          <a:solidFill>
                            <a:srgbClr val="16222E"/>
                          </a:solidFill>
                          <a:latin typeface="Calibri"/>
                        </a:rPr>
                        <a:t>12</a:t>
                      </a:r>
                    </a:p>
                  </a:txBody>
                  <a:tcPr marL="54864" marR="54864" marT="18288" marB="18288" anchor="ctr">
                    <a:solidFill>
                      <a:srgbClr val="FFFFFF"/>
                    </a:solidFill>
                  </a:tcPr>
                </a:tc>
                <a:tc>
                  <a:txBody>
                    <a:bodyPr wrap="square"/>
                    <a:lstStyle/>
                    <a:p>
                      <a:pPr algn="ctr"/>
                      <a:r>
                        <a:rPr sz="1000" b="0" i="0">
                          <a:solidFill>
                            <a:srgbClr val="16222E"/>
                          </a:solidFill>
                          <a:latin typeface="Calibri"/>
                        </a:rPr>
                        <a:t>−64.8</a:t>
                      </a:r>
                    </a:p>
                  </a:txBody>
                  <a:tcPr marL="54864" marR="54864" marT="18288" marB="18288" anchor="ctr">
                    <a:solidFill>
                      <a:srgbClr val="FFFFFF"/>
                    </a:solidFill>
                  </a:tcPr>
                </a:tc>
                <a:tc>
                  <a:txBody>
                    <a:bodyPr wrap="square"/>
                    <a:lstStyle/>
                    <a:p>
                      <a:pPr algn="ctr"/>
                      <a:r>
                        <a:rPr sz="1000" b="0" i="0">
                          <a:solidFill>
                            <a:srgbClr val="16222E"/>
                          </a:solidFill>
                          <a:latin typeface="Calibri"/>
                        </a:rPr>
                        <a:t>0</a:t>
                      </a:r>
                    </a:p>
                  </a:txBody>
                  <a:tcPr marL="54864" marR="54864" marT="18288" marB="18288" anchor="ctr">
                    <a:solidFill>
                      <a:srgbClr val="FFFFFF"/>
                    </a:solidFill>
                  </a:tcPr>
                </a:tc>
                <a:tc>
                  <a:txBody>
                    <a:bodyPr wrap="square"/>
                    <a:lstStyle/>
                    <a:p>
                      <a:pPr algn="ctr"/>
                      <a:r>
                        <a:rPr sz="1000" b="0" i="0">
                          <a:solidFill>
                            <a:srgbClr val="16222E"/>
                          </a:solidFill>
                          <a:latin typeface="Calibri"/>
                        </a:rPr>
                        <a:t>3</a:t>
                      </a:r>
                    </a:p>
                  </a:txBody>
                  <a:tcPr marL="54864" marR="54864" marT="18288" marB="18288" anchor="ctr">
                    <a:solidFill>
                      <a:srgbClr val="FFFFFF"/>
                    </a:solidFill>
                  </a:tcPr>
                </a:tc>
                <a:tc>
                  <a:txBody>
                    <a:bodyPr wrap="square"/>
                    <a:lstStyle/>
                    <a:p>
                      <a:pPr algn="ctr"/>
                      <a:r>
                        <a:rPr sz="1000" b="0" i="0">
                          <a:solidFill>
                            <a:srgbClr val="16222E"/>
                          </a:solidFill>
                          <a:latin typeface="Calibri"/>
                        </a:rPr>
                        <a:t>2</a:t>
                      </a:r>
                    </a:p>
                  </a:txBody>
                  <a:tcPr marL="54864" marR="54864" marT="18288" marB="18288" anchor="ctr">
                    <a:solidFill>
                      <a:srgbClr val="FFFFFF"/>
                    </a:solidFill>
                  </a:tcPr>
                </a:tc>
              </a:tr>
            </a:tbl>
          </a:graphicData>
        </a:graphic>
      </p:graphicFrame>
      <p:sp>
        <p:nvSpPr>
          <p:cNvPr id="7" name="TextBox 6"/>
          <p:cNvSpPr txBox="1"/>
          <p:nvPr/>
        </p:nvSpPr>
        <p:spPr>
          <a:xfrm>
            <a:off x="566928" y="3054096"/>
            <a:ext cx="11057839" cy="475488"/>
          </a:xfrm>
          <a:prstGeom prst="rect">
            <a:avLst/>
          </a:prstGeom>
          <a:noFill/>
        </p:spPr>
        <p:txBody>
          <a:bodyPr wrap="square" lIns="0" rIns="0" tIns="0" bIns="0">
            <a:spAutoFit/>
          </a:bodyPr>
          <a:lstStyle/>
          <a:p>
            <a:pPr>
              <a:lnSpc>
                <a:spcPct val="100000"/>
              </a:lnSpc>
            </a:pPr>
            <a:r>
              <a:rPr sz="900" b="0" i="1">
                <a:solidFill>
                  <a:srgbClr val="5A6B7A"/>
                </a:solidFill>
                <a:latin typeface="Calibri"/>
              </a:rPr>
              <a:t>Notes: Mean QLIKE by model class, lower is better: GARCH 0.95, GJR-GARCH 0.96, EGARCH 0.98, </a:t>
            </a:r>
            <a:r>
              <a:rPr sz="900" b="1" i="1">
                <a:solidFill>
                  <a:srgbClr val="5A6B7A"/>
                </a:solidFill>
                <a:latin typeface="Calibri"/>
              </a:rPr>
              <a:t>HAR-RV 1.93</a:t>
            </a:r>
            <a:r>
              <a:rPr sz="900" b="0" i="1">
                <a:solidFill>
                  <a:srgbClr val="5A6B7A"/>
                </a:solidFill>
                <a:latin typeface="Calibri"/>
              </a:rPr>
              <a:t>. That last figure is the limitation, not an aside: realised variance here is the sum of squared daily returns, because intraday prices were not available, so the HAR family is roughly twice as inaccurate as the GARCH family it is normally competitive with.</a:t>
            </a:r>
          </a:p>
        </p:txBody>
      </p:sp>
      <p:sp>
        <p:nvSpPr>
          <p:cNvPr id="8" name="TextBox 7"/>
          <p:cNvSpPr txBox="1"/>
          <p:nvPr/>
        </p:nvSpPr>
        <p:spPr>
          <a:xfrm>
            <a:off x="566928" y="3602736"/>
            <a:ext cx="11057839" cy="2798064"/>
          </a:xfrm>
          <a:prstGeom prst="rect">
            <a:avLst/>
          </a:prstGeom>
          <a:noFill/>
        </p:spPr>
        <p:txBody>
          <a:bodyPr wrap="square" lIns="0" rIns="0" tIns="0" bIns="0">
            <a:spAutoFit/>
          </a:bodyPr>
          <a:lstStyle/>
          <a:p>
            <a:pPr>
              <a:lnSpc>
                <a:spcPct val="108000"/>
              </a:lnSpc>
              <a:spcAft>
                <a:spcPts val="806"/>
              </a:spcAft>
            </a:pPr>
            <a:r>
              <a:rPr sz="1300" b="0" i="0">
                <a:solidFill>
                  <a:srgbClr val="1F6FB2"/>
                </a:solidFill>
                <a:latin typeface="Calibri"/>
              </a:rPr>
              <a:t>▪  </a:t>
            </a:r>
            <a:r>
              <a:rPr sz="1300" b="0" i="0">
                <a:solidFill>
                  <a:srgbClr val="16222E"/>
                </a:solidFill>
                <a:latin typeface="Calibri"/>
              </a:rPr>
              <a:t>Augmenting a volatility model with war variables </a:t>
            </a:r>
            <a:r>
              <a:rPr sz="1300" b="1" i="0">
                <a:solidFill>
                  <a:srgbClr val="16222E"/>
                </a:solidFill>
                <a:latin typeface="Calibri"/>
              </a:rPr>
              <a:t>degrades</a:t>
            </a:r>
            <a:r>
              <a:rPr sz="1300" b="0" i="0">
                <a:solidFill>
                  <a:srgbClr val="16222E"/>
                </a:solidFill>
                <a:latin typeface="Calibri"/>
              </a:rPr>
              <a:t> its accuracy on this measure rather than improving it: of 48 specifications none improves significantly, eight are significantly worse, and all six correction survivors are deteriorations.</a:t>
            </a:r>
          </a:p>
          <a:p>
            <a:pPr>
              <a:lnSpc>
                <a:spcPct val="108000"/>
              </a:lnSpc>
              <a:spcAft>
                <a:spcPts val="806"/>
              </a:spcAft>
            </a:pPr>
            <a:r>
              <a:rPr sz="1300" b="0" i="0">
                <a:solidFill>
                  <a:srgbClr val="1F6FB2"/>
                </a:solidFill>
                <a:latin typeface="Calibri"/>
              </a:rPr>
              <a:t>▪  </a:t>
            </a:r>
            <a:r>
              <a:rPr sz="1300" b="0" i="0">
                <a:solidFill>
                  <a:srgbClr val="16222E"/>
                </a:solidFill>
                <a:latin typeface="Calibri"/>
              </a:rPr>
              <a:t>What </a:t>
            </a:r>
            <a:r>
              <a:rPr sz="1300" b="1" i="0">
                <a:solidFill>
                  <a:srgbClr val="16222E"/>
                </a:solidFill>
                <a:latin typeface="Calibri"/>
              </a:rPr>
              <a:t>cannot</a:t>
            </a:r>
            <a:r>
              <a:rPr sz="1300" b="0" i="0">
                <a:solidFill>
                  <a:srgbClr val="16222E"/>
                </a:solidFill>
                <a:latin typeface="Calibri"/>
              </a:rPr>
              <a:t> be concluded is that conflict news carries no information about defence-equity volatility. A test built on squared daily returns has limited power to detect it.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74320"/>
            <a:ext cx="11057839" cy="237744"/>
          </a:xfrm>
          <a:prstGeom prst="rect">
            <a:avLst/>
          </a:prstGeom>
          <a:noFill/>
        </p:spPr>
        <p:txBody>
          <a:bodyPr wrap="square" lIns="0" rIns="0" tIns="0" bIns="0">
            <a:spAutoFit/>
          </a:bodyPr>
          <a:lstStyle/>
          <a:p>
            <a:r>
              <a:rPr sz="1100" b="1" i="0">
                <a:solidFill>
                  <a:srgbClr val="1F6FB2"/>
                </a:solidFill>
                <a:latin typeface="Calibri"/>
              </a:rPr>
              <a:t>BACKUP</a:t>
            </a:r>
          </a:p>
        </p:txBody>
      </p:sp>
      <p:sp>
        <p:nvSpPr>
          <p:cNvPr id="3" name="TextBox 2"/>
          <p:cNvSpPr txBox="1"/>
          <p:nvPr/>
        </p:nvSpPr>
        <p:spPr>
          <a:xfrm>
            <a:off x="566928" y="512064"/>
            <a:ext cx="11057839" cy="658368"/>
          </a:xfrm>
          <a:prstGeom prst="rect">
            <a:avLst/>
          </a:prstGeom>
          <a:noFill/>
        </p:spPr>
        <p:txBody>
          <a:bodyPr wrap="square" lIns="0" rIns="0" tIns="0" bIns="0">
            <a:spAutoFit/>
          </a:bodyPr>
          <a:lstStyle/>
          <a:p>
            <a:r>
              <a:rPr sz="2500" b="1" i="0">
                <a:solidFill>
                  <a:srgbClr val="16222E"/>
                </a:solidFill>
                <a:latin typeface="Calibri"/>
              </a:rPr>
              <a:t>Does the index-level null hide a cross-section?</a:t>
            </a:r>
          </a:p>
        </p:txBody>
      </p:sp>
      <p:sp>
        <p:nvSpPr>
          <p:cNvPr id="4" name="Rectangle 3"/>
          <p:cNvSpPr/>
          <p:nvPr/>
        </p:nvSpPr>
        <p:spPr>
          <a:xfrm>
            <a:off x="566928" y="1243584"/>
            <a:ext cx="11057839" cy="15875"/>
          </a:xfrm>
          <a:prstGeom prst="rect">
            <a:avLst/>
          </a:prstGeom>
          <a:solidFill>
            <a:srgbClr val="CBD5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27487" y="6446520"/>
            <a:ext cx="1097280" cy="228600"/>
          </a:xfrm>
          <a:prstGeom prst="rect">
            <a:avLst/>
          </a:prstGeom>
          <a:noFill/>
        </p:spPr>
        <p:txBody>
          <a:bodyPr wrap="square" lIns="0" rIns="0" tIns="0" bIns="0">
            <a:spAutoFit/>
          </a:bodyPr>
          <a:lstStyle/>
          <a:p>
            <a:pPr algn="r"/>
            <a:r>
              <a:rPr sz="1000" b="0" i="0">
                <a:solidFill>
                  <a:srgbClr val="5A6B7A"/>
                </a:solidFill>
                <a:latin typeface="Calibri"/>
              </a:rPr>
              <a:t>25 / 18</a:t>
            </a:r>
          </a:p>
        </p:txBody>
      </p:sp>
      <p:sp>
        <p:nvSpPr>
          <p:cNvPr id="6" name="TextBox 5"/>
          <p:cNvSpPr txBox="1"/>
          <p:nvPr/>
        </p:nvSpPr>
        <p:spPr>
          <a:xfrm>
            <a:off x="566928" y="1426464"/>
            <a:ext cx="11057839" cy="4974336"/>
          </a:xfrm>
          <a:prstGeom prst="rect">
            <a:avLst/>
          </a:prstGeom>
          <a:noFill/>
        </p:spPr>
        <p:txBody>
          <a:bodyPr wrap="square" lIns="0" rIns="0" tIns="0" bIns="0">
            <a:spAutoFit/>
          </a:bodyPr>
          <a:lstStyle/>
          <a:p>
            <a:pPr>
              <a:lnSpc>
                <a:spcPct val="108000"/>
              </a:lnSpc>
              <a:spcAft>
                <a:spcPts val="992"/>
              </a:spcAft>
            </a:pPr>
            <a:r>
              <a:rPr sz="1600" b="0" i="0">
                <a:solidFill>
                  <a:srgbClr val="1F6FB2"/>
                </a:solidFill>
                <a:latin typeface="Calibri"/>
              </a:rPr>
              <a:t>▪  </a:t>
            </a:r>
            <a:r>
              <a:rPr sz="1600" b="0" i="0">
                <a:solidFill>
                  <a:srgbClr val="16222E"/>
                </a:solidFill>
                <a:latin typeface="Calibri"/>
              </a:rPr>
              <a:t>The objection is fair: an index-level null could mask cross-sectional variation, with heavily war-exposed firms responding where a diversified index does not.</a:t>
            </a:r>
          </a:p>
          <a:p>
            <a:pPr>
              <a:lnSpc>
                <a:spcPct val="108000"/>
              </a:lnSpc>
              <a:spcAft>
                <a:spcPts val="992"/>
              </a:spcAft>
            </a:pPr>
            <a:r>
              <a:rPr sz="1600" b="0" i="0">
                <a:solidFill>
                  <a:srgbClr val="1F6FB2"/>
                </a:solidFill>
                <a:latin typeface="Calibri"/>
              </a:rPr>
              <a:t>▪  </a:t>
            </a:r>
            <a:r>
              <a:rPr sz="1600" b="1" i="0">
                <a:solidFill>
                  <a:srgbClr val="16222E"/>
                </a:solidFill>
                <a:latin typeface="Calibri"/>
              </a:rPr>
              <a:t>A firm-level panel of 31 defence names and 85,065 firm-days</a:t>
            </a:r>
            <a:r>
              <a:rPr sz="1600" b="0" i="0">
                <a:solidFill>
                  <a:srgbClr val="16222E"/>
                </a:solidFill>
                <a:latin typeface="Calibri"/>
              </a:rPr>
              <a:t>, with exposure measured from published SIPRI arms-revenue data, tests it directly.</a:t>
            </a:r>
          </a:p>
          <a:p>
            <a:pPr>
              <a:lnSpc>
                <a:spcPct val="108000"/>
              </a:lnSpc>
              <a:spcAft>
                <a:spcPts val="992"/>
              </a:spcAft>
            </a:pPr>
            <a:r>
              <a:rPr sz="1600" b="0" i="0">
                <a:solidFill>
                  <a:srgbClr val="1F6FB2"/>
                </a:solidFill>
                <a:latin typeface="Calibri"/>
              </a:rPr>
              <a:t>▪  </a:t>
            </a:r>
            <a:r>
              <a:rPr sz="1600" b="1" i="0">
                <a:solidFill>
                  <a:srgbClr val="16222E"/>
                </a:solidFill>
                <a:latin typeface="Calibri"/>
              </a:rPr>
              <a:t>No exposure gradient appears in any war window.</a:t>
            </a:r>
            <a:r>
              <a:rPr sz="1600" b="0" i="0">
                <a:solidFill>
                  <a:srgbClr val="16222E"/>
                </a:solidFill>
                <a:latin typeface="Calibri"/>
              </a:rPr>
              <a:t> Nominal significance appears only in the years before the full-scale invasion, and in a full sample of which 59% falls in those years.</a:t>
            </a:r>
          </a:p>
          <a:p>
            <a:pPr>
              <a:lnSpc>
                <a:spcPct val="108000"/>
              </a:lnSpc>
              <a:spcAft>
                <a:spcPts val="992"/>
              </a:spcAft>
            </a:pPr>
            <a:r>
              <a:rPr sz="1600" b="0" i="0">
                <a:solidFill>
                  <a:srgbClr val="1F6FB2"/>
                </a:solidFill>
                <a:latin typeface="Calibri"/>
              </a:rPr>
              <a:t>▪  </a:t>
            </a:r>
            <a:r>
              <a:rPr sz="1600" b="1" i="0">
                <a:solidFill>
                  <a:srgbClr val="16222E"/>
                </a:solidFill>
                <a:latin typeface="Calibri"/>
              </a:rPr>
              <a:t>0 of 10 cells survive Benjamini–Hochberg correction.</a:t>
            </a:r>
            <a:r>
              <a:rPr sz="1600" b="0" i="0">
                <a:solidFill>
                  <a:srgbClr val="16222E"/>
                </a:solidFill>
                <a:latin typeface="Calibri"/>
              </a:rPr>
              <a:t> The index-level result is therefore not an artefact of aggregation.</a:t>
            </a:r>
          </a:p>
          <a:p>
            <a:pPr>
              <a:lnSpc>
                <a:spcPct val="108000"/>
              </a:lnSpc>
              <a:spcAft>
                <a:spcPts val="992"/>
              </a:spcAft>
            </a:pPr>
            <a:r>
              <a:rPr sz="1600" b="0" i="0">
                <a:solidFill>
                  <a:srgbClr val="1F6FB2"/>
                </a:solidFill>
                <a:latin typeface="Calibri"/>
              </a:rPr>
              <a:t>▪  </a:t>
            </a:r>
            <a:r>
              <a:rPr sz="1600" b="0" i="0">
                <a:solidFill>
                  <a:srgbClr val="16222E"/>
                </a:solidFill>
                <a:latin typeface="Calibri"/>
              </a:rPr>
              <a:t>Firm-level constituent and SIPRI exposure data could not be extended further, which is why the thesis carries no cross-sectional chapter and says so.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